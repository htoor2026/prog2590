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1" r:id="rId1"/>
  </p:sldMasterIdLst>
  <p:sldIdLst>
    <p:sldId id="256" r:id="rId2"/>
    <p:sldId id="285" r:id="rId3"/>
    <p:sldId id="257" r:id="rId4"/>
    <p:sldId id="286" r:id="rId5"/>
    <p:sldId id="276" r:id="rId6"/>
    <p:sldId id="279" r:id="rId7"/>
    <p:sldId id="259" r:id="rId8"/>
    <p:sldId id="277" r:id="rId9"/>
    <p:sldId id="278" r:id="rId10"/>
    <p:sldId id="258" r:id="rId11"/>
    <p:sldId id="287" r:id="rId12"/>
    <p:sldId id="269" r:id="rId13"/>
    <p:sldId id="290" r:id="rId14"/>
    <p:sldId id="289" r:id="rId15"/>
    <p:sldId id="271" r:id="rId16"/>
    <p:sldId id="270" r:id="rId17"/>
    <p:sldId id="291" r:id="rId18"/>
    <p:sldId id="272" r:id="rId19"/>
    <p:sldId id="273" r:id="rId20"/>
    <p:sldId id="292" r:id="rId21"/>
    <p:sldId id="274" r:id="rId22"/>
    <p:sldId id="275" r:id="rId23"/>
    <p:sldId id="282" r:id="rId24"/>
    <p:sldId id="265" r:id="rId25"/>
    <p:sldId id="283" r:id="rId26"/>
    <p:sldId id="267" r:id="rId27"/>
    <p:sldId id="268" r:id="rId28"/>
    <p:sldId id="284" r:id="rId29"/>
    <p:sldId id="262" r:id="rId30"/>
    <p:sldId id="264" r:id="rId31"/>
    <p:sldId id="26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10"/>
    <p:restoredTop sz="94667"/>
  </p:normalViewPr>
  <p:slideViewPr>
    <p:cSldViewPr snapToGrid="0">
      <p:cViewPr>
        <p:scale>
          <a:sx n="97" d="100"/>
          <a:sy n="97" d="100"/>
        </p:scale>
        <p:origin x="688"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FE45CA-0448-4172-AB10-B68D8461DDC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3B6195F3-6B09-4956-B67A-FE1DDA12632F}">
      <dgm:prSet/>
      <dgm:spPr/>
      <dgm:t>
        <a:bodyPr/>
        <a:lstStyle/>
        <a:p>
          <a:r>
            <a:rPr lang="en-CA" b="0" i="0" dirty="0"/>
            <a:t>Logistic       80.96%          0.9062             0.6813</a:t>
          </a:r>
        </a:p>
        <a:p>
          <a:r>
            <a:rPr lang="en-CA" b="0" i="0" dirty="0"/>
            <a:t>Regression</a:t>
          </a:r>
          <a:endParaRPr lang="en-US" dirty="0"/>
        </a:p>
      </dgm:t>
    </dgm:pt>
    <dgm:pt modelId="{77E01F1F-7024-4320-A9AF-45214AA89CD6}" type="parTrans" cxnId="{4D9FBEEE-D378-48DE-AAC1-4DBF61222A1F}">
      <dgm:prSet/>
      <dgm:spPr/>
      <dgm:t>
        <a:bodyPr/>
        <a:lstStyle/>
        <a:p>
          <a:endParaRPr lang="en-US"/>
        </a:p>
      </dgm:t>
    </dgm:pt>
    <dgm:pt modelId="{30D1B1A5-51FE-4E1B-B4B1-7BDED000B834}" type="sibTrans" cxnId="{4D9FBEEE-D378-48DE-AAC1-4DBF61222A1F}">
      <dgm:prSet/>
      <dgm:spPr/>
      <dgm:t>
        <a:bodyPr/>
        <a:lstStyle/>
        <a:p>
          <a:endParaRPr lang="en-US"/>
        </a:p>
      </dgm:t>
    </dgm:pt>
    <dgm:pt modelId="{7E94E12A-44E8-4748-BBA8-04025238207F}">
      <dgm:prSet/>
      <dgm:spPr/>
      <dgm:t>
        <a:bodyPr/>
        <a:lstStyle/>
        <a:p>
          <a:r>
            <a:rPr lang="en-CA" b="0" i="0" dirty="0"/>
            <a:t>Decision    85.13%         0.8985              0.6436</a:t>
          </a:r>
        </a:p>
        <a:p>
          <a:r>
            <a:rPr lang="en-CA" b="0" i="0" dirty="0"/>
            <a:t>Tree</a:t>
          </a:r>
          <a:endParaRPr lang="en-US" dirty="0"/>
        </a:p>
      </dgm:t>
    </dgm:pt>
    <dgm:pt modelId="{E46781B5-C5C8-4550-8949-FFB038D0C5CE}" type="parTrans" cxnId="{9A6EDD0A-5307-4A8B-B52B-35B000A920FF}">
      <dgm:prSet/>
      <dgm:spPr/>
      <dgm:t>
        <a:bodyPr/>
        <a:lstStyle/>
        <a:p>
          <a:endParaRPr lang="en-US"/>
        </a:p>
      </dgm:t>
    </dgm:pt>
    <dgm:pt modelId="{67749A69-ABB1-42B6-9B32-17249EC88649}" type="sibTrans" cxnId="{9A6EDD0A-5307-4A8B-B52B-35B000A920FF}">
      <dgm:prSet/>
      <dgm:spPr/>
      <dgm:t>
        <a:bodyPr/>
        <a:lstStyle/>
        <a:p>
          <a:endParaRPr lang="en-US"/>
        </a:p>
      </dgm:t>
    </dgm:pt>
    <dgm:pt modelId="{4F7B2BAB-404B-457D-8773-88FA3B53C16F}">
      <dgm:prSet/>
      <dgm:spPr/>
      <dgm:t>
        <a:bodyPr/>
        <a:lstStyle/>
        <a:p>
          <a:r>
            <a:rPr lang="en-CA" b="0" i="0" dirty="0"/>
            <a:t>KNN          84.38%           0.8870               0.6372</a:t>
          </a:r>
          <a:endParaRPr lang="en-US" dirty="0"/>
        </a:p>
      </dgm:t>
    </dgm:pt>
    <dgm:pt modelId="{692A0F5E-F081-4715-88F6-65590F7203EC}" type="parTrans" cxnId="{3E024C91-DFB6-4CE3-8831-2498CDE2932F}">
      <dgm:prSet/>
      <dgm:spPr/>
      <dgm:t>
        <a:bodyPr/>
        <a:lstStyle/>
        <a:p>
          <a:endParaRPr lang="en-US"/>
        </a:p>
      </dgm:t>
    </dgm:pt>
    <dgm:pt modelId="{8FA43AFB-710E-4ADE-ABDC-E486785F9EDC}" type="sibTrans" cxnId="{3E024C91-DFB6-4CE3-8831-2498CDE2932F}">
      <dgm:prSet/>
      <dgm:spPr/>
      <dgm:t>
        <a:bodyPr/>
        <a:lstStyle/>
        <a:p>
          <a:endParaRPr lang="en-US"/>
        </a:p>
      </dgm:t>
    </dgm:pt>
    <dgm:pt modelId="{3D63F897-4899-41A7-A15A-1DC240312F4D}">
      <dgm:prSet/>
      <dgm:spPr/>
      <dgm:t>
        <a:bodyPr/>
        <a:lstStyle/>
        <a:p>
          <a:r>
            <a:rPr lang="en-CA" b="0" i="0" dirty="0"/>
            <a:t>Random      85.89%          0.9093             0.6796 ← BEST</a:t>
          </a:r>
        </a:p>
        <a:p>
          <a:r>
            <a:rPr lang="en-CA" b="0" i="0" dirty="0"/>
            <a:t>Forest </a:t>
          </a:r>
          <a:endParaRPr lang="en-US" dirty="0"/>
        </a:p>
      </dgm:t>
    </dgm:pt>
    <dgm:pt modelId="{86B5E32F-6E97-4030-9961-4E3FA7E8BBAC}" type="sibTrans" cxnId="{D7BB3E6F-DBD1-4E22-B92E-F551356CC65B}">
      <dgm:prSet/>
      <dgm:spPr/>
      <dgm:t>
        <a:bodyPr/>
        <a:lstStyle/>
        <a:p>
          <a:endParaRPr lang="en-US"/>
        </a:p>
      </dgm:t>
    </dgm:pt>
    <dgm:pt modelId="{D0178E7A-6554-43D7-BAFA-C481804C3137}" type="parTrans" cxnId="{D7BB3E6F-DBD1-4E22-B92E-F551356CC65B}">
      <dgm:prSet/>
      <dgm:spPr/>
      <dgm:t>
        <a:bodyPr/>
        <a:lstStyle/>
        <a:p>
          <a:endParaRPr lang="en-US"/>
        </a:p>
      </dgm:t>
    </dgm:pt>
    <dgm:pt modelId="{A49A07F5-5932-482D-AB0B-3952DDC82A7F}">
      <dgm:prSet/>
      <dgm:spPr/>
      <dgm:t>
        <a:bodyPr/>
        <a:lstStyle/>
        <a:p>
          <a:r>
            <a:rPr lang="en-CA" b="0" i="0" dirty="0"/>
            <a:t>Model        Accuracy       ROC-AUC          F1-Score</a:t>
          </a:r>
          <a:endParaRPr lang="en-US" dirty="0"/>
        </a:p>
      </dgm:t>
    </dgm:pt>
    <dgm:pt modelId="{405D8CAC-A9A7-4871-A183-098F250F7DD9}" type="sibTrans" cxnId="{B8F632D8-9ED8-4AE3-A6D7-48419712431A}">
      <dgm:prSet/>
      <dgm:spPr/>
      <dgm:t>
        <a:bodyPr/>
        <a:lstStyle/>
        <a:p>
          <a:endParaRPr lang="en-US"/>
        </a:p>
      </dgm:t>
    </dgm:pt>
    <dgm:pt modelId="{B63E56A5-F6A4-454E-AC78-680C7B3CB48D}" type="parTrans" cxnId="{B8F632D8-9ED8-4AE3-A6D7-48419712431A}">
      <dgm:prSet/>
      <dgm:spPr/>
      <dgm:t>
        <a:bodyPr/>
        <a:lstStyle/>
        <a:p>
          <a:endParaRPr lang="en-US"/>
        </a:p>
      </dgm:t>
    </dgm:pt>
    <dgm:pt modelId="{563993F3-1844-9F4A-B1D4-5E5A1F9889BF}" type="pres">
      <dgm:prSet presAssocID="{3FFE45CA-0448-4172-AB10-B68D8461DDCF}" presName="linear" presStyleCnt="0">
        <dgm:presLayoutVars>
          <dgm:animLvl val="lvl"/>
          <dgm:resizeHandles val="exact"/>
        </dgm:presLayoutVars>
      </dgm:prSet>
      <dgm:spPr/>
    </dgm:pt>
    <dgm:pt modelId="{2B108AD0-1D41-6C49-93D4-49861E560FEA}" type="pres">
      <dgm:prSet presAssocID="{A49A07F5-5932-482D-AB0B-3952DDC82A7F}" presName="parentText" presStyleLbl="node1" presStyleIdx="0" presStyleCnt="5">
        <dgm:presLayoutVars>
          <dgm:chMax val="0"/>
          <dgm:bulletEnabled val="1"/>
        </dgm:presLayoutVars>
      </dgm:prSet>
      <dgm:spPr/>
    </dgm:pt>
    <dgm:pt modelId="{74516D2C-6253-414A-AB45-6C19CFB345FB}" type="pres">
      <dgm:prSet presAssocID="{405D8CAC-A9A7-4871-A183-098F250F7DD9}" presName="spacer" presStyleCnt="0"/>
      <dgm:spPr/>
    </dgm:pt>
    <dgm:pt modelId="{7EE3D027-C5F8-EE4B-8046-E92FBC99F143}" type="pres">
      <dgm:prSet presAssocID="{3D63F897-4899-41A7-A15A-1DC240312F4D}" presName="parentText" presStyleLbl="node1" presStyleIdx="1" presStyleCnt="5">
        <dgm:presLayoutVars>
          <dgm:chMax val="0"/>
          <dgm:bulletEnabled val="1"/>
        </dgm:presLayoutVars>
      </dgm:prSet>
      <dgm:spPr/>
    </dgm:pt>
    <dgm:pt modelId="{2598E5EC-6F40-DF49-9219-C5746338B685}" type="pres">
      <dgm:prSet presAssocID="{86B5E32F-6E97-4030-9961-4E3FA7E8BBAC}" presName="spacer" presStyleCnt="0"/>
      <dgm:spPr/>
    </dgm:pt>
    <dgm:pt modelId="{10751C63-EABE-5A4E-8B1C-07DAC25CF044}" type="pres">
      <dgm:prSet presAssocID="{3B6195F3-6B09-4956-B67A-FE1DDA12632F}" presName="parentText" presStyleLbl="node1" presStyleIdx="2" presStyleCnt="5">
        <dgm:presLayoutVars>
          <dgm:chMax val="0"/>
          <dgm:bulletEnabled val="1"/>
        </dgm:presLayoutVars>
      </dgm:prSet>
      <dgm:spPr/>
    </dgm:pt>
    <dgm:pt modelId="{4F607ED9-94B0-5244-B213-5260C5624879}" type="pres">
      <dgm:prSet presAssocID="{30D1B1A5-51FE-4E1B-B4B1-7BDED000B834}" presName="spacer" presStyleCnt="0"/>
      <dgm:spPr/>
    </dgm:pt>
    <dgm:pt modelId="{9F81117F-2E61-D94B-BC57-1640BFE7EAD4}" type="pres">
      <dgm:prSet presAssocID="{7E94E12A-44E8-4748-BBA8-04025238207F}" presName="parentText" presStyleLbl="node1" presStyleIdx="3" presStyleCnt="5">
        <dgm:presLayoutVars>
          <dgm:chMax val="0"/>
          <dgm:bulletEnabled val="1"/>
        </dgm:presLayoutVars>
      </dgm:prSet>
      <dgm:spPr/>
    </dgm:pt>
    <dgm:pt modelId="{9F3B11B0-F889-2840-874A-759C9185D07F}" type="pres">
      <dgm:prSet presAssocID="{67749A69-ABB1-42B6-9B32-17249EC88649}" presName="spacer" presStyleCnt="0"/>
      <dgm:spPr/>
    </dgm:pt>
    <dgm:pt modelId="{FDE4000D-038B-4942-B6E9-3C2AA786ECC4}" type="pres">
      <dgm:prSet presAssocID="{4F7B2BAB-404B-457D-8773-88FA3B53C16F}" presName="parentText" presStyleLbl="node1" presStyleIdx="4" presStyleCnt="5">
        <dgm:presLayoutVars>
          <dgm:chMax val="0"/>
          <dgm:bulletEnabled val="1"/>
        </dgm:presLayoutVars>
      </dgm:prSet>
      <dgm:spPr/>
    </dgm:pt>
  </dgm:ptLst>
  <dgm:cxnLst>
    <dgm:cxn modelId="{FFA7AF09-FBF8-B542-A3CF-6C629421EF23}" type="presOf" srcId="{3B6195F3-6B09-4956-B67A-FE1DDA12632F}" destId="{10751C63-EABE-5A4E-8B1C-07DAC25CF044}" srcOrd="0" destOrd="0" presId="urn:microsoft.com/office/officeart/2005/8/layout/vList2"/>
    <dgm:cxn modelId="{97A6B00A-1619-2948-9890-D59149DA8328}" type="presOf" srcId="{4F7B2BAB-404B-457D-8773-88FA3B53C16F}" destId="{FDE4000D-038B-4942-B6E9-3C2AA786ECC4}" srcOrd="0" destOrd="0" presId="urn:microsoft.com/office/officeart/2005/8/layout/vList2"/>
    <dgm:cxn modelId="{9A6EDD0A-5307-4A8B-B52B-35B000A920FF}" srcId="{3FFE45CA-0448-4172-AB10-B68D8461DDCF}" destId="{7E94E12A-44E8-4748-BBA8-04025238207F}" srcOrd="3" destOrd="0" parTransId="{E46781B5-C5C8-4550-8949-FFB038D0C5CE}" sibTransId="{67749A69-ABB1-42B6-9B32-17249EC88649}"/>
    <dgm:cxn modelId="{FD35F82C-4BD1-F54B-8375-FA43E34300C9}" type="presOf" srcId="{3FFE45CA-0448-4172-AB10-B68D8461DDCF}" destId="{563993F3-1844-9F4A-B1D4-5E5A1F9889BF}" srcOrd="0" destOrd="0" presId="urn:microsoft.com/office/officeart/2005/8/layout/vList2"/>
    <dgm:cxn modelId="{E6957557-051D-8548-A5AA-5CE70822A5C7}" type="presOf" srcId="{A49A07F5-5932-482D-AB0B-3952DDC82A7F}" destId="{2B108AD0-1D41-6C49-93D4-49861E560FEA}" srcOrd="0" destOrd="0" presId="urn:microsoft.com/office/officeart/2005/8/layout/vList2"/>
    <dgm:cxn modelId="{D7BB3E6F-DBD1-4E22-B92E-F551356CC65B}" srcId="{3FFE45CA-0448-4172-AB10-B68D8461DDCF}" destId="{3D63F897-4899-41A7-A15A-1DC240312F4D}" srcOrd="1" destOrd="0" parTransId="{D0178E7A-6554-43D7-BAFA-C481804C3137}" sibTransId="{86B5E32F-6E97-4030-9961-4E3FA7E8BBAC}"/>
    <dgm:cxn modelId="{11E38372-6BE0-EF42-A179-F105D19AEF34}" type="presOf" srcId="{7E94E12A-44E8-4748-BBA8-04025238207F}" destId="{9F81117F-2E61-D94B-BC57-1640BFE7EAD4}" srcOrd="0" destOrd="0" presId="urn:microsoft.com/office/officeart/2005/8/layout/vList2"/>
    <dgm:cxn modelId="{3E024C91-DFB6-4CE3-8831-2498CDE2932F}" srcId="{3FFE45CA-0448-4172-AB10-B68D8461DDCF}" destId="{4F7B2BAB-404B-457D-8773-88FA3B53C16F}" srcOrd="4" destOrd="0" parTransId="{692A0F5E-F081-4715-88F6-65590F7203EC}" sibTransId="{8FA43AFB-710E-4ADE-ABDC-E486785F9EDC}"/>
    <dgm:cxn modelId="{D34C7AC2-38D6-8D4D-A438-F42DC43C03C9}" type="presOf" srcId="{3D63F897-4899-41A7-A15A-1DC240312F4D}" destId="{7EE3D027-C5F8-EE4B-8046-E92FBC99F143}" srcOrd="0" destOrd="0" presId="urn:microsoft.com/office/officeart/2005/8/layout/vList2"/>
    <dgm:cxn modelId="{B8F632D8-9ED8-4AE3-A6D7-48419712431A}" srcId="{3FFE45CA-0448-4172-AB10-B68D8461DDCF}" destId="{A49A07F5-5932-482D-AB0B-3952DDC82A7F}" srcOrd="0" destOrd="0" parTransId="{B63E56A5-F6A4-454E-AC78-680C7B3CB48D}" sibTransId="{405D8CAC-A9A7-4871-A183-098F250F7DD9}"/>
    <dgm:cxn modelId="{4D9FBEEE-D378-48DE-AAC1-4DBF61222A1F}" srcId="{3FFE45CA-0448-4172-AB10-B68D8461DDCF}" destId="{3B6195F3-6B09-4956-B67A-FE1DDA12632F}" srcOrd="2" destOrd="0" parTransId="{77E01F1F-7024-4320-A9AF-45214AA89CD6}" sibTransId="{30D1B1A5-51FE-4E1B-B4B1-7BDED000B834}"/>
    <dgm:cxn modelId="{CA08171E-10E2-CF42-935E-E9D69E02874C}" type="presParOf" srcId="{563993F3-1844-9F4A-B1D4-5E5A1F9889BF}" destId="{2B108AD0-1D41-6C49-93D4-49861E560FEA}" srcOrd="0" destOrd="0" presId="urn:microsoft.com/office/officeart/2005/8/layout/vList2"/>
    <dgm:cxn modelId="{03EFB300-04BF-B04B-B1BE-8909B4FD6BD6}" type="presParOf" srcId="{563993F3-1844-9F4A-B1D4-5E5A1F9889BF}" destId="{74516D2C-6253-414A-AB45-6C19CFB345FB}" srcOrd="1" destOrd="0" presId="urn:microsoft.com/office/officeart/2005/8/layout/vList2"/>
    <dgm:cxn modelId="{0D09ABA8-FEBB-0A43-8507-F9363393EEAD}" type="presParOf" srcId="{563993F3-1844-9F4A-B1D4-5E5A1F9889BF}" destId="{7EE3D027-C5F8-EE4B-8046-E92FBC99F143}" srcOrd="2" destOrd="0" presId="urn:microsoft.com/office/officeart/2005/8/layout/vList2"/>
    <dgm:cxn modelId="{4DF891E3-A64B-F041-9E02-45DC33DA2B88}" type="presParOf" srcId="{563993F3-1844-9F4A-B1D4-5E5A1F9889BF}" destId="{2598E5EC-6F40-DF49-9219-C5746338B685}" srcOrd="3" destOrd="0" presId="urn:microsoft.com/office/officeart/2005/8/layout/vList2"/>
    <dgm:cxn modelId="{FC027D17-02AB-3E4B-8361-B5AE985FA8CD}" type="presParOf" srcId="{563993F3-1844-9F4A-B1D4-5E5A1F9889BF}" destId="{10751C63-EABE-5A4E-8B1C-07DAC25CF044}" srcOrd="4" destOrd="0" presId="urn:microsoft.com/office/officeart/2005/8/layout/vList2"/>
    <dgm:cxn modelId="{CC52E2F7-A6E2-804B-8DF5-90556E2C0F39}" type="presParOf" srcId="{563993F3-1844-9F4A-B1D4-5E5A1F9889BF}" destId="{4F607ED9-94B0-5244-B213-5260C5624879}" srcOrd="5" destOrd="0" presId="urn:microsoft.com/office/officeart/2005/8/layout/vList2"/>
    <dgm:cxn modelId="{CA700E44-AEEA-8C49-A413-786F23B88E15}" type="presParOf" srcId="{563993F3-1844-9F4A-B1D4-5E5A1F9889BF}" destId="{9F81117F-2E61-D94B-BC57-1640BFE7EAD4}" srcOrd="6" destOrd="0" presId="urn:microsoft.com/office/officeart/2005/8/layout/vList2"/>
    <dgm:cxn modelId="{E5BCDEF3-FFAE-4848-B2F8-4F3B05FB9EB0}" type="presParOf" srcId="{563993F3-1844-9F4A-B1D4-5E5A1F9889BF}" destId="{9F3B11B0-F889-2840-874A-759C9185D07F}" srcOrd="7" destOrd="0" presId="urn:microsoft.com/office/officeart/2005/8/layout/vList2"/>
    <dgm:cxn modelId="{0229466F-7E65-6948-9C93-EFA45DB524F8}" type="presParOf" srcId="{563993F3-1844-9F4A-B1D4-5E5A1F9889BF}" destId="{FDE4000D-038B-4942-B6E9-3C2AA786ECC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08AD0-1D41-6C49-93D4-49861E560FEA}">
      <dsp:nvSpPr>
        <dsp:cNvPr id="0" name=""/>
        <dsp:cNvSpPr/>
      </dsp:nvSpPr>
      <dsp:spPr>
        <a:xfrm>
          <a:off x="0" y="463572"/>
          <a:ext cx="6571413" cy="91442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CA" sz="2000" b="0" i="0" kern="1200" dirty="0"/>
            <a:t>Model        Accuracy       ROC-AUC          F1-Score</a:t>
          </a:r>
          <a:endParaRPr lang="en-US" sz="2000" kern="1200" dirty="0"/>
        </a:p>
      </dsp:txBody>
      <dsp:txXfrm>
        <a:off x="44639" y="508211"/>
        <a:ext cx="6482135" cy="825150"/>
      </dsp:txXfrm>
    </dsp:sp>
    <dsp:sp modelId="{7EE3D027-C5F8-EE4B-8046-E92FBC99F143}">
      <dsp:nvSpPr>
        <dsp:cNvPr id="0" name=""/>
        <dsp:cNvSpPr/>
      </dsp:nvSpPr>
      <dsp:spPr>
        <a:xfrm>
          <a:off x="0" y="1435600"/>
          <a:ext cx="6571413" cy="914428"/>
        </a:xfrm>
        <a:prstGeom prst="roundRect">
          <a:avLst/>
        </a:prstGeom>
        <a:solidFill>
          <a:schemeClr val="accent5">
            <a:hueOff val="-1731721"/>
            <a:satOff val="-3008"/>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CA" sz="2000" b="0" i="0" kern="1200" dirty="0"/>
            <a:t>Random      85.89%          0.9093             0.6796 ← BEST</a:t>
          </a:r>
        </a:p>
        <a:p>
          <a:pPr marL="0" lvl="0" indent="0" algn="l" defTabSz="889000">
            <a:lnSpc>
              <a:spcPct val="90000"/>
            </a:lnSpc>
            <a:spcBef>
              <a:spcPct val="0"/>
            </a:spcBef>
            <a:spcAft>
              <a:spcPct val="35000"/>
            </a:spcAft>
            <a:buNone/>
          </a:pPr>
          <a:r>
            <a:rPr lang="en-CA" sz="2000" b="0" i="0" kern="1200" dirty="0"/>
            <a:t>Forest </a:t>
          </a:r>
          <a:endParaRPr lang="en-US" sz="2000" kern="1200" dirty="0"/>
        </a:p>
      </dsp:txBody>
      <dsp:txXfrm>
        <a:off x="44639" y="1480239"/>
        <a:ext cx="6482135" cy="825150"/>
      </dsp:txXfrm>
    </dsp:sp>
    <dsp:sp modelId="{10751C63-EABE-5A4E-8B1C-07DAC25CF044}">
      <dsp:nvSpPr>
        <dsp:cNvPr id="0" name=""/>
        <dsp:cNvSpPr/>
      </dsp:nvSpPr>
      <dsp:spPr>
        <a:xfrm>
          <a:off x="0" y="2407628"/>
          <a:ext cx="6571413" cy="914428"/>
        </a:xfrm>
        <a:prstGeom prst="roundRect">
          <a:avLst/>
        </a:prstGeom>
        <a:solidFill>
          <a:schemeClr val="accent5">
            <a:hueOff val="-3463443"/>
            <a:satOff val="-6016"/>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CA" sz="2000" b="0" i="0" kern="1200" dirty="0"/>
            <a:t>Logistic       80.96%          0.9062             0.6813</a:t>
          </a:r>
        </a:p>
        <a:p>
          <a:pPr marL="0" lvl="0" indent="0" algn="l" defTabSz="889000">
            <a:lnSpc>
              <a:spcPct val="90000"/>
            </a:lnSpc>
            <a:spcBef>
              <a:spcPct val="0"/>
            </a:spcBef>
            <a:spcAft>
              <a:spcPct val="35000"/>
            </a:spcAft>
            <a:buNone/>
          </a:pPr>
          <a:r>
            <a:rPr lang="en-CA" sz="2000" b="0" i="0" kern="1200" dirty="0"/>
            <a:t>Regression</a:t>
          </a:r>
          <a:endParaRPr lang="en-US" sz="2000" kern="1200" dirty="0"/>
        </a:p>
      </dsp:txBody>
      <dsp:txXfrm>
        <a:off x="44639" y="2452267"/>
        <a:ext cx="6482135" cy="825150"/>
      </dsp:txXfrm>
    </dsp:sp>
    <dsp:sp modelId="{9F81117F-2E61-D94B-BC57-1640BFE7EAD4}">
      <dsp:nvSpPr>
        <dsp:cNvPr id="0" name=""/>
        <dsp:cNvSpPr/>
      </dsp:nvSpPr>
      <dsp:spPr>
        <a:xfrm>
          <a:off x="0" y="3379657"/>
          <a:ext cx="6571413" cy="914428"/>
        </a:xfrm>
        <a:prstGeom prst="roundRect">
          <a:avLst/>
        </a:prstGeom>
        <a:solidFill>
          <a:schemeClr val="accent5">
            <a:hueOff val="-5195164"/>
            <a:satOff val="-9024"/>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CA" sz="2000" b="0" i="0" kern="1200" dirty="0"/>
            <a:t>Decision    85.13%         0.8985              0.6436</a:t>
          </a:r>
        </a:p>
        <a:p>
          <a:pPr marL="0" lvl="0" indent="0" algn="l" defTabSz="889000">
            <a:lnSpc>
              <a:spcPct val="90000"/>
            </a:lnSpc>
            <a:spcBef>
              <a:spcPct val="0"/>
            </a:spcBef>
            <a:spcAft>
              <a:spcPct val="35000"/>
            </a:spcAft>
            <a:buNone/>
          </a:pPr>
          <a:r>
            <a:rPr lang="en-CA" sz="2000" b="0" i="0" kern="1200" dirty="0"/>
            <a:t>Tree</a:t>
          </a:r>
          <a:endParaRPr lang="en-US" sz="2000" kern="1200" dirty="0"/>
        </a:p>
      </dsp:txBody>
      <dsp:txXfrm>
        <a:off x="44639" y="3424296"/>
        <a:ext cx="6482135" cy="825150"/>
      </dsp:txXfrm>
    </dsp:sp>
    <dsp:sp modelId="{FDE4000D-038B-4942-B6E9-3C2AA786ECC4}">
      <dsp:nvSpPr>
        <dsp:cNvPr id="0" name=""/>
        <dsp:cNvSpPr/>
      </dsp:nvSpPr>
      <dsp:spPr>
        <a:xfrm>
          <a:off x="0" y="4351685"/>
          <a:ext cx="6571413" cy="914428"/>
        </a:xfrm>
        <a:prstGeom prst="roundRect">
          <a:avLst/>
        </a:prstGeom>
        <a:solidFill>
          <a:schemeClr val="accent5">
            <a:hueOff val="-6926885"/>
            <a:satOff val="-12032"/>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CA" sz="2000" b="0" i="0" kern="1200" dirty="0"/>
            <a:t>KNN          84.38%           0.8870               0.6372</a:t>
          </a:r>
          <a:endParaRPr lang="en-US" sz="2000" kern="1200" dirty="0"/>
        </a:p>
      </dsp:txBody>
      <dsp:txXfrm>
        <a:off x="44639" y="4396324"/>
        <a:ext cx="6482135" cy="8251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97BFF81C-1FCB-4DBA-8044-F1A0FCFD45A6}" type="datetime1">
              <a:rPr lang="en-US" smtClean="0"/>
              <a:t>4/18/26</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082671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8997F1B7-1EE7-4EA5-A5A4-866F9A810C9F}"/>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5A87773D-8987-489A-A650-3D6F7D5C7C38}" type="datetime1">
              <a:rPr lang="en-US" smtClean="0"/>
              <a:t>4/18/26</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50246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97E150C1-1D78-4D80-810D-E9E86F6E88AB}" type="datetime1">
              <a:rPr lang="en-US" smtClean="0"/>
              <a:t>4/18/26</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25532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29E9CBD8-1588-4B6B-B74D-87480DDE94C0}" type="datetime1">
              <a:rPr lang="en-US" smtClean="0"/>
              <a:t>4/18/26</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17919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AD794440-721C-4D75-BD4F-4CFB3D51CDCA}" type="datetime1">
              <a:rPr lang="en-US" smtClean="0"/>
              <a:t>4/18/26</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699382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endParaRPr lang="en-US" dirty="0"/>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B2701A64-483B-4532-94FB-D8F90CB6DEE0}" type="datetime1">
              <a:rPr lang="en-US" smtClean="0"/>
              <a:t>4/18/26</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89747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6F18FB39-20FB-4E2E-B861-45B709B9C3C5}" type="datetime1">
              <a:rPr lang="en-US" smtClean="0"/>
              <a:t>4/18/26</a:t>
            </a:fld>
            <a:endParaRPr lang="en-US" dirty="0"/>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87462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AC48AC19-8BD6-476C-9770-8884373BCF00}" type="datetime1">
              <a:rPr lang="en-US" smtClean="0"/>
              <a:t>4/18/26</a:t>
            </a:fld>
            <a:endParaRPr lang="en-US"/>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53616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F3F68C53-8AD1-4F09-9486-FB3406B99CFA}" type="datetime1">
              <a:rPr lang="en-US" smtClean="0"/>
              <a:t>4/18/26</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29927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FB9092B3-2D87-4CDF-B84B-C46E5F5D31F7}" type="datetime1">
              <a:rPr lang="en-US" smtClean="0"/>
              <a:t>4/18/26</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62705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3D769E57-47B1-47B0-B526-3153E4B1E729}" type="datetime1">
              <a:rPr lang="en-US" smtClean="0"/>
              <a:t>4/18/26</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42464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BA543EDD-D0D2-447F-B24F-3717AF4B109D}" type="datetime1">
              <a:rPr lang="en-US" smtClean="0"/>
              <a:pPr/>
              <a:t>4/18/26</a:t>
            </a:fld>
            <a:endParaRPr lang="en-US"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216388065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60" r:id="rId6"/>
    <p:sldLayoutId id="2147483755" r:id="rId7"/>
    <p:sldLayoutId id="2147483756" r:id="rId8"/>
    <p:sldLayoutId id="2147483757" r:id="rId9"/>
    <p:sldLayoutId id="2147483759" r:id="rId10"/>
    <p:sldLayoutId id="214748375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0F0C2E5D-B08F-4A99-9D15-59D33148F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167"/>
            <a:ext cx="1861854" cy="717514"/>
            <a:chOff x="0" y="238499"/>
            <a:chExt cx="1861854" cy="717514"/>
          </a:xfrm>
        </p:grpSpPr>
        <p:grpSp>
          <p:nvGrpSpPr>
            <p:cNvPr id="21" name="Group 20">
              <a:extLst>
                <a:ext uri="{FF2B5EF4-FFF2-40B4-BE49-F238E27FC236}">
                  <a16:creationId xmlns:a16="http://schemas.microsoft.com/office/drawing/2014/main" id="{07B8F35D-FB89-4C40-8A99-E46DDA0213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rgbClr val="FFFFFF"/>
            </a:solidFill>
          </p:grpSpPr>
          <p:sp>
            <p:nvSpPr>
              <p:cNvPr id="25" name="Freeform: Shape 24">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3" name="Freeform: Shape 25">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22" name="Group 21">
              <a:extLst>
                <a:ext uri="{FF2B5EF4-FFF2-40B4-BE49-F238E27FC236}">
                  <a16:creationId xmlns:a16="http://schemas.microsoft.com/office/drawing/2014/main" id="{55FC669C-CD13-4F4A-AFFF-4029D34F2DB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chemeClr val="tx1"/>
            </a:solidFill>
          </p:grpSpPr>
          <p:sp>
            <p:nvSpPr>
              <p:cNvPr id="23" name="Freeform: Shape 22">
                <a:extLst>
                  <a:ext uri="{FF2B5EF4-FFF2-40B4-BE49-F238E27FC236}">
                    <a16:creationId xmlns:a16="http://schemas.microsoft.com/office/drawing/2014/main" id="{6617B5AA-8A0D-41D3-B2EF-8BC53E3B7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572EB308-9A4E-4332-A908-22F2978D7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grpSp>
        <p:nvGrpSpPr>
          <p:cNvPr id="28" name="Group 27">
            <a:extLst>
              <a:ext uri="{FF2B5EF4-FFF2-40B4-BE49-F238E27FC236}">
                <a16:creationId xmlns:a16="http://schemas.microsoft.com/office/drawing/2014/main" id="{BB7A900B-006E-46F4-831E-5AABAEE45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4492" y="1103896"/>
            <a:ext cx="4965868" cy="4598497"/>
            <a:chOff x="1674895" y="1345036"/>
            <a:chExt cx="5428610" cy="4210939"/>
          </a:xfrm>
        </p:grpSpPr>
        <p:sp>
          <p:nvSpPr>
            <p:cNvPr id="29" name="Rectangle 28">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AD33695-C117-4AEE-9AF5-65F13C6CC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2" name="Rectangle 31">
            <a:extLst>
              <a:ext uri="{FF2B5EF4-FFF2-40B4-BE49-F238E27FC236}">
                <a16:creationId xmlns:a16="http://schemas.microsoft.com/office/drawing/2014/main" id="{90A7F83A-9728-4030-8E45-9ECF1AB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2"/>
            <a:ext cx="4860256" cy="452926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3AEBB2-CA5C-A537-8256-A995D50EBCF0}"/>
              </a:ext>
            </a:extLst>
          </p:cNvPr>
          <p:cNvSpPr>
            <a:spLocks noGrp="1"/>
          </p:cNvSpPr>
          <p:nvPr>
            <p:ph type="ctrTitle"/>
          </p:nvPr>
        </p:nvSpPr>
        <p:spPr>
          <a:xfrm>
            <a:off x="838200" y="1254952"/>
            <a:ext cx="4324642" cy="2309515"/>
          </a:xfrm>
        </p:spPr>
        <p:txBody>
          <a:bodyPr>
            <a:normAutofit/>
          </a:bodyPr>
          <a:lstStyle/>
          <a:p>
            <a:r>
              <a:rPr lang="en-US" sz="3800" dirty="0"/>
              <a:t>Prog2590</a:t>
            </a:r>
            <a:br>
              <a:rPr lang="en-US" sz="3800" dirty="0"/>
            </a:br>
            <a:r>
              <a:rPr lang="en-US" sz="3800" dirty="0"/>
              <a:t>Group-5</a:t>
            </a:r>
            <a:br>
              <a:rPr lang="en-US" sz="3800" dirty="0"/>
            </a:br>
            <a:endParaRPr lang="en-US" sz="3800" dirty="0"/>
          </a:p>
        </p:txBody>
      </p:sp>
      <p:sp>
        <p:nvSpPr>
          <p:cNvPr id="3" name="Subtitle 2">
            <a:extLst>
              <a:ext uri="{FF2B5EF4-FFF2-40B4-BE49-F238E27FC236}">
                <a16:creationId xmlns:a16="http://schemas.microsoft.com/office/drawing/2014/main" id="{E95DF10C-0673-B343-6B00-316E87C87BE4}"/>
              </a:ext>
            </a:extLst>
          </p:cNvPr>
          <p:cNvSpPr>
            <a:spLocks noGrp="1"/>
          </p:cNvSpPr>
          <p:nvPr>
            <p:ph type="subTitle" idx="1"/>
          </p:nvPr>
        </p:nvSpPr>
        <p:spPr>
          <a:xfrm>
            <a:off x="838200" y="4113303"/>
            <a:ext cx="4324642" cy="1372772"/>
          </a:xfrm>
        </p:spPr>
        <p:txBody>
          <a:bodyPr>
            <a:normAutofit fontScale="55000" lnSpcReduction="20000"/>
          </a:bodyPr>
          <a:lstStyle/>
          <a:p>
            <a:pPr>
              <a:lnSpc>
                <a:spcPct val="100000"/>
              </a:lnSpc>
            </a:pPr>
            <a:r>
              <a:rPr lang="en-CA" sz="2000" dirty="0"/>
              <a:t>Group Members</a:t>
            </a:r>
          </a:p>
          <a:p>
            <a:pPr>
              <a:lnSpc>
                <a:spcPct val="100000"/>
              </a:lnSpc>
            </a:pPr>
            <a:r>
              <a:rPr lang="en-CA" sz="2000" dirty="0"/>
              <a:t>Harkamal Singh Toor</a:t>
            </a:r>
          </a:p>
          <a:p>
            <a:pPr>
              <a:lnSpc>
                <a:spcPct val="100000"/>
              </a:lnSpc>
            </a:pPr>
            <a:r>
              <a:rPr lang="en-CA" sz="2000" dirty="0" err="1"/>
              <a:t>Harsimranpreet</a:t>
            </a:r>
            <a:r>
              <a:rPr lang="en-CA" sz="2000" dirty="0"/>
              <a:t> </a:t>
            </a:r>
            <a:r>
              <a:rPr lang="en-CA" sz="2000" dirty="0" err="1"/>
              <a:t>kaur</a:t>
            </a:r>
            <a:endParaRPr lang="en-CA" sz="2000" dirty="0"/>
          </a:p>
          <a:p>
            <a:pPr>
              <a:lnSpc>
                <a:spcPct val="100000"/>
              </a:lnSpc>
            </a:pPr>
            <a:r>
              <a:rPr lang="en-CA" sz="2000" dirty="0"/>
              <a:t>SaInabou samba camara</a:t>
            </a:r>
          </a:p>
          <a:p>
            <a:pPr>
              <a:lnSpc>
                <a:spcPct val="100000"/>
              </a:lnSpc>
            </a:pPr>
            <a:r>
              <a:rPr lang="en-CA" sz="2000" dirty="0"/>
              <a:t>Lewis Moura</a:t>
            </a:r>
          </a:p>
          <a:p>
            <a:pPr>
              <a:lnSpc>
                <a:spcPct val="100000"/>
              </a:lnSpc>
            </a:pPr>
            <a:endParaRPr lang="en-CA" sz="2000" dirty="0"/>
          </a:p>
          <a:p>
            <a:pPr>
              <a:lnSpc>
                <a:spcPct val="100000"/>
              </a:lnSpc>
            </a:pPr>
            <a:endParaRPr lang="en-US" sz="2000" dirty="0"/>
          </a:p>
        </p:txBody>
      </p:sp>
      <p:sp>
        <p:nvSpPr>
          <p:cNvPr id="34" name="Freeform: Shape 33">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6" name="Freeform: Shape 35">
            <a:extLst>
              <a:ext uri="{FF2B5EF4-FFF2-40B4-BE49-F238E27FC236}">
                <a16:creationId xmlns:a16="http://schemas.microsoft.com/office/drawing/2014/main" id="{FEA9761C-7BB2-45E5-A5DB-A0B353624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Oval 39">
            <a:extLst>
              <a:ext uri="{FF2B5EF4-FFF2-40B4-BE49-F238E27FC236}">
                <a16:creationId xmlns:a16="http://schemas.microsoft.com/office/drawing/2014/main" id="{8E44D629-6B8E-4D88-A77E-149C0ED0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4" name="Picture 3" descr="Angle view of circuit shaped like a brain">
            <a:extLst>
              <a:ext uri="{FF2B5EF4-FFF2-40B4-BE49-F238E27FC236}">
                <a16:creationId xmlns:a16="http://schemas.microsoft.com/office/drawing/2014/main" id="{D789FFAD-EC98-720B-9A5C-E6C527BD2F46}"/>
              </a:ext>
            </a:extLst>
          </p:cNvPr>
          <p:cNvPicPr>
            <a:picLocks noChangeAspect="1"/>
          </p:cNvPicPr>
          <p:nvPr/>
        </p:nvPicPr>
        <p:blipFill>
          <a:blip r:embed="rId2"/>
          <a:srcRect l="6172" r="3909"/>
          <a:stretch>
            <a:fillRect/>
          </a:stretch>
        </p:blipFill>
        <p:spPr>
          <a:xfrm>
            <a:off x="6094114" y="1321031"/>
            <a:ext cx="5428611" cy="4210940"/>
          </a:xfrm>
          <a:prstGeom prst="rect">
            <a:avLst/>
          </a:prstGeom>
          <a:ln w="28575">
            <a:noFill/>
          </a:ln>
        </p:spPr>
      </p:pic>
      <p:grpSp>
        <p:nvGrpSpPr>
          <p:cNvPr id="42"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rgbClr val="FFFFFF"/>
          </a:solidFill>
        </p:grpSpPr>
        <p:sp>
          <p:nvSpPr>
            <p:cNvPr id="43" name="Freeform: Shape 42">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49" name="Graphic 185">
            <a:extLst>
              <a:ext uri="{FF2B5EF4-FFF2-40B4-BE49-F238E27FC236}">
                <a16:creationId xmlns:a16="http://schemas.microsoft.com/office/drawing/2014/main" id="{8B6BCBAB-41A5-4D6D-8C9B-55E3AA6FC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chemeClr val="tx1"/>
          </a:solidFill>
        </p:grpSpPr>
        <p:sp>
          <p:nvSpPr>
            <p:cNvPr id="50" name="Freeform: Shape 49">
              <a:extLst>
                <a:ext uri="{FF2B5EF4-FFF2-40B4-BE49-F238E27FC236}">
                  <a16:creationId xmlns:a16="http://schemas.microsoft.com/office/drawing/2014/main" id="{755217F1-B506-4443-A399-CFFA441CD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B8C0F31-7A0C-4630-A379-0B4719A1F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2D43873-56D9-4AC1-AB59-A1E78D679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B2197D5-22E1-47CC-83CF-9E64CCD57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05DC5D97-506B-47F6-B9A7-D8FA26C88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6" name="TextBox 5">
            <a:extLst>
              <a:ext uri="{FF2B5EF4-FFF2-40B4-BE49-F238E27FC236}">
                <a16:creationId xmlns:a16="http://schemas.microsoft.com/office/drawing/2014/main" id="{3ECC426B-6278-AA66-8171-E4A300580360}"/>
              </a:ext>
            </a:extLst>
          </p:cNvPr>
          <p:cNvSpPr txBox="1"/>
          <p:nvPr/>
        </p:nvSpPr>
        <p:spPr>
          <a:xfrm>
            <a:off x="1124475" y="3103335"/>
            <a:ext cx="3719383" cy="646331"/>
          </a:xfrm>
          <a:prstGeom prst="rect">
            <a:avLst/>
          </a:prstGeom>
          <a:noFill/>
        </p:spPr>
        <p:txBody>
          <a:bodyPr wrap="square" rtlCol="0">
            <a:spAutoFit/>
          </a:bodyPr>
          <a:lstStyle/>
          <a:p>
            <a:r>
              <a:rPr lang="en-US" dirty="0"/>
              <a:t>       Income Classification Using        	Machine Learning</a:t>
            </a:r>
          </a:p>
        </p:txBody>
      </p:sp>
    </p:spTree>
    <p:extLst>
      <p:ext uri="{BB962C8B-B14F-4D97-AF65-F5344CB8AC3E}">
        <p14:creationId xmlns:p14="http://schemas.microsoft.com/office/powerpoint/2010/main" val="407225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2000"/>
                                  </p:stCondLst>
                                  <p:iterate type="lt">
                                    <p:tmPct val="10000"/>
                                  </p:iterate>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4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7"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8"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69"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D219B3-EC9D-7A94-EAD1-8B21A2E745AD}"/>
              </a:ext>
            </a:extLst>
          </p:cNvPr>
          <p:cNvSpPr>
            <a:spLocks noGrp="1"/>
          </p:cNvSpPr>
          <p:nvPr>
            <p:ph type="title"/>
          </p:nvPr>
        </p:nvSpPr>
        <p:spPr>
          <a:xfrm>
            <a:off x="1861854" y="633046"/>
            <a:ext cx="4834021" cy="1314996"/>
          </a:xfrm>
        </p:spPr>
        <p:txBody>
          <a:bodyPr anchor="b">
            <a:normAutofit/>
          </a:bodyPr>
          <a:lstStyle/>
          <a:p>
            <a:r>
              <a:rPr lang="en-US" b="1"/>
              <a:t>Introduction</a:t>
            </a:r>
            <a:endParaRPr lang="en-US" b="1" dirty="0"/>
          </a:p>
        </p:txBody>
      </p:sp>
      <p:sp>
        <p:nvSpPr>
          <p:cNvPr id="3" name="Content Placeholder 2">
            <a:extLst>
              <a:ext uri="{FF2B5EF4-FFF2-40B4-BE49-F238E27FC236}">
                <a16:creationId xmlns:a16="http://schemas.microsoft.com/office/drawing/2014/main" id="{5E48136F-620F-861F-7638-E1BB4ADB94E7}"/>
              </a:ext>
            </a:extLst>
          </p:cNvPr>
          <p:cNvSpPr>
            <a:spLocks noGrp="1"/>
          </p:cNvSpPr>
          <p:nvPr>
            <p:ph idx="1"/>
          </p:nvPr>
        </p:nvSpPr>
        <p:spPr>
          <a:xfrm>
            <a:off x="1861854" y="2125737"/>
            <a:ext cx="4834021" cy="4044463"/>
          </a:xfrm>
        </p:spPr>
        <p:txBody>
          <a:bodyPr>
            <a:normAutofit/>
          </a:bodyPr>
          <a:lstStyle/>
          <a:p>
            <a:pPr marL="0" indent="0">
              <a:lnSpc>
                <a:spcPct val="100000"/>
              </a:lnSpc>
              <a:buNone/>
            </a:pPr>
            <a:r>
              <a:rPr lang="en-CA" sz="2000"/>
              <a:t>“Hello everyone, we are Group 5, and our project is </a:t>
            </a:r>
            <a:r>
              <a:rPr lang="en-CA" sz="2000" i="1"/>
              <a:t>Income Classification Using Machine Learning</a:t>
            </a:r>
            <a:r>
              <a:rPr lang="en-CA" sz="2000"/>
              <a:t> for PROG2590. Our team members are Harkamal Toor, </a:t>
            </a:r>
            <a:r>
              <a:rPr lang="en-CA" sz="2000" err="1"/>
              <a:t>Harsimranpreet</a:t>
            </a:r>
            <a:r>
              <a:rPr lang="en-CA" sz="2000"/>
              <a:t> Kaur ,Lewis Moura and Sainabou Samba Camara. Today we’ll walk you through our full ML workflow: from EDA and preprocessing to four different models and final evaluation.”</a:t>
            </a:r>
            <a:br>
              <a:rPr lang="en-CA" sz="2000"/>
            </a:br>
            <a:endParaRPr lang="en-US" sz="2000"/>
          </a:p>
        </p:txBody>
      </p:sp>
      <p:pic>
        <p:nvPicPr>
          <p:cNvPr id="70" name="Graphic 69" descr="Fingerprint">
            <a:extLst>
              <a:ext uri="{FF2B5EF4-FFF2-40B4-BE49-F238E27FC236}">
                <a16:creationId xmlns:a16="http://schemas.microsoft.com/office/drawing/2014/main" id="{5F806582-328C-804D-23E6-545DEEDBA8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473" y="1200223"/>
            <a:ext cx="4072815" cy="4072815"/>
          </a:xfrm>
          <a:prstGeom prst="rect">
            <a:avLst/>
          </a:prstGeom>
        </p:spPr>
      </p:pic>
      <p:grpSp>
        <p:nvGrpSpPr>
          <p:cNvPr id="71"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72"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3"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44573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0" name="Rectangle 18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61" name="Oval 360">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0D3DC9-3D78-A958-F99D-811DC5BEB95B}"/>
              </a:ext>
            </a:extLst>
          </p:cNvPr>
          <p:cNvSpPr>
            <a:spLocks noGrp="1"/>
          </p:cNvSpPr>
          <p:nvPr>
            <p:ph type="title"/>
          </p:nvPr>
        </p:nvSpPr>
        <p:spPr>
          <a:xfrm>
            <a:off x="838200" y="1748452"/>
            <a:ext cx="4974771" cy="3587786"/>
          </a:xfrm>
        </p:spPr>
        <p:txBody>
          <a:bodyPr>
            <a:normAutofit/>
          </a:bodyPr>
          <a:lstStyle/>
          <a:p>
            <a:pPr algn="ctr"/>
            <a:r>
              <a:rPr lang="en-CA" b="1" dirty="0"/>
              <a:t>Problem Overview</a:t>
            </a:r>
            <a:br>
              <a:rPr lang="en-CA" dirty="0"/>
            </a:br>
            <a:endParaRPr lang="en-US" dirty="0"/>
          </a:p>
        </p:txBody>
      </p:sp>
      <p:grpSp>
        <p:nvGrpSpPr>
          <p:cNvPr id="36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tx1"/>
          </a:solidFill>
        </p:grpSpPr>
        <p:sp>
          <p:nvSpPr>
            <p:cNvPr id="36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36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365"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6"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367"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tx1"/>
          </a:solidFill>
        </p:grpSpPr>
        <p:sp>
          <p:nvSpPr>
            <p:cNvPr id="368"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69"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0"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1"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2"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3"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4"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5"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6"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7"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8"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9"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0"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1"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2"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83"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6"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87"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8"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9"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0"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1"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2"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3"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4"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95"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6"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7"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8"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9"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0"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1"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02"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03"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04"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0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0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7"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08"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9"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0"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1"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2"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13"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4"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5"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6"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17"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8"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19"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23"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5"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6"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27"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8"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29"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0"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1"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2"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33"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34"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5"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36"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7"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8"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9"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40"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41"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2"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3"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6"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7"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8"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9"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0"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1"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2"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tx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453" name="Content Placeholder 2">
            <a:extLst>
              <a:ext uri="{FF2B5EF4-FFF2-40B4-BE49-F238E27FC236}">
                <a16:creationId xmlns:a16="http://schemas.microsoft.com/office/drawing/2014/main" id="{A0AA3CDA-2023-F7B9-2B2E-5371CE0880EE}"/>
              </a:ext>
            </a:extLst>
          </p:cNvPr>
          <p:cNvSpPr>
            <a:spLocks noGrp="1"/>
          </p:cNvSpPr>
          <p:nvPr>
            <p:ph idx="1"/>
          </p:nvPr>
        </p:nvSpPr>
        <p:spPr>
          <a:xfrm>
            <a:off x="6477270" y="1130846"/>
            <a:ext cx="4974771" cy="4351338"/>
          </a:xfrm>
        </p:spPr>
        <p:txBody>
          <a:bodyPr>
            <a:normAutofit fontScale="77500" lnSpcReduction="20000"/>
          </a:bodyPr>
          <a:lstStyle/>
          <a:p>
            <a:pPr marL="0" indent="0">
              <a:buNone/>
            </a:pPr>
            <a:r>
              <a:rPr lang="en-CA" dirty="0"/>
              <a:t>“The main problem we’re solving is predicting whether a person earns more than 50 thousand dollars per year, based on their demographic and work-related attributes from the Adult Census dataset. This is a binary classification task: the target label is either &lt;=50K or &gt;50K. This kind of model can be used in financial services, marketing, or policy-making to understand income patterns in a population.”</a:t>
            </a:r>
            <a:endParaRPr lang="en-US" dirty="0"/>
          </a:p>
        </p:txBody>
      </p:sp>
    </p:spTree>
    <p:extLst>
      <p:ext uri="{BB962C8B-B14F-4D97-AF65-F5344CB8AC3E}">
        <p14:creationId xmlns:p14="http://schemas.microsoft.com/office/powerpoint/2010/main" val="3379873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5" name="Rectangle 4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6" name="Oval 415">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F3A81A-210C-3F12-250B-5632EFE0DA7D}"/>
              </a:ext>
            </a:extLst>
          </p:cNvPr>
          <p:cNvSpPr>
            <a:spLocks noGrp="1"/>
          </p:cNvSpPr>
          <p:nvPr>
            <p:ph type="title"/>
          </p:nvPr>
        </p:nvSpPr>
        <p:spPr>
          <a:xfrm>
            <a:off x="1102368" y="1877492"/>
            <a:ext cx="4030132" cy="3215373"/>
          </a:xfrm>
        </p:spPr>
        <p:txBody>
          <a:bodyPr>
            <a:normAutofit/>
          </a:bodyPr>
          <a:lstStyle/>
          <a:p>
            <a:pPr algn="ctr"/>
            <a:r>
              <a:rPr lang="en-CA" b="1" dirty="0"/>
              <a:t>Dataset Description</a:t>
            </a:r>
            <a:br>
              <a:rPr lang="en-CA" b="1" dirty="0"/>
            </a:br>
            <a:endParaRPr lang="en-US" b="1" dirty="0"/>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417"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8" name="Oval 417">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19" name="Oval 418">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E52F776F-8DB6-7478-B8ED-02150BDA534E}"/>
              </a:ext>
            </a:extLst>
          </p:cNvPr>
          <p:cNvSpPr>
            <a:spLocks noGrp="1"/>
          </p:cNvSpPr>
          <p:nvPr>
            <p:ph idx="1"/>
          </p:nvPr>
        </p:nvSpPr>
        <p:spPr>
          <a:xfrm>
            <a:off x="6234868" y="1130846"/>
            <a:ext cx="5217173" cy="4351338"/>
          </a:xfrm>
        </p:spPr>
        <p:txBody>
          <a:bodyPr>
            <a:normAutofit/>
          </a:bodyPr>
          <a:lstStyle/>
          <a:p>
            <a:pPr>
              <a:lnSpc>
                <a:spcPct val="100000"/>
              </a:lnSpc>
            </a:pPr>
            <a:r>
              <a:rPr lang="en-CA" sz="1800"/>
              <a:t>“We use a subset of the Adult Census Income dataset with </a:t>
            </a:r>
            <a:r>
              <a:rPr lang="en-CA" sz="1800" b="1"/>
              <a:t>29,385 records and 15 columns</a:t>
            </a:r>
            <a:r>
              <a:rPr lang="en-CA" sz="1800"/>
              <a:t>. There are 14 input features and one target. Features include age, education, </a:t>
            </a:r>
            <a:r>
              <a:rPr lang="en-CA" sz="1800" err="1"/>
              <a:t>workclass</a:t>
            </a:r>
            <a:r>
              <a:rPr lang="en-CA" sz="1800"/>
              <a:t>, marital status, occupation, hours per week, capital gain and loss, and native country. The target is the income bracket.</a:t>
            </a:r>
            <a:br>
              <a:rPr lang="en-CA" sz="1800"/>
            </a:br>
            <a:r>
              <a:rPr lang="en-CA" sz="1800"/>
              <a:t>The dataset is </a:t>
            </a:r>
            <a:r>
              <a:rPr lang="en-CA" sz="1800" b="1"/>
              <a:t>imbalanced</a:t>
            </a:r>
            <a:r>
              <a:rPr lang="en-CA" sz="1800"/>
              <a:t>: about </a:t>
            </a:r>
            <a:r>
              <a:rPr lang="en-CA" sz="1800" b="1"/>
              <a:t>76%</a:t>
            </a:r>
            <a:r>
              <a:rPr lang="en-CA" sz="1800"/>
              <a:t> of people earn &lt;=50K and </a:t>
            </a:r>
            <a:r>
              <a:rPr lang="en-CA" sz="1800" b="1"/>
              <a:t>24%</a:t>
            </a:r>
            <a:r>
              <a:rPr lang="en-CA" sz="1800"/>
              <a:t> earn &gt;50K, which we show in this class distribution chart. We also looked at correlations between numeric features and saw that most correlations are fairly weak, except for some relationship between education level and capital gain.”</a:t>
            </a:r>
            <a:endParaRPr lang="en-US" sz="1800"/>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717096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e chart with a blue circle and a square&#10;&#10;AI-generated content may be incorrect.">
            <a:extLst>
              <a:ext uri="{FF2B5EF4-FFF2-40B4-BE49-F238E27FC236}">
                <a16:creationId xmlns:a16="http://schemas.microsoft.com/office/drawing/2014/main" id="{5ACE9388-D6D4-FC26-1FA1-F0C94AAEDB60}"/>
              </a:ext>
            </a:extLst>
          </p:cNvPr>
          <p:cNvPicPr>
            <a:picLocks noChangeAspect="1"/>
          </p:cNvPicPr>
          <p:nvPr/>
        </p:nvPicPr>
        <p:blipFill>
          <a:blip r:embed="rId2"/>
          <a:stretch>
            <a:fillRect/>
          </a:stretch>
        </p:blipFill>
        <p:spPr>
          <a:xfrm>
            <a:off x="1929542" y="1721995"/>
            <a:ext cx="8919148" cy="3414010"/>
          </a:xfrm>
          <a:prstGeom prst="rect">
            <a:avLst/>
          </a:prstGeom>
        </p:spPr>
      </p:pic>
      <p:sp>
        <p:nvSpPr>
          <p:cNvPr id="6" name="TextBox 5">
            <a:extLst>
              <a:ext uri="{FF2B5EF4-FFF2-40B4-BE49-F238E27FC236}">
                <a16:creationId xmlns:a16="http://schemas.microsoft.com/office/drawing/2014/main" id="{2C17E53A-A501-993C-2D9B-1D8BB75FABAF}"/>
              </a:ext>
            </a:extLst>
          </p:cNvPr>
          <p:cNvSpPr txBox="1"/>
          <p:nvPr/>
        </p:nvSpPr>
        <p:spPr>
          <a:xfrm>
            <a:off x="4966325" y="1035679"/>
            <a:ext cx="5981075" cy="369332"/>
          </a:xfrm>
          <a:prstGeom prst="rect">
            <a:avLst/>
          </a:prstGeom>
          <a:noFill/>
        </p:spPr>
        <p:txBody>
          <a:bodyPr wrap="square" rtlCol="0">
            <a:spAutoFit/>
          </a:bodyPr>
          <a:lstStyle/>
          <a:p>
            <a:r>
              <a:rPr lang="en-CA" b="1" dirty="0"/>
              <a:t>Income Class Distribution</a:t>
            </a:r>
            <a:endParaRPr lang="en-US" b="1" dirty="0"/>
          </a:p>
        </p:txBody>
      </p:sp>
    </p:spTree>
    <p:extLst>
      <p:ext uri="{BB962C8B-B14F-4D97-AF65-F5344CB8AC3E}">
        <p14:creationId xmlns:p14="http://schemas.microsoft.com/office/powerpoint/2010/main" val="350767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7FB7EE8-ED4A-4D8B-68B9-065AB30528B1}"/>
              </a:ext>
            </a:extLst>
          </p:cNvPr>
          <p:cNvPicPr>
            <a:picLocks noChangeAspect="1"/>
          </p:cNvPicPr>
          <p:nvPr/>
        </p:nvPicPr>
        <p:blipFill>
          <a:blip r:embed="rId2"/>
          <a:srcRect r="-1" b="19642"/>
          <a:stretch>
            <a:fillRect/>
          </a:stretch>
        </p:blipFill>
        <p:spPr>
          <a:xfrm>
            <a:off x="838200" y="233807"/>
            <a:ext cx="10468866" cy="5888737"/>
          </a:xfrm>
          <a:prstGeom prst="rect">
            <a:avLst/>
          </a:prstGeom>
          <a:ln w="28575">
            <a:solidFill>
              <a:schemeClr val="tx1"/>
            </a:solidFill>
          </a:ln>
        </p:spPr>
      </p:pic>
    </p:spTree>
    <p:extLst>
      <p:ext uri="{BB962C8B-B14F-4D97-AF65-F5344CB8AC3E}">
        <p14:creationId xmlns:p14="http://schemas.microsoft.com/office/powerpoint/2010/main" val="101147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F7072A-9F5B-F297-2887-A5C8F1A29310}"/>
              </a:ext>
            </a:extLst>
          </p:cNvPr>
          <p:cNvSpPr>
            <a:spLocks noGrp="1"/>
          </p:cNvSpPr>
          <p:nvPr>
            <p:ph type="title"/>
          </p:nvPr>
        </p:nvSpPr>
        <p:spPr>
          <a:xfrm>
            <a:off x="1102368" y="1877492"/>
            <a:ext cx="4030132" cy="3215373"/>
          </a:xfrm>
        </p:spPr>
        <p:txBody>
          <a:bodyPr>
            <a:normAutofit/>
          </a:bodyPr>
          <a:lstStyle/>
          <a:p>
            <a:pPr algn="ctr"/>
            <a:r>
              <a:rPr lang="en-CA" b="1" dirty="0"/>
              <a:t>Data Preprocessing</a:t>
            </a:r>
            <a:endParaRPr lang="en-US" b="1" dirty="0"/>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C6DE9FA5-225B-6AC2-FE60-EB8242F795CC}"/>
              </a:ext>
            </a:extLst>
          </p:cNvPr>
          <p:cNvSpPr>
            <a:spLocks noGrp="1"/>
          </p:cNvSpPr>
          <p:nvPr>
            <p:ph idx="1"/>
          </p:nvPr>
        </p:nvSpPr>
        <p:spPr>
          <a:xfrm>
            <a:off x="6234868" y="1130845"/>
            <a:ext cx="5217173" cy="4664939"/>
          </a:xfrm>
        </p:spPr>
        <p:txBody>
          <a:bodyPr>
            <a:normAutofit fontScale="70000" lnSpcReduction="20000"/>
          </a:bodyPr>
          <a:lstStyle/>
          <a:p>
            <a:pPr marL="0" indent="0">
              <a:buNone/>
            </a:pPr>
            <a:r>
              <a:rPr lang="en-CA" dirty="0"/>
              <a:t>“Before modeling, we cleaned and standardized the data. Missing values were originally encoded as '?', particularly in </a:t>
            </a:r>
            <a:r>
              <a:rPr lang="en-CA" dirty="0" err="1"/>
              <a:t>workclass</a:t>
            </a:r>
            <a:r>
              <a:rPr lang="en-CA" dirty="0"/>
              <a:t>, occupation, and native-country. We replaced those with proper </a:t>
            </a:r>
            <a:r>
              <a:rPr lang="en-CA" dirty="0" err="1"/>
              <a:t>NaNs</a:t>
            </a:r>
            <a:r>
              <a:rPr lang="en-CA" dirty="0"/>
              <a:t> and handled them in a preprocessing pipeline.</a:t>
            </a:r>
            <a:br>
              <a:rPr lang="en-CA" dirty="0"/>
            </a:br>
            <a:r>
              <a:rPr lang="en-CA" dirty="0"/>
              <a:t>For numerical features we used </a:t>
            </a:r>
            <a:r>
              <a:rPr lang="en-CA" b="1" dirty="0"/>
              <a:t>median imputation</a:t>
            </a:r>
            <a:r>
              <a:rPr lang="en-CA" dirty="0"/>
              <a:t> followed by </a:t>
            </a:r>
            <a:r>
              <a:rPr lang="en-CA" b="1" dirty="0" err="1"/>
              <a:t>StandardScaler</a:t>
            </a:r>
            <a:r>
              <a:rPr lang="en-CA" dirty="0"/>
              <a:t>. For categorical features, we used </a:t>
            </a:r>
            <a:r>
              <a:rPr lang="en-CA" b="1" dirty="0"/>
              <a:t>most‑frequent imputation</a:t>
            </a:r>
            <a:r>
              <a:rPr lang="en-CA" dirty="0"/>
              <a:t> and </a:t>
            </a:r>
            <a:r>
              <a:rPr lang="en-CA" b="1" dirty="0" err="1"/>
              <a:t>OneHotEncoder</a:t>
            </a:r>
            <a:r>
              <a:rPr lang="en-CA" dirty="0"/>
              <a:t> with </a:t>
            </a:r>
            <a:r>
              <a:rPr lang="en-CA" dirty="0" err="1"/>
              <a:t>handle_unknown</a:t>
            </a:r>
            <a:r>
              <a:rPr lang="en-CA" dirty="0"/>
              <a:t>='ignore'. All of this is wrapped in a </a:t>
            </a:r>
            <a:r>
              <a:rPr lang="en-CA" dirty="0" err="1"/>
              <a:t>ColumnTransformer</a:t>
            </a:r>
            <a:r>
              <a:rPr lang="en-CA" dirty="0"/>
              <a:t> so the same pipeline is shared across all models. Finally, we did a </a:t>
            </a:r>
            <a:r>
              <a:rPr lang="en-CA" b="1" dirty="0"/>
              <a:t>stratified 80/20 train‑test split</a:t>
            </a:r>
            <a:r>
              <a:rPr lang="en-CA" dirty="0"/>
              <a:t> to preserve the income class balance.”</a:t>
            </a:r>
            <a:endParaRPr lang="en-US" dirty="0"/>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9443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colored bars&#10;&#10;AI-generated content may be incorrect.">
            <a:extLst>
              <a:ext uri="{FF2B5EF4-FFF2-40B4-BE49-F238E27FC236}">
                <a16:creationId xmlns:a16="http://schemas.microsoft.com/office/drawing/2014/main" id="{A28E0A89-F8DD-8005-E050-B5C5DA1A3CF3}"/>
              </a:ext>
            </a:extLst>
          </p:cNvPr>
          <p:cNvPicPr>
            <a:picLocks noChangeAspect="1"/>
          </p:cNvPicPr>
          <p:nvPr/>
        </p:nvPicPr>
        <p:blipFill>
          <a:blip r:embed="rId2"/>
          <a:stretch>
            <a:fillRect/>
          </a:stretch>
        </p:blipFill>
        <p:spPr>
          <a:xfrm>
            <a:off x="1409074" y="847123"/>
            <a:ext cx="9938479" cy="5238884"/>
          </a:xfrm>
          <a:prstGeom prst="rect">
            <a:avLst/>
          </a:prstGeom>
        </p:spPr>
      </p:pic>
      <p:sp>
        <p:nvSpPr>
          <p:cNvPr id="6" name="TextBox 5">
            <a:extLst>
              <a:ext uri="{FF2B5EF4-FFF2-40B4-BE49-F238E27FC236}">
                <a16:creationId xmlns:a16="http://schemas.microsoft.com/office/drawing/2014/main" id="{11D57D2B-7186-2102-5C09-076CFEDAD789}"/>
              </a:ext>
            </a:extLst>
          </p:cNvPr>
          <p:cNvSpPr txBox="1"/>
          <p:nvPr/>
        </p:nvSpPr>
        <p:spPr>
          <a:xfrm>
            <a:off x="5112529" y="160519"/>
            <a:ext cx="6130977" cy="369332"/>
          </a:xfrm>
          <a:prstGeom prst="rect">
            <a:avLst/>
          </a:prstGeom>
          <a:noFill/>
        </p:spPr>
        <p:txBody>
          <a:bodyPr wrap="square" rtlCol="0">
            <a:spAutoFit/>
          </a:bodyPr>
          <a:lstStyle/>
          <a:p>
            <a:r>
              <a:rPr lang="en-US" b="1" dirty="0" err="1"/>
              <a:t>AgeDistribution</a:t>
            </a:r>
            <a:endParaRPr lang="en-US" b="1" dirty="0"/>
          </a:p>
        </p:txBody>
      </p:sp>
    </p:spTree>
    <p:extLst>
      <p:ext uri="{BB962C8B-B14F-4D97-AF65-F5344CB8AC3E}">
        <p14:creationId xmlns:p14="http://schemas.microsoft.com/office/powerpoint/2010/main" val="2893478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a graph of income&#10;&#10;AI-generated content may be incorrect.">
            <a:extLst>
              <a:ext uri="{FF2B5EF4-FFF2-40B4-BE49-F238E27FC236}">
                <a16:creationId xmlns:a16="http://schemas.microsoft.com/office/drawing/2014/main" id="{125E2B68-BB54-C726-1522-1437EA06676E}"/>
              </a:ext>
            </a:extLst>
          </p:cNvPr>
          <p:cNvPicPr>
            <a:picLocks noChangeAspect="1"/>
          </p:cNvPicPr>
          <p:nvPr/>
        </p:nvPicPr>
        <p:blipFill>
          <a:blip r:embed="rId2"/>
          <a:stretch>
            <a:fillRect/>
          </a:stretch>
        </p:blipFill>
        <p:spPr>
          <a:xfrm>
            <a:off x="1244599" y="662169"/>
            <a:ext cx="10289033" cy="5694181"/>
          </a:xfrm>
          <a:prstGeom prst="rect">
            <a:avLst/>
          </a:prstGeom>
        </p:spPr>
      </p:pic>
    </p:spTree>
    <p:extLst>
      <p:ext uri="{BB962C8B-B14F-4D97-AF65-F5344CB8AC3E}">
        <p14:creationId xmlns:p14="http://schemas.microsoft.com/office/powerpoint/2010/main" val="3457124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4" name="Oval 4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FF8B13-D6D0-BBE5-6DA9-5E91D7C05B5C}"/>
              </a:ext>
            </a:extLst>
          </p:cNvPr>
          <p:cNvSpPr>
            <a:spLocks noGrp="1"/>
          </p:cNvSpPr>
          <p:nvPr>
            <p:ph type="title"/>
          </p:nvPr>
        </p:nvSpPr>
        <p:spPr>
          <a:xfrm>
            <a:off x="1102368" y="1877492"/>
            <a:ext cx="4030132" cy="3215373"/>
          </a:xfrm>
        </p:spPr>
        <p:txBody>
          <a:bodyPr>
            <a:normAutofit/>
          </a:bodyPr>
          <a:lstStyle/>
          <a:p>
            <a:pPr algn="ctr"/>
            <a:r>
              <a:rPr lang="en-CA" b="1" dirty="0"/>
              <a:t>Our Approach</a:t>
            </a:r>
            <a:endParaRPr lang="en-US" b="1" dirty="0"/>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45"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A5D4C6A7-0FF9-F466-4E5C-8C835FCAAB49}"/>
              </a:ext>
            </a:extLst>
          </p:cNvPr>
          <p:cNvSpPr>
            <a:spLocks noGrp="1"/>
          </p:cNvSpPr>
          <p:nvPr>
            <p:ph idx="1"/>
          </p:nvPr>
        </p:nvSpPr>
        <p:spPr>
          <a:xfrm>
            <a:off x="6243529" y="873821"/>
            <a:ext cx="5217173" cy="5088979"/>
          </a:xfrm>
        </p:spPr>
        <p:txBody>
          <a:bodyPr>
            <a:normAutofit fontScale="77500" lnSpcReduction="20000"/>
          </a:bodyPr>
          <a:lstStyle/>
          <a:p>
            <a:pPr marL="0" indent="0">
              <a:buNone/>
            </a:pPr>
            <a:r>
              <a:rPr lang="en-CA" b="1" dirty="0"/>
              <a:t>4 Models, 1 Dataset, Best Wins</a:t>
            </a:r>
            <a:endParaRPr lang="en-CA" dirty="0"/>
          </a:p>
          <a:p>
            <a:r>
              <a:rPr lang="en-CA" dirty="0"/>
              <a:t>Logistic Regression — baseline linear model, interpretable, fast</a:t>
            </a:r>
          </a:p>
          <a:p>
            <a:r>
              <a:rPr lang="en-CA" dirty="0"/>
              <a:t>Random Forest — ensemble method, handles mixed data, reduces overfitting</a:t>
            </a:r>
          </a:p>
          <a:p>
            <a:r>
              <a:rPr lang="en-CA" dirty="0"/>
              <a:t>KNN — distance-based, non-parametric comparison</a:t>
            </a:r>
          </a:p>
          <a:p>
            <a:r>
              <a:rPr lang="en-CA" dirty="0"/>
              <a:t>Decision Tree — interpretable rule-based model, fast prediction, rule-based</a:t>
            </a:r>
          </a:p>
          <a:p>
            <a:pPr marL="0" indent="0">
              <a:buNone/>
            </a:pPr>
            <a:r>
              <a:rPr lang="en-CA" dirty="0"/>
              <a:t>Each model uses the exact same preprocessing pipeline to ensure a fair comparison.”</a:t>
            </a:r>
          </a:p>
          <a:p>
            <a:endParaRPr lang="en-US" dirty="0"/>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0433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B19F8-3D68-61E8-9BB4-5954FD4DBAEA}"/>
              </a:ext>
            </a:extLst>
          </p:cNvPr>
          <p:cNvSpPr>
            <a:spLocks noGrp="1"/>
          </p:cNvSpPr>
          <p:nvPr>
            <p:ph type="title"/>
          </p:nvPr>
        </p:nvSpPr>
        <p:spPr/>
        <p:txBody>
          <a:bodyPr/>
          <a:lstStyle/>
          <a:p>
            <a:r>
              <a:rPr lang="en-CA" b="1" dirty="0"/>
              <a:t>Logistic Regression </a:t>
            </a:r>
            <a:endParaRPr lang="en-US" b="1" dirty="0"/>
          </a:p>
        </p:txBody>
      </p:sp>
      <p:sp>
        <p:nvSpPr>
          <p:cNvPr id="3" name="Content Placeholder 2">
            <a:extLst>
              <a:ext uri="{FF2B5EF4-FFF2-40B4-BE49-F238E27FC236}">
                <a16:creationId xmlns:a16="http://schemas.microsoft.com/office/drawing/2014/main" id="{F9594008-78EF-1BBC-E72D-E3C7DF4D132D}"/>
              </a:ext>
            </a:extLst>
          </p:cNvPr>
          <p:cNvSpPr>
            <a:spLocks noGrp="1"/>
          </p:cNvSpPr>
          <p:nvPr>
            <p:ph idx="1"/>
          </p:nvPr>
        </p:nvSpPr>
        <p:spPr/>
        <p:txBody>
          <a:bodyPr>
            <a:normAutofit fontScale="85000" lnSpcReduction="20000"/>
          </a:bodyPr>
          <a:lstStyle/>
          <a:p>
            <a:r>
              <a:rPr lang="en-CA" dirty="0"/>
              <a:t>“Logistic Regression is our baseline model.</a:t>
            </a:r>
            <a:br>
              <a:rPr lang="en-CA" dirty="0"/>
            </a:br>
            <a:r>
              <a:rPr lang="en-CA" dirty="0"/>
              <a:t>We trained it with class balancing so it handles the 76/24 income imbalance properly.</a:t>
            </a:r>
          </a:p>
          <a:p>
            <a:r>
              <a:rPr lang="en-CA" dirty="0"/>
              <a:t>On the test set, it achieved:</a:t>
            </a:r>
          </a:p>
          <a:p>
            <a:r>
              <a:rPr lang="en-CA" b="1" dirty="0"/>
              <a:t>Accuracy:</a:t>
            </a:r>
            <a:r>
              <a:rPr lang="en-CA" dirty="0"/>
              <a:t> 80.96%</a:t>
            </a:r>
          </a:p>
          <a:p>
            <a:r>
              <a:rPr lang="en-CA" b="1" dirty="0"/>
              <a:t>ROC‑AUC:</a:t>
            </a:r>
            <a:r>
              <a:rPr lang="en-CA" dirty="0"/>
              <a:t> 0.9062</a:t>
            </a:r>
          </a:p>
          <a:p>
            <a:r>
              <a:rPr lang="en-CA" b="1" dirty="0"/>
              <a:t>Recall for &gt;50K:</a:t>
            </a:r>
            <a:r>
              <a:rPr lang="en-CA" dirty="0"/>
              <a:t> 0.8476 (this is the highest recall among all models)</a:t>
            </a:r>
          </a:p>
          <a:p>
            <a:r>
              <a:rPr lang="en-CA" dirty="0"/>
              <a:t>So Logistic Regression is very good at </a:t>
            </a:r>
            <a:r>
              <a:rPr lang="en-CA" b="1" dirty="0"/>
              <a:t>catching most of the people who actually earn more than 50K</a:t>
            </a:r>
            <a:r>
              <a:rPr lang="en-CA" dirty="0"/>
              <a:t>, even though its precision is lower. That makes it a strong model when missing high‑income cases would be costly.”</a:t>
            </a:r>
          </a:p>
          <a:p>
            <a:pPr marL="0" indent="0">
              <a:buNone/>
            </a:pPr>
            <a:endParaRPr lang="en-US" dirty="0"/>
          </a:p>
        </p:txBody>
      </p:sp>
    </p:spTree>
    <p:extLst>
      <p:ext uri="{BB962C8B-B14F-4D97-AF65-F5344CB8AC3E}">
        <p14:creationId xmlns:p14="http://schemas.microsoft.com/office/powerpoint/2010/main" val="4154094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logistic regression&#10;&#10;AI-generated content may be incorrect.">
            <a:extLst>
              <a:ext uri="{FF2B5EF4-FFF2-40B4-BE49-F238E27FC236}">
                <a16:creationId xmlns:a16="http://schemas.microsoft.com/office/drawing/2014/main" id="{4A2A0E58-6C7A-509E-5B22-C988051A7F74}"/>
              </a:ext>
            </a:extLst>
          </p:cNvPr>
          <p:cNvPicPr>
            <a:picLocks noChangeAspect="1"/>
          </p:cNvPicPr>
          <p:nvPr/>
        </p:nvPicPr>
        <p:blipFill>
          <a:blip r:embed="rId2"/>
          <a:stretch>
            <a:fillRect/>
          </a:stretch>
        </p:blipFill>
        <p:spPr>
          <a:xfrm>
            <a:off x="0" y="528404"/>
            <a:ext cx="6096000" cy="4572000"/>
          </a:xfrm>
          <a:prstGeom prst="rect">
            <a:avLst/>
          </a:prstGeom>
        </p:spPr>
      </p:pic>
      <p:pic>
        <p:nvPicPr>
          <p:cNvPr id="5" name="Picture 4" descr="A graph of a logistic regression&#10;&#10;AI-generated content may be incorrect.">
            <a:extLst>
              <a:ext uri="{FF2B5EF4-FFF2-40B4-BE49-F238E27FC236}">
                <a16:creationId xmlns:a16="http://schemas.microsoft.com/office/drawing/2014/main" id="{1BEC3268-8072-38AC-6045-5A402BE2B747}"/>
              </a:ext>
            </a:extLst>
          </p:cNvPr>
          <p:cNvPicPr>
            <a:picLocks noChangeAspect="1"/>
          </p:cNvPicPr>
          <p:nvPr/>
        </p:nvPicPr>
        <p:blipFill>
          <a:blip r:embed="rId3"/>
          <a:stretch>
            <a:fillRect/>
          </a:stretch>
        </p:blipFill>
        <p:spPr>
          <a:xfrm>
            <a:off x="5636302" y="528404"/>
            <a:ext cx="6555698" cy="4572000"/>
          </a:xfrm>
          <a:prstGeom prst="rect">
            <a:avLst/>
          </a:prstGeom>
        </p:spPr>
      </p:pic>
    </p:spTree>
    <p:extLst>
      <p:ext uri="{BB962C8B-B14F-4D97-AF65-F5344CB8AC3E}">
        <p14:creationId xmlns:p14="http://schemas.microsoft.com/office/powerpoint/2010/main" val="2131349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aphic 4">
            <a:extLst>
              <a:ext uri="{FF2B5EF4-FFF2-40B4-BE49-F238E27FC236}">
                <a16:creationId xmlns:a16="http://schemas.microsoft.com/office/drawing/2014/main" id="{811A993A-52C8-4BC6-BFBC-62C21A66A3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52429" y="1191253"/>
            <a:ext cx="1517427" cy="1517433"/>
            <a:chOff x="5829300" y="3162300"/>
            <a:chExt cx="532256" cy="532257"/>
          </a:xfrm>
          <a:solidFill>
            <a:schemeClr val="tx1"/>
          </a:solidFill>
        </p:grpSpPr>
        <p:sp>
          <p:nvSpPr>
            <p:cNvPr id="11" name="Freeform: Shape 10">
              <a:extLst>
                <a:ext uri="{FF2B5EF4-FFF2-40B4-BE49-F238E27FC236}">
                  <a16:creationId xmlns:a16="http://schemas.microsoft.com/office/drawing/2014/main" id="{E7EE599A-6CA0-4BAE-9FE4-66A13557F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6CA298D-E89C-4DD9-BC1E-85D6D271B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842847C-3D21-4D7B-83EE-69306D568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168A295-1E14-4EB6-B4A5-3B260610A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8DE5630-9650-46DF-9B28-7C88B9FF8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ADAFEBF-A533-43D8-91D3-4F73B51BE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BA43A2C-8819-4220-A7FA-C12A30AD8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F4F4521-2962-4E10-A9CC-AA2A6DA36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9A12088-833B-41BB-A044-DFAE5F562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EA73B4D-E5FD-4DB1-A1FB-633E4C349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146519D-F64D-4B51-95AD-81568D162E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579C974-C459-4F1D-920C-4DDFEB648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079155-A959-450B-ACA3-D37017E30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8EFA3AE2-4D79-490F-B649-047F36E56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437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7" name="Freeform: Shape 26">
            <a:extLst>
              <a:ext uri="{FF2B5EF4-FFF2-40B4-BE49-F238E27FC236}">
                <a16:creationId xmlns:a16="http://schemas.microsoft.com/office/drawing/2014/main" id="{AF1F73C6-5691-4700-AFC4-DA3660397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1834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grpSp>
        <p:nvGrpSpPr>
          <p:cNvPr id="29" name="Group 28">
            <a:extLst>
              <a:ext uri="{FF2B5EF4-FFF2-40B4-BE49-F238E27FC236}">
                <a16:creationId xmlns:a16="http://schemas.microsoft.com/office/drawing/2014/main" id="{56F9D4BC-F300-47FA-BC0D-DD9EF194B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88157" y="706359"/>
            <a:ext cx="9630666" cy="5441743"/>
            <a:chOff x="1280667" y="677669"/>
            <a:chExt cx="9857233" cy="5651056"/>
          </a:xfrm>
        </p:grpSpPr>
        <p:sp>
          <p:nvSpPr>
            <p:cNvPr id="30" name="Rectangle 2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80667" y="677669"/>
              <a:ext cx="9857233" cy="5651056"/>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80667" y="677669"/>
              <a:ext cx="9857233" cy="565105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graph of a graph with text&#10;&#10;AI-generated content may be incorrect.">
            <a:extLst>
              <a:ext uri="{FF2B5EF4-FFF2-40B4-BE49-F238E27FC236}">
                <a16:creationId xmlns:a16="http://schemas.microsoft.com/office/drawing/2014/main" id="{C2D747C5-8700-ED40-3A2F-D3EBC477B192}"/>
              </a:ext>
            </a:extLst>
          </p:cNvPr>
          <p:cNvPicPr>
            <a:picLocks noChangeAspect="1"/>
          </p:cNvPicPr>
          <p:nvPr/>
        </p:nvPicPr>
        <p:blipFill>
          <a:blip r:embed="rId2"/>
          <a:stretch>
            <a:fillRect/>
          </a:stretch>
        </p:blipFill>
        <p:spPr>
          <a:xfrm>
            <a:off x="1482725" y="707422"/>
            <a:ext cx="9642877" cy="5440680"/>
          </a:xfrm>
          <a:prstGeom prst="rect">
            <a:avLst/>
          </a:prstGeom>
        </p:spPr>
      </p:pic>
    </p:spTree>
    <p:extLst>
      <p:ext uri="{BB962C8B-B14F-4D97-AF65-F5344CB8AC3E}">
        <p14:creationId xmlns:p14="http://schemas.microsoft.com/office/powerpoint/2010/main" val="2194722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93DAB58-5367-4049-669D-1B5F5B4F13AF}"/>
              </a:ext>
            </a:extLst>
          </p:cNvPr>
          <p:cNvSpPr>
            <a:spLocks noGrp="1"/>
          </p:cNvSpPr>
          <p:nvPr>
            <p:ph type="title"/>
          </p:nvPr>
        </p:nvSpPr>
        <p:spPr>
          <a:xfrm>
            <a:off x="1861854" y="633046"/>
            <a:ext cx="4834021" cy="1314996"/>
          </a:xfrm>
        </p:spPr>
        <p:txBody>
          <a:bodyPr anchor="b">
            <a:normAutofit/>
          </a:bodyPr>
          <a:lstStyle/>
          <a:p>
            <a:r>
              <a:rPr lang="en-CA" b="1" dirty="0"/>
              <a:t>Random Forest</a:t>
            </a:r>
            <a:endParaRPr lang="en-US" b="1" dirty="0"/>
          </a:p>
        </p:txBody>
      </p:sp>
      <p:sp>
        <p:nvSpPr>
          <p:cNvPr id="3" name="Content Placeholder 2">
            <a:extLst>
              <a:ext uri="{FF2B5EF4-FFF2-40B4-BE49-F238E27FC236}">
                <a16:creationId xmlns:a16="http://schemas.microsoft.com/office/drawing/2014/main" id="{660883BE-4021-51A2-8324-4B9051C32230}"/>
              </a:ext>
            </a:extLst>
          </p:cNvPr>
          <p:cNvSpPr>
            <a:spLocks noGrp="1"/>
          </p:cNvSpPr>
          <p:nvPr>
            <p:ph idx="1"/>
          </p:nvPr>
        </p:nvSpPr>
        <p:spPr>
          <a:xfrm>
            <a:off x="1861854" y="2125737"/>
            <a:ext cx="4834021" cy="4044463"/>
          </a:xfrm>
        </p:spPr>
        <p:txBody>
          <a:bodyPr>
            <a:normAutofit/>
          </a:bodyPr>
          <a:lstStyle/>
          <a:p>
            <a:pPr marL="0" indent="0">
              <a:lnSpc>
                <a:spcPct val="100000"/>
              </a:lnSpc>
              <a:buNone/>
            </a:pPr>
            <a:r>
              <a:rPr lang="en-CA" sz="1300" dirty="0"/>
              <a:t>“For Random Forest, we used </a:t>
            </a:r>
            <a:r>
              <a:rPr lang="en-CA" sz="1300" dirty="0" err="1"/>
              <a:t>RandomForestClassifier</a:t>
            </a:r>
            <a:r>
              <a:rPr lang="en-CA" sz="1300" dirty="0"/>
              <a:t> inside the same pipeline and tuned hyperparameters using </a:t>
            </a:r>
            <a:r>
              <a:rPr lang="en-CA" sz="1300" dirty="0" err="1"/>
              <a:t>GridSearchCV</a:t>
            </a:r>
            <a:r>
              <a:rPr lang="en-CA" sz="1300" dirty="0"/>
              <a:t>. The best configuration used </a:t>
            </a:r>
            <a:r>
              <a:rPr lang="en-CA" sz="1300" b="1" dirty="0"/>
              <a:t>100 trees</a:t>
            </a:r>
            <a:r>
              <a:rPr lang="en-CA" sz="1300" dirty="0"/>
              <a:t>, </a:t>
            </a:r>
            <a:r>
              <a:rPr lang="en-CA" sz="1300" dirty="0" err="1"/>
              <a:t>max_depth</a:t>
            </a:r>
            <a:r>
              <a:rPr lang="en-CA" sz="1300" dirty="0"/>
              <a:t>=None, and </a:t>
            </a:r>
            <a:r>
              <a:rPr lang="en-CA" sz="1300" dirty="0" err="1"/>
              <a:t>min_samples_split</a:t>
            </a:r>
            <a:r>
              <a:rPr lang="en-CA" sz="1300" dirty="0"/>
              <a:t>=5.</a:t>
            </a:r>
            <a:br>
              <a:rPr lang="en-CA" sz="1300" dirty="0"/>
            </a:br>
            <a:r>
              <a:rPr lang="en-CA" sz="1300" dirty="0"/>
              <a:t>With this configuration, Random Forest achieved the </a:t>
            </a:r>
            <a:r>
              <a:rPr lang="en-CA" sz="1300" b="1" dirty="0"/>
              <a:t>highest accuracy at 85.89%</a:t>
            </a:r>
            <a:r>
              <a:rPr lang="en-CA" sz="1300" dirty="0"/>
              <a:t> and the </a:t>
            </a:r>
            <a:r>
              <a:rPr lang="en-CA" sz="1300" b="1" dirty="0"/>
              <a:t>highest ROC‑AUC at 0.9093</a:t>
            </a:r>
            <a:r>
              <a:rPr lang="en-CA" sz="1300" dirty="0"/>
              <a:t>. Precision for the &gt;50K class is 0.7474 and recall is 0.6230, giving an F1‑score of 0.6796. So compared to Logistic Regression, Random Forest improves overall accuracy and AUC and gives a better balance between precision and recall.</a:t>
            </a:r>
            <a:br>
              <a:rPr lang="en-CA" sz="1300" dirty="0"/>
            </a:br>
            <a:r>
              <a:rPr lang="en-CA" sz="1300" dirty="0"/>
              <a:t>The feature importance plot shows that </a:t>
            </a:r>
            <a:r>
              <a:rPr lang="en-CA" sz="1300" b="1" dirty="0"/>
              <a:t>capital gain, age, hours per week, and education level</a:t>
            </a:r>
            <a:r>
              <a:rPr lang="en-CA" sz="1300" dirty="0"/>
              <a:t> are among the top contributors to the predictions.”</a:t>
            </a:r>
            <a:br>
              <a:rPr lang="en-CA" sz="1300" dirty="0"/>
            </a:br>
            <a:endParaRPr lang="en-US" sz="1300" dirty="0"/>
          </a:p>
        </p:txBody>
      </p:sp>
      <p:pic>
        <p:nvPicPr>
          <p:cNvPr id="7" name="Graphic 6" descr="Forest scene">
            <a:extLst>
              <a:ext uri="{FF2B5EF4-FFF2-40B4-BE49-F238E27FC236}">
                <a16:creationId xmlns:a16="http://schemas.microsoft.com/office/drawing/2014/main" id="{C85EF8F6-6139-F392-1476-E292559015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473" y="1200223"/>
            <a:ext cx="4072815" cy="4072815"/>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034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9">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1" name="Freeform: Shape 11">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8" name="Freeform: Shape 13">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9" name="Freeform: Shape 15">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2"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3" name="Freeform: Shape 22">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3" name="Picture 2" descr="A graph of a graph&#10;&#10;AI-generated content may be incorrect.">
            <a:extLst>
              <a:ext uri="{FF2B5EF4-FFF2-40B4-BE49-F238E27FC236}">
                <a16:creationId xmlns:a16="http://schemas.microsoft.com/office/drawing/2014/main" id="{484AEE32-6A89-9AC4-B881-AC6A50937036}"/>
              </a:ext>
            </a:extLst>
          </p:cNvPr>
          <p:cNvPicPr>
            <a:picLocks noChangeAspect="1"/>
          </p:cNvPicPr>
          <p:nvPr/>
        </p:nvPicPr>
        <p:blipFill>
          <a:blip r:embed="rId2"/>
          <a:srcRect r="11110" b="-1"/>
          <a:stretch>
            <a:fillRect/>
          </a:stretch>
        </p:blipFill>
        <p:spPr>
          <a:xfrm>
            <a:off x="1280667" y="720375"/>
            <a:ext cx="9630666" cy="5417250"/>
          </a:xfrm>
          <a:prstGeom prst="rect">
            <a:avLst/>
          </a:prstGeom>
          <a:ln w="28575">
            <a:solidFill>
              <a:schemeClr val="tx1"/>
            </a:solidFill>
          </a:ln>
        </p:spPr>
      </p:pic>
    </p:spTree>
    <p:extLst>
      <p:ext uri="{BB962C8B-B14F-4D97-AF65-F5344CB8AC3E}">
        <p14:creationId xmlns:p14="http://schemas.microsoft.com/office/powerpoint/2010/main" val="4271870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A3DEE12-65F4-EBF2-298B-CB2BCCA5051A}"/>
              </a:ext>
            </a:extLst>
          </p:cNvPr>
          <p:cNvPicPr>
            <a:picLocks noChangeAspect="1"/>
          </p:cNvPicPr>
          <p:nvPr/>
        </p:nvPicPr>
        <p:blipFill>
          <a:blip r:embed="rId2"/>
          <a:stretch>
            <a:fillRect/>
          </a:stretch>
        </p:blipFill>
        <p:spPr>
          <a:xfrm>
            <a:off x="1244600" y="1428088"/>
            <a:ext cx="10289032" cy="4001823"/>
          </a:xfrm>
          <a:prstGeom prst="rect">
            <a:avLst/>
          </a:prstGeom>
        </p:spPr>
      </p:pic>
    </p:spTree>
    <p:extLst>
      <p:ext uri="{BB962C8B-B14F-4D97-AF65-F5344CB8AC3E}">
        <p14:creationId xmlns:p14="http://schemas.microsoft.com/office/powerpoint/2010/main" val="2499484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17E4D22-B255-6C69-2AE0-AB1E1D48E87C}"/>
              </a:ext>
            </a:extLst>
          </p:cNvPr>
          <p:cNvSpPr>
            <a:spLocks noGrp="1"/>
          </p:cNvSpPr>
          <p:nvPr>
            <p:ph type="title"/>
          </p:nvPr>
        </p:nvSpPr>
        <p:spPr>
          <a:xfrm>
            <a:off x="1861854" y="633046"/>
            <a:ext cx="4834021" cy="1314996"/>
          </a:xfrm>
        </p:spPr>
        <p:txBody>
          <a:bodyPr anchor="b">
            <a:normAutofit/>
          </a:bodyPr>
          <a:lstStyle/>
          <a:p>
            <a:r>
              <a:rPr lang="en-US" b="1"/>
              <a:t>KNN</a:t>
            </a:r>
            <a:endParaRPr lang="en-US" b="1" dirty="0"/>
          </a:p>
        </p:txBody>
      </p:sp>
      <p:sp>
        <p:nvSpPr>
          <p:cNvPr id="3" name="Content Placeholder 2">
            <a:extLst>
              <a:ext uri="{FF2B5EF4-FFF2-40B4-BE49-F238E27FC236}">
                <a16:creationId xmlns:a16="http://schemas.microsoft.com/office/drawing/2014/main" id="{9F820BB4-F343-CA4B-011B-D88E9FACBEC2}"/>
              </a:ext>
            </a:extLst>
          </p:cNvPr>
          <p:cNvSpPr>
            <a:spLocks noGrp="1"/>
          </p:cNvSpPr>
          <p:nvPr>
            <p:ph idx="1"/>
          </p:nvPr>
        </p:nvSpPr>
        <p:spPr>
          <a:xfrm>
            <a:off x="1861854" y="2125737"/>
            <a:ext cx="4834021" cy="4044463"/>
          </a:xfrm>
        </p:spPr>
        <p:txBody>
          <a:bodyPr>
            <a:normAutofit/>
          </a:bodyPr>
          <a:lstStyle/>
          <a:p>
            <a:pPr marL="0" indent="0">
              <a:lnSpc>
                <a:spcPct val="100000"/>
              </a:lnSpc>
              <a:buNone/>
            </a:pPr>
            <a:r>
              <a:rPr lang="en-CA" sz="1500" dirty="0"/>
              <a:t>“For K‑Nearest Neighbors, we first selected the best value of K using an elbow method, testing K from 1 to 20 and plotting accuracy. The optimal choice was </a:t>
            </a:r>
            <a:r>
              <a:rPr lang="en-CA" sz="1500" b="1" dirty="0"/>
              <a:t>K=16</a:t>
            </a:r>
            <a:r>
              <a:rPr lang="en-CA" sz="1500" dirty="0"/>
              <a:t>.</a:t>
            </a:r>
            <a:br>
              <a:rPr lang="en-CA" sz="1500" dirty="0"/>
            </a:br>
            <a:r>
              <a:rPr lang="en-CA" sz="1500" dirty="0"/>
              <a:t>With K=16, KNN reached an </a:t>
            </a:r>
            <a:r>
              <a:rPr lang="en-CA" sz="1500" b="1" dirty="0"/>
              <a:t>accuracy of 84.38%</a:t>
            </a:r>
            <a:r>
              <a:rPr lang="en-CA" sz="1500" dirty="0"/>
              <a:t> and </a:t>
            </a:r>
            <a:r>
              <a:rPr lang="en-CA" sz="1500" b="1" dirty="0"/>
              <a:t>ROC‑AUC of 0.8870</a:t>
            </a:r>
            <a:r>
              <a:rPr lang="en-CA" sz="1500" dirty="0"/>
              <a:t>. Precision for &gt;50K is 0.7203 and recall is 0.5712, with an F1‑score of 0.6372. So KNN performs reasonably well, but it is weaker than Random Forest and Logistic Regression on ROC‑AUC.</a:t>
            </a:r>
            <a:br>
              <a:rPr lang="en-CA" sz="1500" dirty="0"/>
            </a:br>
            <a:r>
              <a:rPr lang="en-CA" sz="1500" dirty="0"/>
              <a:t>Another important point is runtime: KNN has relatively </a:t>
            </a:r>
            <a:r>
              <a:rPr lang="en-CA" sz="1500" b="1" dirty="0"/>
              <a:t>fast training</a:t>
            </a:r>
            <a:r>
              <a:rPr lang="en-CA" sz="1500" dirty="0"/>
              <a:t> (about 0.12 seconds), but </a:t>
            </a:r>
            <a:r>
              <a:rPr lang="en-CA" sz="1500" b="1" dirty="0"/>
              <a:t>slow prediction</a:t>
            </a:r>
            <a:r>
              <a:rPr lang="en-CA" sz="1500" dirty="0"/>
              <a:t> (around 0.20 seconds) because it has to compute distances to many training samples at inference time. That makes it less suitable for real‑time large‑scale deployment.”</a:t>
            </a:r>
            <a:br>
              <a:rPr lang="en-CA" sz="1500" dirty="0"/>
            </a:br>
            <a:endParaRPr lang="en-US" sz="1500" dirty="0"/>
          </a:p>
        </p:txBody>
      </p:sp>
      <p:pic>
        <p:nvPicPr>
          <p:cNvPr id="7" name="Graphic 6" descr="Group">
            <a:extLst>
              <a:ext uri="{FF2B5EF4-FFF2-40B4-BE49-F238E27FC236}">
                <a16:creationId xmlns:a16="http://schemas.microsoft.com/office/drawing/2014/main" id="{633EEB06-546F-C98D-5E79-CA02C89016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473" y="1200223"/>
            <a:ext cx="4072815" cy="4072815"/>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7"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074782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and diagram of a graph&#10;&#10;AI-generated content may be incorrect.">
            <a:extLst>
              <a:ext uri="{FF2B5EF4-FFF2-40B4-BE49-F238E27FC236}">
                <a16:creationId xmlns:a16="http://schemas.microsoft.com/office/drawing/2014/main" id="{BC3B7E61-1EFF-DCF6-86E0-100AEF893BA1}"/>
              </a:ext>
            </a:extLst>
          </p:cNvPr>
          <p:cNvPicPr>
            <a:picLocks noChangeAspect="1"/>
          </p:cNvPicPr>
          <p:nvPr/>
        </p:nvPicPr>
        <p:blipFill>
          <a:blip r:embed="rId2"/>
          <a:stretch>
            <a:fillRect/>
          </a:stretch>
        </p:blipFill>
        <p:spPr>
          <a:xfrm>
            <a:off x="1799835" y="1053059"/>
            <a:ext cx="9178561" cy="4751882"/>
          </a:xfrm>
          <a:prstGeom prst="rect">
            <a:avLst/>
          </a:prstGeom>
        </p:spPr>
      </p:pic>
    </p:spTree>
    <p:extLst>
      <p:ext uri="{BB962C8B-B14F-4D97-AF65-F5344CB8AC3E}">
        <p14:creationId xmlns:p14="http://schemas.microsoft.com/office/powerpoint/2010/main" val="360207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2"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3" name="Freeform: Shape 22">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3" name="Picture 2" descr="A graph with a line&#10;&#10;AI-generated content may be incorrect.">
            <a:extLst>
              <a:ext uri="{FF2B5EF4-FFF2-40B4-BE49-F238E27FC236}">
                <a16:creationId xmlns:a16="http://schemas.microsoft.com/office/drawing/2014/main" id="{E1BA8982-9F64-4A84-7FA1-5E2FDBB842E2}"/>
              </a:ext>
            </a:extLst>
          </p:cNvPr>
          <p:cNvPicPr>
            <a:picLocks noChangeAspect="1"/>
          </p:cNvPicPr>
          <p:nvPr/>
        </p:nvPicPr>
        <p:blipFill>
          <a:blip r:embed="rId2"/>
          <a:srcRect r="11110" b="-1"/>
          <a:stretch>
            <a:fillRect/>
          </a:stretch>
        </p:blipFill>
        <p:spPr>
          <a:xfrm>
            <a:off x="1280667" y="720375"/>
            <a:ext cx="9630666" cy="5417250"/>
          </a:xfrm>
          <a:prstGeom prst="rect">
            <a:avLst/>
          </a:prstGeom>
          <a:ln w="28575">
            <a:solidFill>
              <a:schemeClr val="tx1"/>
            </a:solidFill>
          </a:ln>
        </p:spPr>
      </p:pic>
    </p:spTree>
    <p:extLst>
      <p:ext uri="{BB962C8B-B14F-4D97-AF65-F5344CB8AC3E}">
        <p14:creationId xmlns:p14="http://schemas.microsoft.com/office/powerpoint/2010/main" val="957904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B68208-E34E-B286-1A65-88F2B91654D3}"/>
              </a:ext>
            </a:extLst>
          </p:cNvPr>
          <p:cNvSpPr>
            <a:spLocks noGrp="1"/>
          </p:cNvSpPr>
          <p:nvPr>
            <p:ph type="title"/>
          </p:nvPr>
        </p:nvSpPr>
        <p:spPr>
          <a:xfrm>
            <a:off x="1102368" y="1877492"/>
            <a:ext cx="4030132" cy="3215373"/>
          </a:xfrm>
        </p:spPr>
        <p:txBody>
          <a:bodyPr>
            <a:normAutofit/>
          </a:bodyPr>
          <a:lstStyle/>
          <a:p>
            <a:pPr algn="ctr"/>
            <a:r>
              <a:rPr lang="en-CA" b="1" dirty="0"/>
              <a:t>Decision Tree </a:t>
            </a:r>
            <a:endParaRPr lang="en-US" b="1"/>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Oval 34">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C51F5C91-2CE5-5185-89C5-27D0C29A75F5}"/>
              </a:ext>
            </a:extLst>
          </p:cNvPr>
          <p:cNvSpPr>
            <a:spLocks noGrp="1"/>
          </p:cNvSpPr>
          <p:nvPr>
            <p:ph idx="1"/>
          </p:nvPr>
        </p:nvSpPr>
        <p:spPr>
          <a:xfrm>
            <a:off x="6234868" y="1130846"/>
            <a:ext cx="5217173" cy="4351338"/>
          </a:xfrm>
        </p:spPr>
        <p:txBody>
          <a:bodyPr>
            <a:normAutofit/>
          </a:bodyPr>
          <a:lstStyle/>
          <a:p>
            <a:pPr marL="0" indent="0">
              <a:lnSpc>
                <a:spcPct val="100000"/>
              </a:lnSpc>
              <a:buNone/>
            </a:pPr>
            <a:r>
              <a:rPr lang="en-CA" sz="1500"/>
              <a:t>“For the Decision Tree model, we used DecisionTreeClassifier and tuned the hyperparameters max_depth, min_samples_leaf, and criterion with GridSearchCV. The best tree used </a:t>
            </a:r>
            <a:r>
              <a:rPr lang="en-CA" sz="1500" b="1"/>
              <a:t>entropy</a:t>
            </a:r>
            <a:r>
              <a:rPr lang="en-CA" sz="1500"/>
              <a:t> as the criterion, max_depth=10, and min_samples_leaf=10, which helps prevent overfitting.</a:t>
            </a:r>
            <a:br>
              <a:rPr lang="en-CA" sz="1500"/>
            </a:br>
            <a:r>
              <a:rPr lang="en-CA" sz="1500"/>
              <a:t>The tuned Decision Tree achieved </a:t>
            </a:r>
            <a:r>
              <a:rPr lang="en-CA" sz="1500" b="1"/>
              <a:t>85.13% accuracy</a:t>
            </a:r>
            <a:r>
              <a:rPr lang="en-CA" sz="1500"/>
              <a:t>, </a:t>
            </a:r>
            <a:r>
              <a:rPr lang="en-CA" sz="1500" b="1"/>
              <a:t>ROC‑AUC of 0.8985</a:t>
            </a:r>
            <a:r>
              <a:rPr lang="en-CA" sz="1500"/>
              <a:t>, and </a:t>
            </a:r>
            <a:r>
              <a:rPr lang="en-CA" sz="1500" b="1"/>
              <a:t>precision 0.7579</a:t>
            </a:r>
            <a:r>
              <a:rPr lang="en-CA" sz="1500"/>
              <a:t> with recall 0.5592 for the &gt;50K class. This is the </a:t>
            </a:r>
            <a:r>
              <a:rPr lang="en-CA" sz="1500" b="1"/>
              <a:t>highest precision</a:t>
            </a:r>
            <a:r>
              <a:rPr lang="en-CA" sz="1500"/>
              <a:t> among all models, meaning when it predicts &gt;50K, it is often correct, but it misses more of the actual positives.</a:t>
            </a:r>
            <a:br>
              <a:rPr lang="en-CA" sz="1500"/>
            </a:br>
            <a:r>
              <a:rPr lang="en-CA" sz="1500"/>
              <a:t>We also visualized the top three levels of the tree, which makes the model interpretable. And in terms of speed, Decision Tree has the </a:t>
            </a:r>
            <a:r>
              <a:rPr lang="en-CA" sz="1500" b="1"/>
              <a:t>fastest prediction time at about 0.006 seconds</a:t>
            </a:r>
            <a:r>
              <a:rPr lang="en-CA" sz="1500"/>
              <a:t>, making it very attractive for real‑time applications.”</a:t>
            </a:r>
            <a:endParaRPr lang="en-US" sz="1500"/>
          </a:p>
        </p:txBody>
      </p:sp>
      <p:grpSp>
        <p:nvGrpSpPr>
          <p:cNvPr id="37"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38"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9"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0"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604180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3AFB2E6-F490-3BDB-7F1E-DE193249FD0C}"/>
              </a:ext>
            </a:extLst>
          </p:cNvPr>
          <p:cNvPicPr>
            <a:picLocks noChangeAspect="1"/>
          </p:cNvPicPr>
          <p:nvPr/>
        </p:nvPicPr>
        <p:blipFill>
          <a:blip r:embed="rId2"/>
          <a:stretch>
            <a:fillRect/>
          </a:stretch>
        </p:blipFill>
        <p:spPr>
          <a:xfrm>
            <a:off x="1882281" y="1210455"/>
            <a:ext cx="9013669" cy="4437089"/>
          </a:xfrm>
          <a:prstGeom prst="rect">
            <a:avLst/>
          </a:prstGeom>
        </p:spPr>
      </p:pic>
    </p:spTree>
    <p:extLst>
      <p:ext uri="{BB962C8B-B14F-4D97-AF65-F5344CB8AC3E}">
        <p14:creationId xmlns:p14="http://schemas.microsoft.com/office/powerpoint/2010/main" val="1261312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tree&#10;&#10;AI-generated content may be incorrect.">
            <a:extLst>
              <a:ext uri="{FF2B5EF4-FFF2-40B4-BE49-F238E27FC236}">
                <a16:creationId xmlns:a16="http://schemas.microsoft.com/office/drawing/2014/main" id="{CC981382-62EE-AC7B-8566-89EA3AE7DE24}"/>
              </a:ext>
            </a:extLst>
          </p:cNvPr>
          <p:cNvPicPr>
            <a:picLocks noChangeAspect="1"/>
          </p:cNvPicPr>
          <p:nvPr/>
        </p:nvPicPr>
        <p:blipFill>
          <a:blip r:embed="rId2"/>
          <a:stretch>
            <a:fillRect/>
          </a:stretch>
        </p:blipFill>
        <p:spPr>
          <a:xfrm>
            <a:off x="1473129" y="899410"/>
            <a:ext cx="9831974" cy="5156616"/>
          </a:xfrm>
          <a:prstGeom prst="rect">
            <a:avLst/>
          </a:prstGeom>
        </p:spPr>
      </p:pic>
    </p:spTree>
    <p:extLst>
      <p:ext uri="{BB962C8B-B14F-4D97-AF65-F5344CB8AC3E}">
        <p14:creationId xmlns:p14="http://schemas.microsoft.com/office/powerpoint/2010/main" val="3912500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B96C72-6CAE-2610-1154-C61D9B3BED8F}"/>
            </a:ext>
          </a:extLst>
        </p:cNvPr>
        <p:cNvGrpSpPr/>
        <p:nvPr/>
      </p:nvGrpSpPr>
      <p:grpSpPr>
        <a:xfrm>
          <a:off x="0" y="0"/>
          <a:ext cx="0" cy="0"/>
          <a:chOff x="0" y="0"/>
          <a:chExt cx="0" cy="0"/>
        </a:xfrm>
      </p:grpSpPr>
      <p:grpSp>
        <p:nvGrpSpPr>
          <p:cNvPr id="46" name="Graphic 185">
            <a:extLst>
              <a:ext uri="{FF2B5EF4-FFF2-40B4-BE49-F238E27FC236}">
                <a16:creationId xmlns:a16="http://schemas.microsoft.com/office/drawing/2014/main" id="{773CCE17-EE0F-40E0-B7AE-CF7677B647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47" name="Freeform: Shape 46">
              <a:extLst>
                <a:ext uri="{FF2B5EF4-FFF2-40B4-BE49-F238E27FC236}">
                  <a16:creationId xmlns:a16="http://schemas.microsoft.com/office/drawing/2014/main" id="{B0AC6C4E-6EA5-454A-AB84-8B94D8B5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B4329338-925B-4677-BA6E-4357D37DB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34C0A08-043F-4818-BA1D-BCC9F811A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DCB185DD-ED0D-4633-8098-95C4A6F17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AD50526-B611-40B6-BB45-AE82F0EF5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3" name="Oval 52">
            <a:extLst>
              <a:ext uri="{FF2B5EF4-FFF2-40B4-BE49-F238E27FC236}">
                <a16:creationId xmlns:a16="http://schemas.microsoft.com/office/drawing/2014/main" id="{70CCC791-94D7-4BB8-9EDF-423CEA1F6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55" name="Rectangle 54">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59" name="Freeform: Shape 58">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61" name="Freeform: Shape 60">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63" name="Freeform: Shape 62">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65" name="Freeform: Shape 64">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7" name="Freeform: Shape 66">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69"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70" name="Freeform: Shape 69">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CBCBE819-8D77-E7D6-2491-92B387DD7437}"/>
              </a:ext>
            </a:extLst>
          </p:cNvPr>
          <p:cNvSpPr>
            <a:spLocks noGrp="1"/>
          </p:cNvSpPr>
          <p:nvPr>
            <p:ph type="title"/>
          </p:nvPr>
        </p:nvSpPr>
        <p:spPr>
          <a:xfrm>
            <a:off x="838200" y="1195697"/>
            <a:ext cx="3465786" cy="4238118"/>
          </a:xfrm>
        </p:spPr>
        <p:txBody>
          <a:bodyPr>
            <a:normAutofit/>
          </a:bodyPr>
          <a:lstStyle/>
          <a:p>
            <a:r>
              <a:rPr lang="en-CA" sz="4100" b="1" dirty="0"/>
              <a:t>Performance 	Result</a:t>
            </a:r>
            <a:endParaRPr lang="en-US" sz="4100" dirty="0"/>
          </a:p>
        </p:txBody>
      </p:sp>
      <p:graphicFrame>
        <p:nvGraphicFramePr>
          <p:cNvPr id="41" name="Content Placeholder 2">
            <a:extLst>
              <a:ext uri="{FF2B5EF4-FFF2-40B4-BE49-F238E27FC236}">
                <a16:creationId xmlns:a16="http://schemas.microsoft.com/office/drawing/2014/main" id="{56982CB2-8A88-A9A9-A9EB-03FDBD5C4857}"/>
              </a:ext>
            </a:extLst>
          </p:cNvPr>
          <p:cNvGraphicFramePr>
            <a:graphicFrameLocks noGrp="1"/>
          </p:cNvGraphicFramePr>
          <p:nvPr>
            <p:ph idx="1"/>
            <p:extLst>
              <p:ext uri="{D42A27DB-BD31-4B8C-83A1-F6EECF244321}">
                <p14:modId xmlns:p14="http://schemas.microsoft.com/office/powerpoint/2010/main" val="4267727314"/>
              </p:ext>
            </p:extLst>
          </p:nvPr>
        </p:nvGraphicFramePr>
        <p:xfrm>
          <a:off x="4782386" y="447277"/>
          <a:ext cx="6571413" cy="57296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1678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2"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3" name="Freeform: Shape 22">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3" name="Picture 2" descr="A graph of a graph showing different colored squares&#10;&#10;AI-generated content may be incorrect.">
            <a:extLst>
              <a:ext uri="{FF2B5EF4-FFF2-40B4-BE49-F238E27FC236}">
                <a16:creationId xmlns:a16="http://schemas.microsoft.com/office/drawing/2014/main" id="{91986F38-B99E-BF0C-0E9B-2E61ACD18A0F}"/>
              </a:ext>
            </a:extLst>
          </p:cNvPr>
          <p:cNvPicPr>
            <a:picLocks noChangeAspect="1"/>
          </p:cNvPicPr>
          <p:nvPr/>
        </p:nvPicPr>
        <p:blipFill>
          <a:blip r:embed="rId2"/>
          <a:srcRect l="1333"/>
          <a:stretch>
            <a:fillRect/>
          </a:stretch>
        </p:blipFill>
        <p:spPr>
          <a:xfrm>
            <a:off x="1280667" y="720375"/>
            <a:ext cx="9630666" cy="5417250"/>
          </a:xfrm>
          <a:prstGeom prst="rect">
            <a:avLst/>
          </a:prstGeom>
          <a:ln w="28575">
            <a:solidFill>
              <a:schemeClr val="tx1"/>
            </a:solidFill>
          </a:ln>
        </p:spPr>
      </p:pic>
    </p:spTree>
    <p:extLst>
      <p:ext uri="{BB962C8B-B14F-4D97-AF65-F5344CB8AC3E}">
        <p14:creationId xmlns:p14="http://schemas.microsoft.com/office/powerpoint/2010/main" val="87834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aphic 185">
            <a:extLst>
              <a:ext uri="{FF2B5EF4-FFF2-40B4-BE49-F238E27FC236}">
                <a16:creationId xmlns:a16="http://schemas.microsoft.com/office/drawing/2014/main" id="{8A351602-3772-4279-B0D3-A523F6F6EA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1" name="Freeform: Shape 10">
              <a:extLst>
                <a:ext uri="{FF2B5EF4-FFF2-40B4-BE49-F238E27FC236}">
                  <a16:creationId xmlns:a16="http://schemas.microsoft.com/office/drawing/2014/main" id="{A5AAAA75-5FFB-4C07-AD4A-3146773E6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479895E-3847-44BB-8404-28F14219F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0E02F68-8149-4236-8D9F-6B550F78B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56FCAAB-F073-4561-A484-42C7DD10D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F8DB94-87A3-43E9-9BBB-301CFF0FB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7D6BF779-0B8C-4CC2-9268-9506AD0C5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9" name="Rectangle 18">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0F0C2E5D-B08F-4A99-9D15-59D33148F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167"/>
            <a:ext cx="1861854" cy="717514"/>
            <a:chOff x="0" y="238499"/>
            <a:chExt cx="1861854" cy="717514"/>
          </a:xfrm>
        </p:grpSpPr>
        <p:grpSp>
          <p:nvGrpSpPr>
            <p:cNvPr id="22" name="Group 21">
              <a:extLst>
                <a:ext uri="{FF2B5EF4-FFF2-40B4-BE49-F238E27FC236}">
                  <a16:creationId xmlns:a16="http://schemas.microsoft.com/office/drawing/2014/main" id="{07B8F35D-FB89-4C40-8A99-E46DDA0213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rgbClr val="FFFFFF"/>
            </a:solidFill>
          </p:grpSpPr>
          <p:sp>
            <p:nvSpPr>
              <p:cNvPr id="26" name="Freeform: Shape 25">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7" name="Freeform: Shape 26">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23" name="Group 22">
              <a:extLst>
                <a:ext uri="{FF2B5EF4-FFF2-40B4-BE49-F238E27FC236}">
                  <a16:creationId xmlns:a16="http://schemas.microsoft.com/office/drawing/2014/main" id="{55FC669C-CD13-4F4A-AFFF-4029D34F2DB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chemeClr val="tx1"/>
            </a:solidFill>
          </p:grpSpPr>
          <p:sp>
            <p:nvSpPr>
              <p:cNvPr id="24" name="Freeform: Shape 23">
                <a:extLst>
                  <a:ext uri="{FF2B5EF4-FFF2-40B4-BE49-F238E27FC236}">
                    <a16:creationId xmlns:a16="http://schemas.microsoft.com/office/drawing/2014/main" id="{6617B5AA-8A0D-41D3-B2EF-8BC53E3B7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5" name="Freeform: Shape 24">
                <a:extLst>
                  <a:ext uri="{FF2B5EF4-FFF2-40B4-BE49-F238E27FC236}">
                    <a16:creationId xmlns:a16="http://schemas.microsoft.com/office/drawing/2014/main" id="{572EB308-9A4E-4332-A908-22F2978D7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grpSp>
        <p:nvGrpSpPr>
          <p:cNvPr id="29" name="Group 28">
            <a:extLst>
              <a:ext uri="{FF2B5EF4-FFF2-40B4-BE49-F238E27FC236}">
                <a16:creationId xmlns:a16="http://schemas.microsoft.com/office/drawing/2014/main" id="{BB7A900B-006E-46F4-831E-5AABAEE45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4492" y="1103896"/>
            <a:ext cx="4965868" cy="4598497"/>
            <a:chOff x="1674895" y="1345036"/>
            <a:chExt cx="5428610" cy="4210939"/>
          </a:xfrm>
        </p:grpSpPr>
        <p:sp>
          <p:nvSpPr>
            <p:cNvPr id="30" name="Rectangle 29">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AD33695-C117-4AEE-9AF5-65F13C6CC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3" name="Rectangle 32">
            <a:extLst>
              <a:ext uri="{FF2B5EF4-FFF2-40B4-BE49-F238E27FC236}">
                <a16:creationId xmlns:a16="http://schemas.microsoft.com/office/drawing/2014/main" id="{90A7F83A-9728-4030-8E45-9ECF1AB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2"/>
            <a:ext cx="4860256" cy="452926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4C00E-B5C5-96C1-EDAD-5122C806233F}"/>
              </a:ext>
            </a:extLst>
          </p:cNvPr>
          <p:cNvSpPr>
            <a:spLocks noGrp="1"/>
          </p:cNvSpPr>
          <p:nvPr>
            <p:ph type="title"/>
          </p:nvPr>
        </p:nvSpPr>
        <p:spPr>
          <a:xfrm>
            <a:off x="838200" y="1254952"/>
            <a:ext cx="4324642" cy="2939655"/>
          </a:xfrm>
        </p:spPr>
        <p:txBody>
          <a:bodyPr vert="horz" lIns="91440" tIns="45720" rIns="91440" bIns="45720" rtlCol="0" anchor="b">
            <a:normAutofit/>
          </a:bodyPr>
          <a:lstStyle/>
          <a:p>
            <a:pPr algn="ctr"/>
            <a:r>
              <a:rPr lang="en-US" sz="6000" b="1" cap="all" spc="1500" dirty="0">
                <a:ea typeface="Source Sans Pro SemiBold" panose="020B0603030403020204" pitchFamily="34" charset="0"/>
              </a:rPr>
              <a:t>ROC Curve</a:t>
            </a:r>
          </a:p>
        </p:txBody>
      </p:sp>
      <p:sp>
        <p:nvSpPr>
          <p:cNvPr id="35" name="Freeform: Shape 34">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FEA9761C-7BB2-45E5-A5DB-A0B353624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1" name="Oval 40">
            <a:extLst>
              <a:ext uri="{FF2B5EF4-FFF2-40B4-BE49-F238E27FC236}">
                <a16:creationId xmlns:a16="http://schemas.microsoft.com/office/drawing/2014/main" id="{8E44D629-6B8E-4D88-A77E-149C0ED0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Content Placeholder 4" descr="A graph of a curve&#10;&#10;AI-generated content may be incorrect.">
            <a:extLst>
              <a:ext uri="{FF2B5EF4-FFF2-40B4-BE49-F238E27FC236}">
                <a16:creationId xmlns:a16="http://schemas.microsoft.com/office/drawing/2014/main" id="{5A4E0300-AF4B-9C5E-1D65-294DFFF1DAEE}"/>
              </a:ext>
            </a:extLst>
          </p:cNvPr>
          <p:cNvPicPr>
            <a:picLocks noGrp="1" noChangeAspect="1"/>
          </p:cNvPicPr>
          <p:nvPr>
            <p:ph idx="1"/>
          </p:nvPr>
        </p:nvPicPr>
        <p:blipFill>
          <a:blip r:embed="rId2"/>
          <a:srcRect l="10994" r="2952" b="-2"/>
          <a:stretch>
            <a:fillRect/>
          </a:stretch>
        </p:blipFill>
        <p:spPr>
          <a:xfrm>
            <a:off x="6094114" y="1321031"/>
            <a:ext cx="5428611" cy="4210940"/>
          </a:xfrm>
          <a:prstGeom prst="rect">
            <a:avLst/>
          </a:prstGeom>
          <a:ln w="28575">
            <a:noFill/>
          </a:ln>
        </p:spPr>
      </p:pic>
      <p:grpSp>
        <p:nvGrpSpPr>
          <p:cNvPr id="43"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rgbClr val="FFFFFF"/>
          </a:solidFill>
        </p:grpSpPr>
        <p:sp>
          <p:nvSpPr>
            <p:cNvPr id="44" name="Freeform: Shape 43">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50" name="Graphic 185">
            <a:extLst>
              <a:ext uri="{FF2B5EF4-FFF2-40B4-BE49-F238E27FC236}">
                <a16:creationId xmlns:a16="http://schemas.microsoft.com/office/drawing/2014/main" id="{8B6BCBAB-41A5-4D6D-8C9B-55E3AA6FC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chemeClr val="tx1"/>
          </a:solidFill>
        </p:grpSpPr>
        <p:sp>
          <p:nvSpPr>
            <p:cNvPr id="51" name="Freeform: Shape 50">
              <a:extLst>
                <a:ext uri="{FF2B5EF4-FFF2-40B4-BE49-F238E27FC236}">
                  <a16:creationId xmlns:a16="http://schemas.microsoft.com/office/drawing/2014/main" id="{755217F1-B506-4443-A399-CFFA441CD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B8C0F31-7A0C-4630-A379-0B4719A1F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2D43873-56D9-4AC1-AB59-A1E78D679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B2197D5-22E1-47CC-83CF-9E64CCD57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5DC5D97-506B-47F6-B9A7-D8FA26C88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7234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2"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3" name="Freeform: Shape 22">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034FA1F2-E76D-B73E-A3DE-20291BA849D5}"/>
              </a:ext>
            </a:extLst>
          </p:cNvPr>
          <p:cNvPicPr>
            <a:picLocks noChangeAspect="1"/>
          </p:cNvPicPr>
          <p:nvPr/>
        </p:nvPicPr>
        <p:blipFill>
          <a:blip r:embed="rId2"/>
          <a:stretch>
            <a:fillRect/>
          </a:stretch>
        </p:blipFill>
        <p:spPr>
          <a:xfrm>
            <a:off x="2429254" y="-1"/>
            <a:ext cx="7772400" cy="3210772"/>
          </a:xfrm>
          <a:prstGeom prst="rect">
            <a:avLst/>
          </a:prstGeom>
        </p:spPr>
      </p:pic>
      <p:pic>
        <p:nvPicPr>
          <p:cNvPr id="7" name="Picture 6">
            <a:extLst>
              <a:ext uri="{FF2B5EF4-FFF2-40B4-BE49-F238E27FC236}">
                <a16:creationId xmlns:a16="http://schemas.microsoft.com/office/drawing/2014/main" id="{B6ED6174-A9AA-4235-BD2E-01DE45FC9C19}"/>
              </a:ext>
            </a:extLst>
          </p:cNvPr>
          <p:cNvPicPr>
            <a:picLocks noChangeAspect="1"/>
          </p:cNvPicPr>
          <p:nvPr/>
        </p:nvPicPr>
        <p:blipFill>
          <a:blip r:embed="rId3"/>
          <a:stretch>
            <a:fillRect/>
          </a:stretch>
        </p:blipFill>
        <p:spPr>
          <a:xfrm>
            <a:off x="2429254" y="3210772"/>
            <a:ext cx="7855468" cy="3647228"/>
          </a:xfrm>
          <a:prstGeom prst="rect">
            <a:avLst/>
          </a:prstGeom>
        </p:spPr>
      </p:pic>
      <p:sp>
        <p:nvSpPr>
          <p:cNvPr id="9" name="TextBox 8">
            <a:extLst>
              <a:ext uri="{FF2B5EF4-FFF2-40B4-BE49-F238E27FC236}">
                <a16:creationId xmlns:a16="http://schemas.microsoft.com/office/drawing/2014/main" id="{A5014938-44BA-49C7-A363-9A1795164ED7}"/>
              </a:ext>
            </a:extLst>
          </p:cNvPr>
          <p:cNvSpPr txBox="1"/>
          <p:nvPr/>
        </p:nvSpPr>
        <p:spPr>
          <a:xfrm>
            <a:off x="44935" y="3332418"/>
            <a:ext cx="2323475" cy="369332"/>
          </a:xfrm>
          <a:prstGeom prst="rect">
            <a:avLst/>
          </a:prstGeom>
          <a:noFill/>
        </p:spPr>
        <p:txBody>
          <a:bodyPr wrap="square" rtlCol="0">
            <a:spAutoFit/>
          </a:bodyPr>
          <a:lstStyle/>
          <a:p>
            <a:r>
              <a:rPr lang="en-CA" b="1" dirty="0"/>
              <a:t>Confusion Matrices</a:t>
            </a:r>
            <a:endParaRPr lang="en-US" b="1" dirty="0"/>
          </a:p>
        </p:txBody>
      </p:sp>
    </p:spTree>
    <p:extLst>
      <p:ext uri="{BB962C8B-B14F-4D97-AF65-F5344CB8AC3E}">
        <p14:creationId xmlns:p14="http://schemas.microsoft.com/office/powerpoint/2010/main" val="262439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8875539-0E84-455D-BC55-CA2C4BD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5F9176D7-CC1C-4175-B08A-01FB9F4F3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D83469C6-FD66-4B54-921B-8031CD42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6F0C6814-AEA4-4409-9A89-7AC1D41E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6754052F-5B23-433C-8ADA-E8F0F843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FB2B180F-0C1C-4489-B089-6B68FD7AB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2" name="Graphic 185">
            <a:extLst>
              <a:ext uri="{FF2B5EF4-FFF2-40B4-BE49-F238E27FC236}">
                <a16:creationId xmlns:a16="http://schemas.microsoft.com/office/drawing/2014/main" id="{F8DA0E47-CC59-4007-BDA3-0D5A4CF235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3" name="Freeform: Shape 22">
              <a:extLst>
                <a:ext uri="{FF2B5EF4-FFF2-40B4-BE49-F238E27FC236}">
                  <a16:creationId xmlns:a16="http://schemas.microsoft.com/office/drawing/2014/main" id="{DC833CFE-926B-4F47-AB28-ADB4F769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80DE9A3-5BAC-492E-BEA8-AFF33894D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4C461C6-EC83-4CF8-BA68-8B3D52D31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64B2AB-B7D6-4349-9A36-E6775B5F8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FF3243-BD09-43B6-805F-FD18ECF5C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3" name="Picture 2" descr="A graph of different colored squares&#10;&#10;AI-generated content may be incorrect.">
            <a:extLst>
              <a:ext uri="{FF2B5EF4-FFF2-40B4-BE49-F238E27FC236}">
                <a16:creationId xmlns:a16="http://schemas.microsoft.com/office/drawing/2014/main" id="{801228F4-74BE-9E0A-D26F-CEA9B2000624}"/>
              </a:ext>
            </a:extLst>
          </p:cNvPr>
          <p:cNvPicPr>
            <a:picLocks noChangeAspect="1"/>
          </p:cNvPicPr>
          <p:nvPr/>
        </p:nvPicPr>
        <p:blipFill>
          <a:blip r:embed="rId2"/>
          <a:srcRect l="1333"/>
          <a:stretch>
            <a:fillRect/>
          </a:stretch>
        </p:blipFill>
        <p:spPr>
          <a:xfrm>
            <a:off x="1280667" y="720375"/>
            <a:ext cx="9630666" cy="5417250"/>
          </a:xfrm>
          <a:prstGeom prst="rect">
            <a:avLst/>
          </a:prstGeom>
          <a:ln w="28575">
            <a:solidFill>
              <a:schemeClr val="tx1"/>
            </a:solidFill>
          </a:ln>
        </p:spPr>
      </p:pic>
    </p:spTree>
    <p:extLst>
      <p:ext uri="{BB962C8B-B14F-4D97-AF65-F5344CB8AC3E}">
        <p14:creationId xmlns:p14="http://schemas.microsoft.com/office/powerpoint/2010/main" val="3025148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3FE791F-3082-8B3B-3461-0E20DBFB07BF}"/>
              </a:ext>
            </a:extLst>
          </p:cNvPr>
          <p:cNvSpPr>
            <a:spLocks noGrp="1"/>
          </p:cNvSpPr>
          <p:nvPr>
            <p:ph type="title"/>
          </p:nvPr>
        </p:nvSpPr>
        <p:spPr>
          <a:xfrm>
            <a:off x="1861854" y="633046"/>
            <a:ext cx="4834021" cy="1314996"/>
          </a:xfrm>
        </p:spPr>
        <p:txBody>
          <a:bodyPr anchor="b">
            <a:normAutofit/>
          </a:bodyPr>
          <a:lstStyle/>
          <a:p>
            <a:r>
              <a:rPr lang="en-CA" b="1" dirty="0"/>
              <a:t>Precision vs Recall</a:t>
            </a:r>
            <a:endParaRPr lang="en-US" dirty="0"/>
          </a:p>
        </p:txBody>
      </p:sp>
      <p:sp>
        <p:nvSpPr>
          <p:cNvPr id="27" name="Content Placeholder 2">
            <a:extLst>
              <a:ext uri="{FF2B5EF4-FFF2-40B4-BE49-F238E27FC236}">
                <a16:creationId xmlns:a16="http://schemas.microsoft.com/office/drawing/2014/main" id="{CC5A6E03-605A-5506-BB05-BF0AFD59A573}"/>
              </a:ext>
            </a:extLst>
          </p:cNvPr>
          <p:cNvSpPr>
            <a:spLocks noGrp="1"/>
          </p:cNvSpPr>
          <p:nvPr>
            <p:ph idx="1"/>
          </p:nvPr>
        </p:nvSpPr>
        <p:spPr>
          <a:xfrm>
            <a:off x="1861854" y="2125737"/>
            <a:ext cx="4834021" cy="4044463"/>
          </a:xfrm>
        </p:spPr>
        <p:txBody>
          <a:bodyPr>
            <a:normAutofit fontScale="55000" lnSpcReduction="20000"/>
          </a:bodyPr>
          <a:lstStyle/>
          <a:p>
            <a:r>
              <a:rPr lang="en-CA" dirty="0"/>
              <a:t>“These plots illustrate the trade‑off between precision and recall and the confusion matrices for each model.</a:t>
            </a:r>
          </a:p>
          <a:p>
            <a:r>
              <a:rPr lang="en-CA" b="1" dirty="0"/>
              <a:t>Logistic Regression</a:t>
            </a:r>
            <a:r>
              <a:rPr lang="en-CA" dirty="0"/>
              <a:t> focuses on recall, catching more &gt;50K cases but with more false positives.</a:t>
            </a:r>
          </a:p>
          <a:p>
            <a:r>
              <a:rPr lang="en-CA" b="1" dirty="0"/>
              <a:t>Decision Tree</a:t>
            </a:r>
            <a:r>
              <a:rPr lang="en-CA" dirty="0"/>
              <a:t> focuses on precision, being stricter in predicting &gt;50K.</a:t>
            </a:r>
          </a:p>
          <a:p>
            <a:r>
              <a:rPr lang="en-CA" b="1" dirty="0"/>
              <a:t>Random Forest</a:t>
            </a:r>
            <a:r>
              <a:rPr lang="en-CA" dirty="0"/>
              <a:t> achieves a good middle ground, reducing both false positives and false negatives.</a:t>
            </a:r>
            <a:br>
              <a:rPr lang="en-CA" dirty="0"/>
            </a:br>
            <a:r>
              <a:rPr lang="en-CA" dirty="0"/>
              <a:t>Looking at the confusion matrices side-by-side makes it clear how each model behaves differently on misclassifications.”</a:t>
            </a:r>
            <a:br>
              <a:rPr lang="en-CA" sz="2400" dirty="0"/>
            </a:br>
            <a:endParaRPr lang="en-US" sz="2600" dirty="0"/>
          </a:p>
        </p:txBody>
      </p:sp>
      <p:pic>
        <p:nvPicPr>
          <p:cNvPr id="7" name="Graphic 6" descr="Checkmark">
            <a:extLst>
              <a:ext uri="{FF2B5EF4-FFF2-40B4-BE49-F238E27FC236}">
                <a16:creationId xmlns:a16="http://schemas.microsoft.com/office/drawing/2014/main" id="{42041CE9-427F-BBA1-F754-8B8C575D0E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473" y="1200223"/>
            <a:ext cx="4072815" cy="4072815"/>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6599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8D16B8-2791-5A7A-5EB4-737D70E93A9F}"/>
              </a:ext>
            </a:extLst>
          </p:cNvPr>
          <p:cNvSpPr>
            <a:spLocks noGrp="1"/>
          </p:cNvSpPr>
          <p:nvPr>
            <p:ph type="title"/>
          </p:nvPr>
        </p:nvSpPr>
        <p:spPr>
          <a:xfrm>
            <a:off x="1102368" y="1877492"/>
            <a:ext cx="4030132" cy="3215373"/>
          </a:xfrm>
        </p:spPr>
        <p:txBody>
          <a:bodyPr>
            <a:normAutofit/>
          </a:bodyPr>
          <a:lstStyle/>
          <a:p>
            <a:pPr algn="ctr"/>
            <a:r>
              <a:rPr lang="en-CA" dirty="0"/>
              <a:t> </a:t>
            </a:r>
            <a:r>
              <a:rPr lang="en-CA" b="1" dirty="0"/>
              <a:t>Runtime &amp; Memory</a:t>
            </a:r>
            <a:endParaRPr lang="en-US" b="1" dirty="0"/>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5B4BEB0B-C61B-4044-2F3C-FE2679DFD759}"/>
              </a:ext>
            </a:extLst>
          </p:cNvPr>
          <p:cNvSpPr>
            <a:spLocks noGrp="1"/>
          </p:cNvSpPr>
          <p:nvPr>
            <p:ph idx="1"/>
          </p:nvPr>
        </p:nvSpPr>
        <p:spPr>
          <a:xfrm>
            <a:off x="6243529" y="1805382"/>
            <a:ext cx="5217173" cy="4351338"/>
          </a:xfrm>
        </p:spPr>
        <p:txBody>
          <a:bodyPr>
            <a:normAutofit fontScale="62500" lnSpcReduction="20000"/>
          </a:bodyPr>
          <a:lstStyle/>
          <a:p>
            <a:pPr marL="0" indent="0">
              <a:buNone/>
            </a:pPr>
            <a:r>
              <a:rPr lang="en-CA" dirty="0"/>
              <a:t>“In terms of runtime and memory, all models used roughly </a:t>
            </a:r>
            <a:r>
              <a:rPr lang="en-CA" b="1" dirty="0"/>
              <a:t>39 MB</a:t>
            </a:r>
            <a:r>
              <a:rPr lang="en-CA" dirty="0"/>
              <a:t> of peak memory, since the main cost is the shared preprocessing pipeline.</a:t>
            </a:r>
            <a:br>
              <a:rPr lang="en-CA" dirty="0"/>
            </a:br>
            <a:r>
              <a:rPr lang="en-CA" dirty="0"/>
              <a:t>For training time, Random Forest is the slowest at about </a:t>
            </a:r>
            <a:r>
              <a:rPr lang="en-CA" b="1" dirty="0"/>
              <a:t>1.5 seconds</a:t>
            </a:r>
            <a:r>
              <a:rPr lang="en-CA" dirty="0"/>
              <a:t>, which is expected because it builds 100 trees. Logistic Regression and Decision Tree are much faster to train.</a:t>
            </a:r>
            <a:br>
              <a:rPr lang="en-CA" dirty="0"/>
            </a:br>
            <a:r>
              <a:rPr lang="en-CA" dirty="0"/>
              <a:t>For prediction time, </a:t>
            </a:r>
            <a:r>
              <a:rPr lang="en-CA" b="1" dirty="0"/>
              <a:t>Decision Tree is by far the fastest</a:t>
            </a:r>
            <a:r>
              <a:rPr lang="en-CA" dirty="0"/>
              <a:t> at around </a:t>
            </a:r>
            <a:r>
              <a:rPr lang="en-CA" b="1" dirty="0"/>
              <a:t>0.006 seconds</a:t>
            </a:r>
            <a:r>
              <a:rPr lang="en-CA" dirty="0"/>
              <a:t>, followed by Logistic Regression and Random Forest. KNN is the slowest at prediction because it has to compute distances at inference time.”</a:t>
            </a:r>
            <a:br>
              <a:rPr lang="en-CA" dirty="0"/>
            </a:br>
            <a:endParaRPr lang="en-US" dirty="0"/>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61270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C6FBFA-6AC5-416B-4F34-0ACB4E782107}"/>
              </a:ext>
            </a:extLst>
          </p:cNvPr>
          <p:cNvSpPr>
            <a:spLocks noGrp="1"/>
          </p:cNvSpPr>
          <p:nvPr>
            <p:ph type="title"/>
          </p:nvPr>
        </p:nvSpPr>
        <p:spPr>
          <a:xfrm>
            <a:off x="1102368" y="694268"/>
            <a:ext cx="3553510" cy="5477932"/>
          </a:xfrm>
        </p:spPr>
        <p:txBody>
          <a:bodyPr>
            <a:normAutofit/>
          </a:bodyPr>
          <a:lstStyle/>
          <a:p>
            <a:pPr algn="ctr"/>
            <a:r>
              <a:rPr lang="en-CA" b="1" dirty="0"/>
              <a:t>Why Random Forest Has the Best Accuracy</a:t>
            </a:r>
            <a:endParaRPr lang="en-US" b="1" dirty="0"/>
          </a:p>
        </p:txBody>
      </p:sp>
      <p:grpSp>
        <p:nvGrpSpPr>
          <p:cNvPr id="10"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tx1"/>
          </a:solidFill>
        </p:grpSpPr>
        <p:sp>
          <p:nvSpPr>
            <p:cNvPr id="11" name="Freeform: Shape 10">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4" name="Graphic 38">
            <a:extLst>
              <a:ext uri="{FF2B5EF4-FFF2-40B4-BE49-F238E27FC236}">
                <a16:creationId xmlns:a16="http://schemas.microsoft.com/office/drawing/2014/main" id="{4E397AA7-9FED-4566-9071-A53B276542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tx1">
              <a:alpha val="60000"/>
            </a:schemeClr>
          </a:solidFill>
        </p:grpSpPr>
        <p:sp>
          <p:nvSpPr>
            <p:cNvPr id="15" name="Freeform: Shape 14">
              <a:extLst>
                <a:ext uri="{FF2B5EF4-FFF2-40B4-BE49-F238E27FC236}">
                  <a16:creationId xmlns:a16="http://schemas.microsoft.com/office/drawing/2014/main" id="{B910B472-2416-4C1E-B5BE-4DE472BC9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40671BEA-702C-4316-BD48-AFE9D84622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8"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55887" y="2203010"/>
            <a:ext cx="975169" cy="975171"/>
            <a:chOff x="5829300" y="3162300"/>
            <a:chExt cx="532256" cy="532257"/>
          </a:xfrm>
          <a:solidFill>
            <a:schemeClr val="tx1"/>
          </a:solidFill>
        </p:grpSpPr>
        <p:sp>
          <p:nvSpPr>
            <p:cNvPr id="19" name="Freeform: Shape 18">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33" name="Oval 32">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Oval 34">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40374296-1892-C3EF-E2BA-2E295A33F5BC}"/>
              </a:ext>
            </a:extLst>
          </p:cNvPr>
          <p:cNvSpPr>
            <a:spLocks noGrp="1"/>
          </p:cNvSpPr>
          <p:nvPr>
            <p:ph idx="1"/>
          </p:nvPr>
        </p:nvSpPr>
        <p:spPr>
          <a:xfrm>
            <a:off x="6225894" y="694267"/>
            <a:ext cx="5217173" cy="5695899"/>
          </a:xfrm>
        </p:spPr>
        <p:txBody>
          <a:bodyPr>
            <a:normAutofit fontScale="47500" lnSpcReduction="20000"/>
          </a:bodyPr>
          <a:lstStyle/>
          <a:p>
            <a:pPr marL="0" indent="0">
              <a:buNone/>
            </a:pPr>
            <a:r>
              <a:rPr lang="en-CA" b="1" dirty="0"/>
              <a:t>1. Ensemble Learning (Wisdom of the Crowd)</a:t>
            </a:r>
            <a:endParaRPr lang="en-CA" dirty="0"/>
          </a:p>
          <a:p>
            <a:r>
              <a:rPr lang="en-CA" dirty="0"/>
              <a:t>Instead of relying on one decision tree, Random Forest builds </a:t>
            </a:r>
            <a:r>
              <a:rPr lang="en-CA" b="1" dirty="0"/>
              <a:t>100+ trees</a:t>
            </a:r>
            <a:r>
              <a:rPr lang="en-CA" dirty="0"/>
              <a:t> and takes a majority vote — individual errors cancel out, overall accuracy improves.</a:t>
            </a:r>
          </a:p>
          <a:p>
            <a:pPr marL="0" indent="0">
              <a:buNone/>
            </a:pPr>
            <a:r>
              <a:rPr lang="en-CA" b="1" dirty="0"/>
              <a:t>2. Handles Mixed Data Well</a:t>
            </a:r>
            <a:endParaRPr lang="en-CA" dirty="0"/>
          </a:p>
          <a:p>
            <a:r>
              <a:rPr lang="en-CA" dirty="0"/>
              <a:t>The dataset has both numerical (age, hours-per-week) and categorical (occupation, education) features. Random Forest handles this natively without being sensitive to scale.</a:t>
            </a:r>
          </a:p>
          <a:p>
            <a:pPr marL="0" indent="0">
              <a:buNone/>
            </a:pPr>
            <a:r>
              <a:rPr lang="en-CA" b="1" dirty="0"/>
              <a:t>3. Reduces Overfitting (Bagging)</a:t>
            </a:r>
            <a:endParaRPr lang="en-CA" dirty="0"/>
          </a:p>
          <a:p>
            <a:r>
              <a:rPr lang="en-CA" dirty="0"/>
              <a:t>Each tree is trained on a </a:t>
            </a:r>
            <a:r>
              <a:rPr lang="en-CA" b="1" dirty="0"/>
              <a:t>random subset</a:t>
            </a:r>
            <a:r>
              <a:rPr lang="en-CA" dirty="0"/>
              <a:t> of data and features — this prevents any single tree from memorizing noise, unlike a plain Decision Tree (which hit only 85.13%).</a:t>
            </a:r>
          </a:p>
          <a:p>
            <a:pPr marL="0" indent="0">
              <a:buNone/>
            </a:pPr>
            <a:r>
              <a:rPr lang="en-CA" b="1" dirty="0"/>
              <a:t>4. Captures Non-Linear Relationships</a:t>
            </a:r>
            <a:endParaRPr lang="en-CA" dirty="0"/>
          </a:p>
          <a:p>
            <a:r>
              <a:rPr lang="en-CA" dirty="0"/>
              <a:t>Income isn't linearly related to features — e.g., </a:t>
            </a:r>
            <a:r>
              <a:rPr lang="en-CA" i="1" dirty="0"/>
              <a:t>capital-gain</a:t>
            </a:r>
            <a:r>
              <a:rPr lang="en-CA" dirty="0"/>
              <a:t> spikes matter more than a steady increase. Random Forest captures these complex splits that Logistic Regression misses (80.96%).</a:t>
            </a:r>
          </a:p>
          <a:p>
            <a:pPr marL="0" indent="0">
              <a:buNone/>
            </a:pPr>
            <a:r>
              <a:rPr lang="en-CA" b="1" dirty="0"/>
              <a:t>5. Class Imbalance Resilience</a:t>
            </a:r>
            <a:endParaRPr lang="en-CA" dirty="0"/>
          </a:p>
          <a:p>
            <a:r>
              <a:rPr lang="en-CA" dirty="0"/>
              <a:t>Our dataset is </a:t>
            </a:r>
            <a:r>
              <a:rPr lang="en-CA" b="1" dirty="0"/>
              <a:t>75% &lt;=50K, 25% &gt;50K</a:t>
            </a:r>
            <a:r>
              <a:rPr lang="en-CA" dirty="0"/>
              <a:t> (imbalanced). Random Forest's voting mechanism naturally handles this better than KNN, which gets biased toward the majority class.</a:t>
            </a:r>
          </a:p>
          <a:p>
            <a:pPr marL="0" indent="0">
              <a:buNone/>
            </a:pPr>
            <a:br>
              <a:rPr lang="en-CA" dirty="0"/>
            </a:br>
            <a:endParaRPr lang="en-US" dirty="0"/>
          </a:p>
        </p:txBody>
      </p:sp>
    </p:spTree>
    <p:extLst>
      <p:ext uri="{BB962C8B-B14F-4D97-AF65-F5344CB8AC3E}">
        <p14:creationId xmlns:p14="http://schemas.microsoft.com/office/powerpoint/2010/main" val="1394198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D440E-F603-1BD8-F3F7-3636C10EC330}"/>
              </a:ext>
            </a:extLst>
          </p:cNvPr>
          <p:cNvSpPr>
            <a:spLocks noGrp="1"/>
          </p:cNvSpPr>
          <p:nvPr>
            <p:ph type="title"/>
          </p:nvPr>
        </p:nvSpPr>
        <p:spPr>
          <a:xfrm>
            <a:off x="1102368" y="1877492"/>
            <a:ext cx="4030132" cy="3215373"/>
          </a:xfrm>
        </p:spPr>
        <p:txBody>
          <a:bodyPr>
            <a:normAutofit/>
          </a:bodyPr>
          <a:lstStyle/>
          <a:p>
            <a:pPr algn="ctr"/>
            <a:r>
              <a:rPr lang="en-CA" b="1" dirty="0"/>
              <a:t>Conclusion &amp; &amp; Future Work</a:t>
            </a:r>
            <a:br>
              <a:rPr lang="en-CA" dirty="0"/>
            </a:br>
            <a:endParaRPr lang="en-US" dirty="0"/>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804FA997-A72B-34C2-D834-1964691C8A25}"/>
              </a:ext>
            </a:extLst>
          </p:cNvPr>
          <p:cNvSpPr>
            <a:spLocks noGrp="1"/>
          </p:cNvSpPr>
          <p:nvPr>
            <p:ph idx="1"/>
          </p:nvPr>
        </p:nvSpPr>
        <p:spPr>
          <a:xfrm>
            <a:off x="6234868" y="1130846"/>
            <a:ext cx="5217173" cy="4351338"/>
          </a:xfrm>
        </p:spPr>
        <p:txBody>
          <a:bodyPr>
            <a:normAutofit fontScale="55000" lnSpcReduction="20000"/>
          </a:bodyPr>
          <a:lstStyle/>
          <a:p>
            <a:pPr marL="0" indent="0">
              <a:buNone/>
            </a:pPr>
            <a:r>
              <a:rPr lang="en-CA" dirty="0"/>
              <a:t>“To conclude, we successfully built an end‑to‑end ML pipeline on the Adult Income dataset, from EDA and preprocessing to four different models and a final comparative evaluation.</a:t>
            </a:r>
            <a:br>
              <a:rPr lang="en-CA" dirty="0"/>
            </a:br>
            <a:r>
              <a:rPr lang="en-CA" dirty="0"/>
              <a:t>Our experiments show that </a:t>
            </a:r>
            <a:r>
              <a:rPr lang="en-CA" b="1" dirty="0"/>
              <a:t>Random Forest</a:t>
            </a:r>
            <a:r>
              <a:rPr lang="en-CA" dirty="0"/>
              <a:t> offers the best balance between predictive performance and robustness, while </a:t>
            </a:r>
            <a:r>
              <a:rPr lang="en-CA" b="1" dirty="0"/>
              <a:t>Logistic Regression</a:t>
            </a:r>
            <a:r>
              <a:rPr lang="en-CA" dirty="0"/>
              <a:t> is a strong alternative when high recall is needed, and </a:t>
            </a:r>
            <a:r>
              <a:rPr lang="en-CA" b="1" dirty="0"/>
              <a:t>Decision Tree</a:t>
            </a:r>
            <a:r>
              <a:rPr lang="en-CA" dirty="0"/>
              <a:t> is ideal when extremely fast predictions and interpretability are required.</a:t>
            </a:r>
            <a:br>
              <a:rPr lang="en-CA" dirty="0"/>
            </a:br>
            <a:r>
              <a:rPr lang="en-CA" dirty="0"/>
              <a:t>For future work, we could explore techniques like </a:t>
            </a:r>
            <a:r>
              <a:rPr lang="en-CA" b="1" dirty="0"/>
              <a:t>SMOTE or class‑weighted ensembles</a:t>
            </a:r>
            <a:r>
              <a:rPr lang="en-CA" dirty="0"/>
              <a:t> to handle the class imbalance even better, try </a:t>
            </a:r>
            <a:r>
              <a:rPr lang="en-CA" b="1" dirty="0"/>
              <a:t>Gradient Boosting models</a:t>
            </a:r>
            <a:r>
              <a:rPr lang="en-CA" dirty="0"/>
              <a:t> such as </a:t>
            </a:r>
            <a:r>
              <a:rPr lang="en-CA" dirty="0" err="1"/>
              <a:t>XGBoost</a:t>
            </a:r>
            <a:r>
              <a:rPr lang="en-CA" dirty="0"/>
              <a:t>, and perform more advanced feature engineering.</a:t>
            </a:r>
            <a:br>
              <a:rPr lang="en-CA" dirty="0"/>
            </a:br>
            <a:r>
              <a:rPr lang="en-CA" dirty="0"/>
              <a:t>Thank you for listening — we’re happy to answer any questions.”</a:t>
            </a:r>
            <a:endParaRPr lang="en-US" dirty="0"/>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1034" y="5750136"/>
            <a:ext cx="1054466" cy="469689"/>
            <a:chOff x="9841624" y="4115729"/>
            <a:chExt cx="602169" cy="268223"/>
          </a:xfrm>
          <a:solidFill>
            <a:schemeClr val="tx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06173700"/>
      </p:ext>
    </p:extLst>
  </p:cSld>
  <p:clrMapOvr>
    <a:masterClrMapping/>
  </p:clrMapOvr>
</p:sld>
</file>

<file path=ppt/theme/theme1.xml><?xml version="1.0" encoding="utf-8"?>
<a:theme xmlns:a="http://schemas.openxmlformats.org/drawingml/2006/main" name="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docProps/app.xml><?xml version="1.0" encoding="utf-8"?>
<Properties xmlns="http://schemas.openxmlformats.org/officeDocument/2006/extended-properties" xmlns:vt="http://schemas.openxmlformats.org/officeDocument/2006/docPropsVTypes">
  <TotalTime>691</TotalTime>
  <Words>1586</Words>
  <Application>Microsoft Macintosh PowerPoint</Application>
  <PresentationFormat>Widescreen</PresentationFormat>
  <Paragraphs>69</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Avenir Next LT Pro</vt:lpstr>
      <vt:lpstr>Source Sans Pro SemiBold</vt:lpstr>
      <vt:lpstr>FunkyShapesVTI</vt:lpstr>
      <vt:lpstr>Prog2590 Group-5 </vt:lpstr>
      <vt:lpstr>Introduction</vt:lpstr>
      <vt:lpstr>Problem Overview </vt:lpstr>
      <vt:lpstr>Dataset Description </vt:lpstr>
      <vt:lpstr>PowerPoint Presentation</vt:lpstr>
      <vt:lpstr>PowerPoint Presentation</vt:lpstr>
      <vt:lpstr>Data Preprocessing</vt:lpstr>
      <vt:lpstr>PowerPoint Presentation</vt:lpstr>
      <vt:lpstr>PowerPoint Presentation</vt:lpstr>
      <vt:lpstr>Our Approach</vt:lpstr>
      <vt:lpstr>Logistic Regression </vt:lpstr>
      <vt:lpstr>PowerPoint Presentation</vt:lpstr>
      <vt:lpstr>PowerPoint Presentation</vt:lpstr>
      <vt:lpstr>Random Forest</vt:lpstr>
      <vt:lpstr>PowerPoint Presentation</vt:lpstr>
      <vt:lpstr>PowerPoint Presentation</vt:lpstr>
      <vt:lpstr>KNN</vt:lpstr>
      <vt:lpstr>PowerPoint Presentation</vt:lpstr>
      <vt:lpstr>PowerPoint Presentation</vt:lpstr>
      <vt:lpstr>Decision Tree </vt:lpstr>
      <vt:lpstr>PowerPoint Presentation</vt:lpstr>
      <vt:lpstr>PowerPoint Presentation</vt:lpstr>
      <vt:lpstr>Performance  Result</vt:lpstr>
      <vt:lpstr>PowerPoint Presentation</vt:lpstr>
      <vt:lpstr>ROC Curve</vt:lpstr>
      <vt:lpstr>PowerPoint Presentation</vt:lpstr>
      <vt:lpstr>PowerPoint Presentation</vt:lpstr>
      <vt:lpstr>Precision vs Recall</vt:lpstr>
      <vt:lpstr> Runtime &amp; Memory</vt:lpstr>
      <vt:lpstr>Why Random Forest Has the Best Accuracy</vt:lpstr>
      <vt:lpstr>Conclusion &amp; &amp; Future Work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Harkamal Singh Toor</dc:creator>
  <cp:lastModifiedBy>Harkamal Singh Toor</cp:lastModifiedBy>
  <cp:revision>9</cp:revision>
  <dcterms:created xsi:type="dcterms:W3CDTF">2026-04-18T15:56:11Z</dcterms:created>
  <dcterms:modified xsi:type="dcterms:W3CDTF">2026-04-19T04:41:06Z</dcterms:modified>
</cp:coreProperties>
</file>