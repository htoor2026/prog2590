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1" r:id="rId1"/>
  </p:sldMasterIdLst>
  <p:sldIdLst>
    <p:sldId id="256" r:id="rId2"/>
    <p:sldId id="257" r:id="rId3"/>
    <p:sldId id="258" r:id="rId4"/>
    <p:sldId id="280" r:id="rId5"/>
    <p:sldId id="259" r:id="rId6"/>
    <p:sldId id="282" r:id="rId7"/>
    <p:sldId id="283" r:id="rId8"/>
    <p:sldId id="284" r:id="rId9"/>
    <p:sldId id="267" r:id="rId10"/>
    <p:sldId id="260" r:id="rId11"/>
    <p:sldId id="265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62" r:id="rId25"/>
    <p:sldId id="263" r:id="rId26"/>
    <p:sldId id="26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25"/>
    <p:restoredTop sz="94667"/>
  </p:normalViewPr>
  <p:slideViewPr>
    <p:cSldViewPr snapToGrid="0">
      <p:cViewPr>
        <p:scale>
          <a:sx n="91" d="100"/>
          <a:sy n="91" d="100"/>
        </p:scale>
        <p:origin x="64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FFE45CA-0448-4172-AB10-B68D8461DDCF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A49A07F5-5932-482D-AB0B-3952DDC82A7F}">
      <dgm:prSet/>
      <dgm:spPr/>
      <dgm:t>
        <a:bodyPr/>
        <a:lstStyle/>
        <a:p>
          <a:r>
            <a:rPr lang="en-US"/>
            <a:t>Dataset Overview</a:t>
          </a:r>
        </a:p>
      </dgm:t>
    </dgm:pt>
    <dgm:pt modelId="{B63E56A5-F6A4-454E-AC78-680C7B3CB48D}" type="parTrans" cxnId="{B8F632D8-9ED8-4AE3-A6D7-48419712431A}">
      <dgm:prSet/>
      <dgm:spPr/>
      <dgm:t>
        <a:bodyPr/>
        <a:lstStyle/>
        <a:p>
          <a:endParaRPr lang="en-US"/>
        </a:p>
      </dgm:t>
    </dgm:pt>
    <dgm:pt modelId="{405D8CAC-A9A7-4871-A183-098F250F7DD9}" type="sibTrans" cxnId="{B8F632D8-9ED8-4AE3-A6D7-48419712431A}">
      <dgm:prSet/>
      <dgm:spPr/>
      <dgm:t>
        <a:bodyPr/>
        <a:lstStyle/>
        <a:p>
          <a:endParaRPr lang="en-US"/>
        </a:p>
      </dgm:t>
    </dgm:pt>
    <dgm:pt modelId="{3D63F897-4899-41A7-A15A-1DC240312F4D}">
      <dgm:prSet/>
      <dgm:spPr/>
      <dgm:t>
        <a:bodyPr/>
        <a:lstStyle/>
        <a:p>
          <a:r>
            <a:rPr lang="en-US"/>
            <a:t>• 48,842 records | 15 features</a:t>
          </a:r>
        </a:p>
      </dgm:t>
    </dgm:pt>
    <dgm:pt modelId="{D0178E7A-6554-43D7-BAFA-C481804C3137}" type="parTrans" cxnId="{D7BB3E6F-DBD1-4E22-B92E-F551356CC65B}">
      <dgm:prSet/>
      <dgm:spPr/>
      <dgm:t>
        <a:bodyPr/>
        <a:lstStyle/>
        <a:p>
          <a:endParaRPr lang="en-US"/>
        </a:p>
      </dgm:t>
    </dgm:pt>
    <dgm:pt modelId="{86B5E32F-6E97-4030-9961-4E3FA7E8BBAC}" type="sibTrans" cxnId="{D7BB3E6F-DBD1-4E22-B92E-F551356CC65B}">
      <dgm:prSet/>
      <dgm:spPr/>
      <dgm:t>
        <a:bodyPr/>
        <a:lstStyle/>
        <a:p>
          <a:endParaRPr lang="en-US"/>
        </a:p>
      </dgm:t>
    </dgm:pt>
    <dgm:pt modelId="{3B6195F3-6B09-4956-B67A-FE1DDA12632F}">
      <dgm:prSet/>
      <dgm:spPr/>
      <dgm:t>
        <a:bodyPr/>
        <a:lstStyle/>
        <a:p>
          <a:r>
            <a:rPr lang="en-US"/>
            <a:t>• Numerical: age, fnlwgt, education-num, capital-gain, capital-loss, hours-per-week</a:t>
          </a:r>
        </a:p>
      </dgm:t>
    </dgm:pt>
    <dgm:pt modelId="{77E01F1F-7024-4320-A9AF-45214AA89CD6}" type="parTrans" cxnId="{4D9FBEEE-D378-48DE-AAC1-4DBF61222A1F}">
      <dgm:prSet/>
      <dgm:spPr/>
      <dgm:t>
        <a:bodyPr/>
        <a:lstStyle/>
        <a:p>
          <a:endParaRPr lang="en-US"/>
        </a:p>
      </dgm:t>
    </dgm:pt>
    <dgm:pt modelId="{30D1B1A5-51FE-4E1B-B4B1-7BDED000B834}" type="sibTrans" cxnId="{4D9FBEEE-D378-48DE-AAC1-4DBF61222A1F}">
      <dgm:prSet/>
      <dgm:spPr/>
      <dgm:t>
        <a:bodyPr/>
        <a:lstStyle/>
        <a:p>
          <a:endParaRPr lang="en-US"/>
        </a:p>
      </dgm:t>
    </dgm:pt>
    <dgm:pt modelId="{7E94E12A-44E8-4748-BBA8-04025238207F}">
      <dgm:prSet/>
      <dgm:spPr/>
      <dgm:t>
        <a:bodyPr/>
        <a:lstStyle/>
        <a:p>
          <a:r>
            <a:rPr lang="en-US"/>
            <a:t>• Categorical: workclass, education, marital-status, occupation, relationship, race, sex, native-country</a:t>
          </a:r>
        </a:p>
      </dgm:t>
    </dgm:pt>
    <dgm:pt modelId="{E46781B5-C5C8-4550-8949-FFB038D0C5CE}" type="parTrans" cxnId="{9A6EDD0A-5307-4A8B-B52B-35B000A920FF}">
      <dgm:prSet/>
      <dgm:spPr/>
      <dgm:t>
        <a:bodyPr/>
        <a:lstStyle/>
        <a:p>
          <a:endParaRPr lang="en-US"/>
        </a:p>
      </dgm:t>
    </dgm:pt>
    <dgm:pt modelId="{67749A69-ABB1-42B6-9B32-17249EC88649}" type="sibTrans" cxnId="{9A6EDD0A-5307-4A8B-B52B-35B000A920FF}">
      <dgm:prSet/>
      <dgm:spPr/>
      <dgm:t>
        <a:bodyPr/>
        <a:lstStyle/>
        <a:p>
          <a:endParaRPr lang="en-US"/>
        </a:p>
      </dgm:t>
    </dgm:pt>
    <dgm:pt modelId="{4F7B2BAB-404B-457D-8773-88FA3B53C16F}">
      <dgm:prSet/>
      <dgm:spPr/>
      <dgm:t>
        <a:bodyPr/>
        <a:lstStyle/>
        <a:p>
          <a:r>
            <a:rPr lang="en-US"/>
            <a:t>• Target: income — &lt;=50K (75%) or &gt;50K (25%)</a:t>
          </a:r>
        </a:p>
      </dgm:t>
    </dgm:pt>
    <dgm:pt modelId="{692A0F5E-F081-4715-88F6-65590F7203EC}" type="parTrans" cxnId="{3E024C91-DFB6-4CE3-8831-2498CDE2932F}">
      <dgm:prSet/>
      <dgm:spPr/>
      <dgm:t>
        <a:bodyPr/>
        <a:lstStyle/>
        <a:p>
          <a:endParaRPr lang="en-US"/>
        </a:p>
      </dgm:t>
    </dgm:pt>
    <dgm:pt modelId="{8FA43AFB-710E-4ADE-ABDC-E486785F9EDC}" type="sibTrans" cxnId="{3E024C91-DFB6-4CE3-8831-2498CDE2932F}">
      <dgm:prSet/>
      <dgm:spPr/>
      <dgm:t>
        <a:bodyPr/>
        <a:lstStyle/>
        <a:p>
          <a:endParaRPr lang="en-US"/>
        </a:p>
      </dgm:t>
    </dgm:pt>
    <dgm:pt modelId="{939D8290-C749-495F-8BE3-89E7A1D29CBD}">
      <dgm:prSet/>
      <dgm:spPr/>
      <dgm:t>
        <a:bodyPr/>
        <a:lstStyle/>
        <a:p>
          <a:r>
            <a:rPr lang="en-US"/>
            <a:t>• Class imbalance: 3:1 ratio</a:t>
          </a:r>
        </a:p>
      </dgm:t>
    </dgm:pt>
    <dgm:pt modelId="{3C2EDEED-49B1-4302-BD74-C1B43DA25C35}" type="parTrans" cxnId="{A22E517F-9891-4E70-A256-ECC91DEE24DC}">
      <dgm:prSet/>
      <dgm:spPr/>
      <dgm:t>
        <a:bodyPr/>
        <a:lstStyle/>
        <a:p>
          <a:endParaRPr lang="en-US"/>
        </a:p>
      </dgm:t>
    </dgm:pt>
    <dgm:pt modelId="{4D84C60C-F3CC-4328-AA27-6509A1FABD95}" type="sibTrans" cxnId="{A22E517F-9891-4E70-A256-ECC91DEE24DC}">
      <dgm:prSet/>
      <dgm:spPr/>
      <dgm:t>
        <a:bodyPr/>
        <a:lstStyle/>
        <a:p>
          <a:endParaRPr lang="en-US"/>
        </a:p>
      </dgm:t>
    </dgm:pt>
    <dgm:pt modelId="{563993F3-1844-9F4A-B1D4-5E5A1F9889BF}" type="pres">
      <dgm:prSet presAssocID="{3FFE45CA-0448-4172-AB10-B68D8461DDCF}" presName="linear" presStyleCnt="0">
        <dgm:presLayoutVars>
          <dgm:animLvl val="lvl"/>
          <dgm:resizeHandles val="exact"/>
        </dgm:presLayoutVars>
      </dgm:prSet>
      <dgm:spPr/>
    </dgm:pt>
    <dgm:pt modelId="{2B108AD0-1D41-6C49-93D4-49861E560FEA}" type="pres">
      <dgm:prSet presAssocID="{A49A07F5-5932-482D-AB0B-3952DDC82A7F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74516D2C-6253-414A-AB45-6C19CFB345FB}" type="pres">
      <dgm:prSet presAssocID="{405D8CAC-A9A7-4871-A183-098F250F7DD9}" presName="spacer" presStyleCnt="0"/>
      <dgm:spPr/>
    </dgm:pt>
    <dgm:pt modelId="{7EE3D027-C5F8-EE4B-8046-E92FBC99F143}" type="pres">
      <dgm:prSet presAssocID="{3D63F897-4899-41A7-A15A-1DC240312F4D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2598E5EC-6F40-DF49-9219-C5746338B685}" type="pres">
      <dgm:prSet presAssocID="{86B5E32F-6E97-4030-9961-4E3FA7E8BBAC}" presName="spacer" presStyleCnt="0"/>
      <dgm:spPr/>
    </dgm:pt>
    <dgm:pt modelId="{10751C63-EABE-5A4E-8B1C-07DAC25CF044}" type="pres">
      <dgm:prSet presAssocID="{3B6195F3-6B09-4956-B67A-FE1DDA12632F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4F607ED9-94B0-5244-B213-5260C5624879}" type="pres">
      <dgm:prSet presAssocID="{30D1B1A5-51FE-4E1B-B4B1-7BDED000B834}" presName="spacer" presStyleCnt="0"/>
      <dgm:spPr/>
    </dgm:pt>
    <dgm:pt modelId="{9F81117F-2E61-D94B-BC57-1640BFE7EAD4}" type="pres">
      <dgm:prSet presAssocID="{7E94E12A-44E8-4748-BBA8-04025238207F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9F3B11B0-F889-2840-874A-759C9185D07F}" type="pres">
      <dgm:prSet presAssocID="{67749A69-ABB1-42B6-9B32-17249EC88649}" presName="spacer" presStyleCnt="0"/>
      <dgm:spPr/>
    </dgm:pt>
    <dgm:pt modelId="{FDE4000D-038B-4942-B6E9-3C2AA786ECC4}" type="pres">
      <dgm:prSet presAssocID="{4F7B2BAB-404B-457D-8773-88FA3B53C16F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FC8AA9FF-3A8E-154F-AC4B-98487FD62DB8}" type="pres">
      <dgm:prSet presAssocID="{8FA43AFB-710E-4ADE-ABDC-E486785F9EDC}" presName="spacer" presStyleCnt="0"/>
      <dgm:spPr/>
    </dgm:pt>
    <dgm:pt modelId="{2015F4B8-06A2-5040-B08C-3FE796B9B981}" type="pres">
      <dgm:prSet presAssocID="{939D8290-C749-495F-8BE3-89E7A1D29CBD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9A6EDD0A-5307-4A8B-B52B-35B000A920FF}" srcId="{3FFE45CA-0448-4172-AB10-B68D8461DDCF}" destId="{7E94E12A-44E8-4748-BBA8-04025238207F}" srcOrd="3" destOrd="0" parTransId="{E46781B5-C5C8-4550-8949-FFB038D0C5CE}" sibTransId="{67749A69-ABB1-42B6-9B32-17249EC88649}"/>
    <dgm:cxn modelId="{FD35F82C-4BD1-F54B-8375-FA43E34300C9}" type="presOf" srcId="{3FFE45CA-0448-4172-AB10-B68D8461DDCF}" destId="{563993F3-1844-9F4A-B1D4-5E5A1F9889BF}" srcOrd="0" destOrd="0" presId="urn:microsoft.com/office/officeart/2005/8/layout/vList2"/>
    <dgm:cxn modelId="{4DB92941-36D3-A041-AFC8-05D7F3F8861B}" type="presOf" srcId="{7E94E12A-44E8-4748-BBA8-04025238207F}" destId="{9F81117F-2E61-D94B-BC57-1640BFE7EAD4}" srcOrd="0" destOrd="0" presId="urn:microsoft.com/office/officeart/2005/8/layout/vList2"/>
    <dgm:cxn modelId="{A6F9075D-06DA-EF4D-A16C-04A112B04D93}" type="presOf" srcId="{4F7B2BAB-404B-457D-8773-88FA3B53C16F}" destId="{FDE4000D-038B-4942-B6E9-3C2AA786ECC4}" srcOrd="0" destOrd="0" presId="urn:microsoft.com/office/officeart/2005/8/layout/vList2"/>
    <dgm:cxn modelId="{D7BB3E6F-DBD1-4E22-B92E-F551356CC65B}" srcId="{3FFE45CA-0448-4172-AB10-B68D8461DDCF}" destId="{3D63F897-4899-41A7-A15A-1DC240312F4D}" srcOrd="1" destOrd="0" parTransId="{D0178E7A-6554-43D7-BAFA-C481804C3137}" sibTransId="{86B5E32F-6E97-4030-9961-4E3FA7E8BBAC}"/>
    <dgm:cxn modelId="{A22E517F-9891-4E70-A256-ECC91DEE24DC}" srcId="{3FFE45CA-0448-4172-AB10-B68D8461DDCF}" destId="{939D8290-C749-495F-8BE3-89E7A1D29CBD}" srcOrd="5" destOrd="0" parTransId="{3C2EDEED-49B1-4302-BD74-C1B43DA25C35}" sibTransId="{4D84C60C-F3CC-4328-AA27-6509A1FABD95}"/>
    <dgm:cxn modelId="{3E024C91-DFB6-4CE3-8831-2498CDE2932F}" srcId="{3FFE45CA-0448-4172-AB10-B68D8461DDCF}" destId="{4F7B2BAB-404B-457D-8773-88FA3B53C16F}" srcOrd="4" destOrd="0" parTransId="{692A0F5E-F081-4715-88F6-65590F7203EC}" sibTransId="{8FA43AFB-710E-4ADE-ABDC-E486785F9EDC}"/>
    <dgm:cxn modelId="{743A8AD1-E9B8-3746-BD04-E35674C60648}" type="presOf" srcId="{3B6195F3-6B09-4956-B67A-FE1DDA12632F}" destId="{10751C63-EABE-5A4E-8B1C-07DAC25CF044}" srcOrd="0" destOrd="0" presId="urn:microsoft.com/office/officeart/2005/8/layout/vList2"/>
    <dgm:cxn modelId="{79920ED7-DE4C-4B4F-8312-4C91E7691D53}" type="presOf" srcId="{3D63F897-4899-41A7-A15A-1DC240312F4D}" destId="{7EE3D027-C5F8-EE4B-8046-E92FBC99F143}" srcOrd="0" destOrd="0" presId="urn:microsoft.com/office/officeart/2005/8/layout/vList2"/>
    <dgm:cxn modelId="{B8F632D8-9ED8-4AE3-A6D7-48419712431A}" srcId="{3FFE45CA-0448-4172-AB10-B68D8461DDCF}" destId="{A49A07F5-5932-482D-AB0B-3952DDC82A7F}" srcOrd="0" destOrd="0" parTransId="{B63E56A5-F6A4-454E-AC78-680C7B3CB48D}" sibTransId="{405D8CAC-A9A7-4871-A183-098F250F7DD9}"/>
    <dgm:cxn modelId="{DFA607E2-7AEC-A441-BE7F-A357B09E2D12}" type="presOf" srcId="{939D8290-C749-495F-8BE3-89E7A1D29CBD}" destId="{2015F4B8-06A2-5040-B08C-3FE796B9B981}" srcOrd="0" destOrd="0" presId="urn:microsoft.com/office/officeart/2005/8/layout/vList2"/>
    <dgm:cxn modelId="{2D21BEE6-030B-824B-9400-CF21A300B9CA}" type="presOf" srcId="{A49A07F5-5932-482D-AB0B-3952DDC82A7F}" destId="{2B108AD0-1D41-6C49-93D4-49861E560FEA}" srcOrd="0" destOrd="0" presId="urn:microsoft.com/office/officeart/2005/8/layout/vList2"/>
    <dgm:cxn modelId="{4D9FBEEE-D378-48DE-AAC1-4DBF61222A1F}" srcId="{3FFE45CA-0448-4172-AB10-B68D8461DDCF}" destId="{3B6195F3-6B09-4956-B67A-FE1DDA12632F}" srcOrd="2" destOrd="0" parTransId="{77E01F1F-7024-4320-A9AF-45214AA89CD6}" sibTransId="{30D1B1A5-51FE-4E1B-B4B1-7BDED000B834}"/>
    <dgm:cxn modelId="{EFE0BF8F-7C40-8048-A35E-2CA1701C0F0A}" type="presParOf" srcId="{563993F3-1844-9F4A-B1D4-5E5A1F9889BF}" destId="{2B108AD0-1D41-6C49-93D4-49861E560FEA}" srcOrd="0" destOrd="0" presId="urn:microsoft.com/office/officeart/2005/8/layout/vList2"/>
    <dgm:cxn modelId="{622165AE-37FA-3F4E-8A47-1BD93DC2901F}" type="presParOf" srcId="{563993F3-1844-9F4A-B1D4-5E5A1F9889BF}" destId="{74516D2C-6253-414A-AB45-6C19CFB345FB}" srcOrd="1" destOrd="0" presId="urn:microsoft.com/office/officeart/2005/8/layout/vList2"/>
    <dgm:cxn modelId="{58FAC42C-5EFB-A54F-B15B-014DBD77DECD}" type="presParOf" srcId="{563993F3-1844-9F4A-B1D4-5E5A1F9889BF}" destId="{7EE3D027-C5F8-EE4B-8046-E92FBC99F143}" srcOrd="2" destOrd="0" presId="urn:microsoft.com/office/officeart/2005/8/layout/vList2"/>
    <dgm:cxn modelId="{47B654F0-997C-5044-9B60-5BDD015D3548}" type="presParOf" srcId="{563993F3-1844-9F4A-B1D4-5E5A1F9889BF}" destId="{2598E5EC-6F40-DF49-9219-C5746338B685}" srcOrd="3" destOrd="0" presId="urn:microsoft.com/office/officeart/2005/8/layout/vList2"/>
    <dgm:cxn modelId="{304CB85B-26B0-8245-BB27-2438A7EE5CB0}" type="presParOf" srcId="{563993F3-1844-9F4A-B1D4-5E5A1F9889BF}" destId="{10751C63-EABE-5A4E-8B1C-07DAC25CF044}" srcOrd="4" destOrd="0" presId="urn:microsoft.com/office/officeart/2005/8/layout/vList2"/>
    <dgm:cxn modelId="{D367D2E3-C2F1-2040-8153-B5F88CFBC508}" type="presParOf" srcId="{563993F3-1844-9F4A-B1D4-5E5A1F9889BF}" destId="{4F607ED9-94B0-5244-B213-5260C5624879}" srcOrd="5" destOrd="0" presId="urn:microsoft.com/office/officeart/2005/8/layout/vList2"/>
    <dgm:cxn modelId="{D9846723-F337-7B4F-AA57-1E53042912CA}" type="presParOf" srcId="{563993F3-1844-9F4A-B1D4-5E5A1F9889BF}" destId="{9F81117F-2E61-D94B-BC57-1640BFE7EAD4}" srcOrd="6" destOrd="0" presId="urn:microsoft.com/office/officeart/2005/8/layout/vList2"/>
    <dgm:cxn modelId="{E74DCAEE-4478-2544-8FE6-515C1D83BCCB}" type="presParOf" srcId="{563993F3-1844-9F4A-B1D4-5E5A1F9889BF}" destId="{9F3B11B0-F889-2840-874A-759C9185D07F}" srcOrd="7" destOrd="0" presId="urn:microsoft.com/office/officeart/2005/8/layout/vList2"/>
    <dgm:cxn modelId="{16E82412-5361-9849-BF59-646DBD352775}" type="presParOf" srcId="{563993F3-1844-9F4A-B1D4-5E5A1F9889BF}" destId="{FDE4000D-038B-4942-B6E9-3C2AA786ECC4}" srcOrd="8" destOrd="0" presId="urn:microsoft.com/office/officeart/2005/8/layout/vList2"/>
    <dgm:cxn modelId="{3FE63366-E091-A747-8BC4-2EF03F131BB2}" type="presParOf" srcId="{563993F3-1844-9F4A-B1D4-5E5A1F9889BF}" destId="{FC8AA9FF-3A8E-154F-AC4B-98487FD62DB8}" srcOrd="9" destOrd="0" presId="urn:microsoft.com/office/officeart/2005/8/layout/vList2"/>
    <dgm:cxn modelId="{C9BF39CC-2422-BE4F-827F-24A7FE8401DC}" type="presParOf" srcId="{563993F3-1844-9F4A-B1D4-5E5A1F9889BF}" destId="{2015F4B8-06A2-5040-B08C-3FE796B9B981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FFE45CA-0448-4172-AB10-B68D8461DDCF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3B6195F3-6B09-4956-B67A-FE1DDA12632F}">
      <dgm:prSet/>
      <dgm:spPr/>
      <dgm:t>
        <a:bodyPr/>
        <a:lstStyle/>
        <a:p>
          <a:r>
            <a:rPr lang="en-CA" b="0" i="0" dirty="0"/>
            <a:t>Logistic       80.96%          0.9062             0.6813</a:t>
          </a:r>
        </a:p>
        <a:p>
          <a:r>
            <a:rPr lang="en-CA" b="0" i="0" dirty="0"/>
            <a:t>Regression</a:t>
          </a:r>
          <a:endParaRPr lang="en-US" dirty="0"/>
        </a:p>
      </dgm:t>
    </dgm:pt>
    <dgm:pt modelId="{77E01F1F-7024-4320-A9AF-45214AA89CD6}" type="parTrans" cxnId="{4D9FBEEE-D378-48DE-AAC1-4DBF61222A1F}">
      <dgm:prSet/>
      <dgm:spPr/>
      <dgm:t>
        <a:bodyPr/>
        <a:lstStyle/>
        <a:p>
          <a:endParaRPr lang="en-US"/>
        </a:p>
      </dgm:t>
    </dgm:pt>
    <dgm:pt modelId="{30D1B1A5-51FE-4E1B-B4B1-7BDED000B834}" type="sibTrans" cxnId="{4D9FBEEE-D378-48DE-AAC1-4DBF61222A1F}">
      <dgm:prSet/>
      <dgm:spPr/>
      <dgm:t>
        <a:bodyPr/>
        <a:lstStyle/>
        <a:p>
          <a:endParaRPr lang="en-US"/>
        </a:p>
      </dgm:t>
    </dgm:pt>
    <dgm:pt modelId="{7E94E12A-44E8-4748-BBA8-04025238207F}">
      <dgm:prSet/>
      <dgm:spPr/>
      <dgm:t>
        <a:bodyPr/>
        <a:lstStyle/>
        <a:p>
          <a:r>
            <a:rPr lang="en-CA" b="0" i="0" dirty="0"/>
            <a:t>Decision    85.13%         0.8985              0.6436</a:t>
          </a:r>
        </a:p>
        <a:p>
          <a:r>
            <a:rPr lang="en-CA" b="0" i="0" dirty="0"/>
            <a:t>Tree</a:t>
          </a:r>
          <a:endParaRPr lang="en-US" dirty="0"/>
        </a:p>
      </dgm:t>
    </dgm:pt>
    <dgm:pt modelId="{E46781B5-C5C8-4550-8949-FFB038D0C5CE}" type="parTrans" cxnId="{9A6EDD0A-5307-4A8B-B52B-35B000A920FF}">
      <dgm:prSet/>
      <dgm:spPr/>
      <dgm:t>
        <a:bodyPr/>
        <a:lstStyle/>
        <a:p>
          <a:endParaRPr lang="en-US"/>
        </a:p>
      </dgm:t>
    </dgm:pt>
    <dgm:pt modelId="{67749A69-ABB1-42B6-9B32-17249EC88649}" type="sibTrans" cxnId="{9A6EDD0A-5307-4A8B-B52B-35B000A920FF}">
      <dgm:prSet/>
      <dgm:spPr/>
      <dgm:t>
        <a:bodyPr/>
        <a:lstStyle/>
        <a:p>
          <a:endParaRPr lang="en-US"/>
        </a:p>
      </dgm:t>
    </dgm:pt>
    <dgm:pt modelId="{4F7B2BAB-404B-457D-8773-88FA3B53C16F}">
      <dgm:prSet/>
      <dgm:spPr/>
      <dgm:t>
        <a:bodyPr/>
        <a:lstStyle/>
        <a:p>
          <a:r>
            <a:rPr lang="en-CA" b="0" i="0" dirty="0"/>
            <a:t>KNN          84.38%           0.8870               0.6372</a:t>
          </a:r>
          <a:endParaRPr lang="en-US" dirty="0"/>
        </a:p>
      </dgm:t>
    </dgm:pt>
    <dgm:pt modelId="{692A0F5E-F081-4715-88F6-65590F7203EC}" type="parTrans" cxnId="{3E024C91-DFB6-4CE3-8831-2498CDE2932F}">
      <dgm:prSet/>
      <dgm:spPr/>
      <dgm:t>
        <a:bodyPr/>
        <a:lstStyle/>
        <a:p>
          <a:endParaRPr lang="en-US"/>
        </a:p>
      </dgm:t>
    </dgm:pt>
    <dgm:pt modelId="{8FA43AFB-710E-4ADE-ABDC-E486785F9EDC}" type="sibTrans" cxnId="{3E024C91-DFB6-4CE3-8831-2498CDE2932F}">
      <dgm:prSet/>
      <dgm:spPr/>
      <dgm:t>
        <a:bodyPr/>
        <a:lstStyle/>
        <a:p>
          <a:endParaRPr lang="en-US"/>
        </a:p>
      </dgm:t>
    </dgm:pt>
    <dgm:pt modelId="{3D63F897-4899-41A7-A15A-1DC240312F4D}">
      <dgm:prSet/>
      <dgm:spPr/>
      <dgm:t>
        <a:bodyPr/>
        <a:lstStyle/>
        <a:p>
          <a:r>
            <a:rPr lang="en-CA" b="0" i="0" dirty="0"/>
            <a:t>Random      85.89%          0.9093             0.6796 ← BEST</a:t>
          </a:r>
        </a:p>
        <a:p>
          <a:r>
            <a:rPr lang="en-CA" b="0" i="0" dirty="0"/>
            <a:t>Forest </a:t>
          </a:r>
          <a:endParaRPr lang="en-US" dirty="0"/>
        </a:p>
      </dgm:t>
    </dgm:pt>
    <dgm:pt modelId="{86B5E32F-6E97-4030-9961-4E3FA7E8BBAC}" type="sibTrans" cxnId="{D7BB3E6F-DBD1-4E22-B92E-F551356CC65B}">
      <dgm:prSet/>
      <dgm:spPr/>
      <dgm:t>
        <a:bodyPr/>
        <a:lstStyle/>
        <a:p>
          <a:endParaRPr lang="en-US"/>
        </a:p>
      </dgm:t>
    </dgm:pt>
    <dgm:pt modelId="{D0178E7A-6554-43D7-BAFA-C481804C3137}" type="parTrans" cxnId="{D7BB3E6F-DBD1-4E22-B92E-F551356CC65B}">
      <dgm:prSet/>
      <dgm:spPr/>
      <dgm:t>
        <a:bodyPr/>
        <a:lstStyle/>
        <a:p>
          <a:endParaRPr lang="en-US"/>
        </a:p>
      </dgm:t>
    </dgm:pt>
    <dgm:pt modelId="{A49A07F5-5932-482D-AB0B-3952DDC82A7F}">
      <dgm:prSet/>
      <dgm:spPr/>
      <dgm:t>
        <a:bodyPr/>
        <a:lstStyle/>
        <a:p>
          <a:r>
            <a:rPr lang="en-CA" b="0" i="0" dirty="0"/>
            <a:t>Model        Accuracy       ROC-AUC          F1-Score</a:t>
          </a:r>
          <a:endParaRPr lang="en-US" dirty="0"/>
        </a:p>
      </dgm:t>
    </dgm:pt>
    <dgm:pt modelId="{405D8CAC-A9A7-4871-A183-098F250F7DD9}" type="sibTrans" cxnId="{B8F632D8-9ED8-4AE3-A6D7-48419712431A}">
      <dgm:prSet/>
      <dgm:spPr/>
      <dgm:t>
        <a:bodyPr/>
        <a:lstStyle/>
        <a:p>
          <a:endParaRPr lang="en-US"/>
        </a:p>
      </dgm:t>
    </dgm:pt>
    <dgm:pt modelId="{B63E56A5-F6A4-454E-AC78-680C7B3CB48D}" type="parTrans" cxnId="{B8F632D8-9ED8-4AE3-A6D7-48419712431A}">
      <dgm:prSet/>
      <dgm:spPr/>
      <dgm:t>
        <a:bodyPr/>
        <a:lstStyle/>
        <a:p>
          <a:endParaRPr lang="en-US"/>
        </a:p>
      </dgm:t>
    </dgm:pt>
    <dgm:pt modelId="{563993F3-1844-9F4A-B1D4-5E5A1F9889BF}" type="pres">
      <dgm:prSet presAssocID="{3FFE45CA-0448-4172-AB10-B68D8461DDCF}" presName="linear" presStyleCnt="0">
        <dgm:presLayoutVars>
          <dgm:animLvl val="lvl"/>
          <dgm:resizeHandles val="exact"/>
        </dgm:presLayoutVars>
      </dgm:prSet>
      <dgm:spPr/>
    </dgm:pt>
    <dgm:pt modelId="{2B108AD0-1D41-6C49-93D4-49861E560FEA}" type="pres">
      <dgm:prSet presAssocID="{A49A07F5-5932-482D-AB0B-3952DDC82A7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4516D2C-6253-414A-AB45-6C19CFB345FB}" type="pres">
      <dgm:prSet presAssocID="{405D8CAC-A9A7-4871-A183-098F250F7DD9}" presName="spacer" presStyleCnt="0"/>
      <dgm:spPr/>
    </dgm:pt>
    <dgm:pt modelId="{7EE3D027-C5F8-EE4B-8046-E92FBC99F143}" type="pres">
      <dgm:prSet presAssocID="{3D63F897-4899-41A7-A15A-1DC240312F4D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598E5EC-6F40-DF49-9219-C5746338B685}" type="pres">
      <dgm:prSet presAssocID="{86B5E32F-6E97-4030-9961-4E3FA7E8BBAC}" presName="spacer" presStyleCnt="0"/>
      <dgm:spPr/>
    </dgm:pt>
    <dgm:pt modelId="{10751C63-EABE-5A4E-8B1C-07DAC25CF044}" type="pres">
      <dgm:prSet presAssocID="{3B6195F3-6B09-4956-B67A-FE1DDA12632F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F607ED9-94B0-5244-B213-5260C5624879}" type="pres">
      <dgm:prSet presAssocID="{30D1B1A5-51FE-4E1B-B4B1-7BDED000B834}" presName="spacer" presStyleCnt="0"/>
      <dgm:spPr/>
    </dgm:pt>
    <dgm:pt modelId="{9F81117F-2E61-D94B-BC57-1640BFE7EAD4}" type="pres">
      <dgm:prSet presAssocID="{7E94E12A-44E8-4748-BBA8-04025238207F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9F3B11B0-F889-2840-874A-759C9185D07F}" type="pres">
      <dgm:prSet presAssocID="{67749A69-ABB1-42B6-9B32-17249EC88649}" presName="spacer" presStyleCnt="0"/>
      <dgm:spPr/>
    </dgm:pt>
    <dgm:pt modelId="{FDE4000D-038B-4942-B6E9-3C2AA786ECC4}" type="pres">
      <dgm:prSet presAssocID="{4F7B2BAB-404B-457D-8773-88FA3B53C16F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FFA7AF09-FBF8-B542-A3CF-6C629421EF23}" type="presOf" srcId="{3B6195F3-6B09-4956-B67A-FE1DDA12632F}" destId="{10751C63-EABE-5A4E-8B1C-07DAC25CF044}" srcOrd="0" destOrd="0" presId="urn:microsoft.com/office/officeart/2005/8/layout/vList2"/>
    <dgm:cxn modelId="{97A6B00A-1619-2948-9890-D59149DA8328}" type="presOf" srcId="{4F7B2BAB-404B-457D-8773-88FA3B53C16F}" destId="{FDE4000D-038B-4942-B6E9-3C2AA786ECC4}" srcOrd="0" destOrd="0" presId="urn:microsoft.com/office/officeart/2005/8/layout/vList2"/>
    <dgm:cxn modelId="{9A6EDD0A-5307-4A8B-B52B-35B000A920FF}" srcId="{3FFE45CA-0448-4172-AB10-B68D8461DDCF}" destId="{7E94E12A-44E8-4748-BBA8-04025238207F}" srcOrd="3" destOrd="0" parTransId="{E46781B5-C5C8-4550-8949-FFB038D0C5CE}" sibTransId="{67749A69-ABB1-42B6-9B32-17249EC88649}"/>
    <dgm:cxn modelId="{FD35F82C-4BD1-F54B-8375-FA43E34300C9}" type="presOf" srcId="{3FFE45CA-0448-4172-AB10-B68D8461DDCF}" destId="{563993F3-1844-9F4A-B1D4-5E5A1F9889BF}" srcOrd="0" destOrd="0" presId="urn:microsoft.com/office/officeart/2005/8/layout/vList2"/>
    <dgm:cxn modelId="{E6957557-051D-8548-A5AA-5CE70822A5C7}" type="presOf" srcId="{A49A07F5-5932-482D-AB0B-3952DDC82A7F}" destId="{2B108AD0-1D41-6C49-93D4-49861E560FEA}" srcOrd="0" destOrd="0" presId="urn:microsoft.com/office/officeart/2005/8/layout/vList2"/>
    <dgm:cxn modelId="{D7BB3E6F-DBD1-4E22-B92E-F551356CC65B}" srcId="{3FFE45CA-0448-4172-AB10-B68D8461DDCF}" destId="{3D63F897-4899-41A7-A15A-1DC240312F4D}" srcOrd="1" destOrd="0" parTransId="{D0178E7A-6554-43D7-BAFA-C481804C3137}" sibTransId="{86B5E32F-6E97-4030-9961-4E3FA7E8BBAC}"/>
    <dgm:cxn modelId="{11E38372-6BE0-EF42-A179-F105D19AEF34}" type="presOf" srcId="{7E94E12A-44E8-4748-BBA8-04025238207F}" destId="{9F81117F-2E61-D94B-BC57-1640BFE7EAD4}" srcOrd="0" destOrd="0" presId="urn:microsoft.com/office/officeart/2005/8/layout/vList2"/>
    <dgm:cxn modelId="{3E024C91-DFB6-4CE3-8831-2498CDE2932F}" srcId="{3FFE45CA-0448-4172-AB10-B68D8461DDCF}" destId="{4F7B2BAB-404B-457D-8773-88FA3B53C16F}" srcOrd="4" destOrd="0" parTransId="{692A0F5E-F081-4715-88F6-65590F7203EC}" sibTransId="{8FA43AFB-710E-4ADE-ABDC-E486785F9EDC}"/>
    <dgm:cxn modelId="{D34C7AC2-38D6-8D4D-A438-F42DC43C03C9}" type="presOf" srcId="{3D63F897-4899-41A7-A15A-1DC240312F4D}" destId="{7EE3D027-C5F8-EE4B-8046-E92FBC99F143}" srcOrd="0" destOrd="0" presId="urn:microsoft.com/office/officeart/2005/8/layout/vList2"/>
    <dgm:cxn modelId="{B8F632D8-9ED8-4AE3-A6D7-48419712431A}" srcId="{3FFE45CA-0448-4172-AB10-B68D8461DDCF}" destId="{A49A07F5-5932-482D-AB0B-3952DDC82A7F}" srcOrd="0" destOrd="0" parTransId="{B63E56A5-F6A4-454E-AC78-680C7B3CB48D}" sibTransId="{405D8CAC-A9A7-4871-A183-098F250F7DD9}"/>
    <dgm:cxn modelId="{4D9FBEEE-D378-48DE-AAC1-4DBF61222A1F}" srcId="{3FFE45CA-0448-4172-AB10-B68D8461DDCF}" destId="{3B6195F3-6B09-4956-B67A-FE1DDA12632F}" srcOrd="2" destOrd="0" parTransId="{77E01F1F-7024-4320-A9AF-45214AA89CD6}" sibTransId="{30D1B1A5-51FE-4E1B-B4B1-7BDED000B834}"/>
    <dgm:cxn modelId="{CA08171E-10E2-CF42-935E-E9D69E02874C}" type="presParOf" srcId="{563993F3-1844-9F4A-B1D4-5E5A1F9889BF}" destId="{2B108AD0-1D41-6C49-93D4-49861E560FEA}" srcOrd="0" destOrd="0" presId="urn:microsoft.com/office/officeart/2005/8/layout/vList2"/>
    <dgm:cxn modelId="{03EFB300-04BF-B04B-B1BE-8909B4FD6BD6}" type="presParOf" srcId="{563993F3-1844-9F4A-B1D4-5E5A1F9889BF}" destId="{74516D2C-6253-414A-AB45-6C19CFB345FB}" srcOrd="1" destOrd="0" presId="urn:microsoft.com/office/officeart/2005/8/layout/vList2"/>
    <dgm:cxn modelId="{0D09ABA8-FEBB-0A43-8507-F9363393EEAD}" type="presParOf" srcId="{563993F3-1844-9F4A-B1D4-5E5A1F9889BF}" destId="{7EE3D027-C5F8-EE4B-8046-E92FBC99F143}" srcOrd="2" destOrd="0" presId="urn:microsoft.com/office/officeart/2005/8/layout/vList2"/>
    <dgm:cxn modelId="{4DF891E3-A64B-F041-9E02-45DC33DA2B88}" type="presParOf" srcId="{563993F3-1844-9F4A-B1D4-5E5A1F9889BF}" destId="{2598E5EC-6F40-DF49-9219-C5746338B685}" srcOrd="3" destOrd="0" presId="urn:microsoft.com/office/officeart/2005/8/layout/vList2"/>
    <dgm:cxn modelId="{FC027D17-02AB-3E4B-8361-B5AE985FA8CD}" type="presParOf" srcId="{563993F3-1844-9F4A-B1D4-5E5A1F9889BF}" destId="{10751C63-EABE-5A4E-8B1C-07DAC25CF044}" srcOrd="4" destOrd="0" presId="urn:microsoft.com/office/officeart/2005/8/layout/vList2"/>
    <dgm:cxn modelId="{CC52E2F7-A6E2-804B-8DF5-90556E2C0F39}" type="presParOf" srcId="{563993F3-1844-9F4A-B1D4-5E5A1F9889BF}" destId="{4F607ED9-94B0-5244-B213-5260C5624879}" srcOrd="5" destOrd="0" presId="urn:microsoft.com/office/officeart/2005/8/layout/vList2"/>
    <dgm:cxn modelId="{CA700E44-AEEA-8C49-A413-786F23B88E15}" type="presParOf" srcId="{563993F3-1844-9F4A-B1D4-5E5A1F9889BF}" destId="{9F81117F-2E61-D94B-BC57-1640BFE7EAD4}" srcOrd="6" destOrd="0" presId="urn:microsoft.com/office/officeart/2005/8/layout/vList2"/>
    <dgm:cxn modelId="{E5BCDEF3-FFAE-4848-B2F8-4F3B05FB9EB0}" type="presParOf" srcId="{563993F3-1844-9F4A-B1D4-5E5A1F9889BF}" destId="{9F3B11B0-F889-2840-874A-759C9185D07F}" srcOrd="7" destOrd="0" presId="urn:microsoft.com/office/officeart/2005/8/layout/vList2"/>
    <dgm:cxn modelId="{0229466F-7E65-6948-9C93-EFA45DB524F8}" type="presParOf" srcId="{563993F3-1844-9F4A-B1D4-5E5A1F9889BF}" destId="{FDE4000D-038B-4942-B6E9-3C2AA786ECC4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108AD0-1D41-6C49-93D4-49861E560FEA}">
      <dsp:nvSpPr>
        <dsp:cNvPr id="0" name=""/>
        <dsp:cNvSpPr/>
      </dsp:nvSpPr>
      <dsp:spPr>
        <a:xfrm>
          <a:off x="0" y="210958"/>
          <a:ext cx="6571413" cy="834228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Dataset Overview</a:t>
          </a:r>
        </a:p>
      </dsp:txBody>
      <dsp:txXfrm>
        <a:off x="40724" y="251682"/>
        <a:ext cx="6489965" cy="752780"/>
      </dsp:txXfrm>
    </dsp:sp>
    <dsp:sp modelId="{7EE3D027-C5F8-EE4B-8046-E92FBC99F143}">
      <dsp:nvSpPr>
        <dsp:cNvPr id="0" name=""/>
        <dsp:cNvSpPr/>
      </dsp:nvSpPr>
      <dsp:spPr>
        <a:xfrm>
          <a:off x="0" y="1105666"/>
          <a:ext cx="6571413" cy="834228"/>
        </a:xfrm>
        <a:prstGeom prst="roundRect">
          <a:avLst/>
        </a:prstGeom>
        <a:solidFill>
          <a:schemeClr val="accent5">
            <a:hueOff val="-1385377"/>
            <a:satOff val="-2406"/>
            <a:lumOff val="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48,842 records | 15 features</a:t>
          </a:r>
        </a:p>
      </dsp:txBody>
      <dsp:txXfrm>
        <a:off x="40724" y="1146390"/>
        <a:ext cx="6489965" cy="752780"/>
      </dsp:txXfrm>
    </dsp:sp>
    <dsp:sp modelId="{10751C63-EABE-5A4E-8B1C-07DAC25CF044}">
      <dsp:nvSpPr>
        <dsp:cNvPr id="0" name=""/>
        <dsp:cNvSpPr/>
      </dsp:nvSpPr>
      <dsp:spPr>
        <a:xfrm>
          <a:off x="0" y="2000374"/>
          <a:ext cx="6571413" cy="834228"/>
        </a:xfrm>
        <a:prstGeom prst="roundRect">
          <a:avLst/>
        </a:prstGeom>
        <a:solidFill>
          <a:schemeClr val="accent5">
            <a:hueOff val="-2770754"/>
            <a:satOff val="-4813"/>
            <a:lumOff val="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Numerical: age, fnlwgt, education-num, capital-gain, capital-loss, hours-per-week</a:t>
          </a:r>
        </a:p>
      </dsp:txBody>
      <dsp:txXfrm>
        <a:off x="40724" y="2041098"/>
        <a:ext cx="6489965" cy="752780"/>
      </dsp:txXfrm>
    </dsp:sp>
    <dsp:sp modelId="{9F81117F-2E61-D94B-BC57-1640BFE7EAD4}">
      <dsp:nvSpPr>
        <dsp:cNvPr id="0" name=""/>
        <dsp:cNvSpPr/>
      </dsp:nvSpPr>
      <dsp:spPr>
        <a:xfrm>
          <a:off x="0" y="2895083"/>
          <a:ext cx="6571413" cy="834228"/>
        </a:xfrm>
        <a:prstGeom prst="roundRect">
          <a:avLst/>
        </a:prstGeom>
        <a:solidFill>
          <a:schemeClr val="accent5">
            <a:hueOff val="-4156132"/>
            <a:satOff val="-7219"/>
            <a:lumOff val="47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Categorical: workclass, education, marital-status, occupation, relationship, race, sex, native-country</a:t>
          </a:r>
        </a:p>
      </dsp:txBody>
      <dsp:txXfrm>
        <a:off x="40724" y="2935807"/>
        <a:ext cx="6489965" cy="752780"/>
      </dsp:txXfrm>
    </dsp:sp>
    <dsp:sp modelId="{FDE4000D-038B-4942-B6E9-3C2AA786ECC4}">
      <dsp:nvSpPr>
        <dsp:cNvPr id="0" name=""/>
        <dsp:cNvSpPr/>
      </dsp:nvSpPr>
      <dsp:spPr>
        <a:xfrm>
          <a:off x="0" y="3789791"/>
          <a:ext cx="6571413" cy="834228"/>
        </a:xfrm>
        <a:prstGeom prst="roundRect">
          <a:avLst/>
        </a:prstGeom>
        <a:solidFill>
          <a:schemeClr val="accent5">
            <a:hueOff val="-5541508"/>
            <a:satOff val="-9626"/>
            <a:lumOff val="62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Target: income — &lt;=50K (75%) or &gt;50K (25%)</a:t>
          </a:r>
        </a:p>
      </dsp:txBody>
      <dsp:txXfrm>
        <a:off x="40724" y="3830515"/>
        <a:ext cx="6489965" cy="752780"/>
      </dsp:txXfrm>
    </dsp:sp>
    <dsp:sp modelId="{2015F4B8-06A2-5040-B08C-3FE796B9B981}">
      <dsp:nvSpPr>
        <dsp:cNvPr id="0" name=""/>
        <dsp:cNvSpPr/>
      </dsp:nvSpPr>
      <dsp:spPr>
        <a:xfrm>
          <a:off x="0" y="4684499"/>
          <a:ext cx="6571413" cy="834228"/>
        </a:xfrm>
        <a:prstGeom prst="roundRect">
          <a:avLst/>
        </a:prstGeom>
        <a:solidFill>
          <a:schemeClr val="accent5">
            <a:hueOff val="-6926885"/>
            <a:satOff val="-12032"/>
            <a:lumOff val="78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Class imbalance: 3:1 ratio</a:t>
          </a:r>
        </a:p>
      </dsp:txBody>
      <dsp:txXfrm>
        <a:off x="40724" y="4725223"/>
        <a:ext cx="6489965" cy="7527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108AD0-1D41-6C49-93D4-49861E560FEA}">
      <dsp:nvSpPr>
        <dsp:cNvPr id="0" name=""/>
        <dsp:cNvSpPr/>
      </dsp:nvSpPr>
      <dsp:spPr>
        <a:xfrm>
          <a:off x="0" y="463572"/>
          <a:ext cx="6571413" cy="914428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000" b="0" i="0" kern="1200" dirty="0"/>
            <a:t>Model        Accuracy       ROC-AUC          F1-Score</a:t>
          </a:r>
          <a:endParaRPr lang="en-US" sz="2000" kern="1200" dirty="0"/>
        </a:p>
      </dsp:txBody>
      <dsp:txXfrm>
        <a:off x="44639" y="508211"/>
        <a:ext cx="6482135" cy="825150"/>
      </dsp:txXfrm>
    </dsp:sp>
    <dsp:sp modelId="{7EE3D027-C5F8-EE4B-8046-E92FBC99F143}">
      <dsp:nvSpPr>
        <dsp:cNvPr id="0" name=""/>
        <dsp:cNvSpPr/>
      </dsp:nvSpPr>
      <dsp:spPr>
        <a:xfrm>
          <a:off x="0" y="1435600"/>
          <a:ext cx="6571413" cy="914428"/>
        </a:xfrm>
        <a:prstGeom prst="roundRect">
          <a:avLst/>
        </a:prstGeom>
        <a:solidFill>
          <a:schemeClr val="accent5">
            <a:hueOff val="-1731721"/>
            <a:satOff val="-3008"/>
            <a:lumOff val="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000" b="0" i="0" kern="1200" dirty="0"/>
            <a:t>Random      85.89%          0.9093             0.6796 ← BEST</a:t>
          </a:r>
        </a:p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000" b="0" i="0" kern="1200" dirty="0"/>
            <a:t>Forest </a:t>
          </a:r>
          <a:endParaRPr lang="en-US" sz="2000" kern="1200" dirty="0"/>
        </a:p>
      </dsp:txBody>
      <dsp:txXfrm>
        <a:off x="44639" y="1480239"/>
        <a:ext cx="6482135" cy="825150"/>
      </dsp:txXfrm>
    </dsp:sp>
    <dsp:sp modelId="{10751C63-EABE-5A4E-8B1C-07DAC25CF044}">
      <dsp:nvSpPr>
        <dsp:cNvPr id="0" name=""/>
        <dsp:cNvSpPr/>
      </dsp:nvSpPr>
      <dsp:spPr>
        <a:xfrm>
          <a:off x="0" y="2407628"/>
          <a:ext cx="6571413" cy="914428"/>
        </a:xfrm>
        <a:prstGeom prst="roundRect">
          <a:avLst/>
        </a:prstGeom>
        <a:solidFill>
          <a:schemeClr val="accent5">
            <a:hueOff val="-3463443"/>
            <a:satOff val="-6016"/>
            <a:lumOff val="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000" b="0" i="0" kern="1200" dirty="0"/>
            <a:t>Logistic       80.96%          0.9062             0.6813</a:t>
          </a:r>
        </a:p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000" b="0" i="0" kern="1200" dirty="0"/>
            <a:t>Regression</a:t>
          </a:r>
          <a:endParaRPr lang="en-US" sz="2000" kern="1200" dirty="0"/>
        </a:p>
      </dsp:txBody>
      <dsp:txXfrm>
        <a:off x="44639" y="2452267"/>
        <a:ext cx="6482135" cy="825150"/>
      </dsp:txXfrm>
    </dsp:sp>
    <dsp:sp modelId="{9F81117F-2E61-D94B-BC57-1640BFE7EAD4}">
      <dsp:nvSpPr>
        <dsp:cNvPr id="0" name=""/>
        <dsp:cNvSpPr/>
      </dsp:nvSpPr>
      <dsp:spPr>
        <a:xfrm>
          <a:off x="0" y="3379657"/>
          <a:ext cx="6571413" cy="914428"/>
        </a:xfrm>
        <a:prstGeom prst="roundRect">
          <a:avLst/>
        </a:prstGeom>
        <a:solidFill>
          <a:schemeClr val="accent5">
            <a:hueOff val="-5195164"/>
            <a:satOff val="-9024"/>
            <a:lumOff val="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000" b="0" i="0" kern="1200" dirty="0"/>
            <a:t>Decision    85.13%         0.8985              0.6436</a:t>
          </a:r>
        </a:p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000" b="0" i="0" kern="1200" dirty="0"/>
            <a:t>Tree</a:t>
          </a:r>
          <a:endParaRPr lang="en-US" sz="2000" kern="1200" dirty="0"/>
        </a:p>
      </dsp:txBody>
      <dsp:txXfrm>
        <a:off x="44639" y="3424296"/>
        <a:ext cx="6482135" cy="825150"/>
      </dsp:txXfrm>
    </dsp:sp>
    <dsp:sp modelId="{FDE4000D-038B-4942-B6E9-3C2AA786ECC4}">
      <dsp:nvSpPr>
        <dsp:cNvPr id="0" name=""/>
        <dsp:cNvSpPr/>
      </dsp:nvSpPr>
      <dsp:spPr>
        <a:xfrm>
          <a:off x="0" y="4351685"/>
          <a:ext cx="6571413" cy="914428"/>
        </a:xfrm>
        <a:prstGeom prst="roundRect">
          <a:avLst/>
        </a:prstGeom>
        <a:solidFill>
          <a:schemeClr val="accent5">
            <a:hueOff val="-6926885"/>
            <a:satOff val="-12032"/>
            <a:lumOff val="78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000" b="0" i="0" kern="1200" dirty="0"/>
            <a:t>KNN          84.38%           0.8870               0.6372</a:t>
          </a:r>
          <a:endParaRPr lang="en-US" sz="2000" kern="1200" dirty="0"/>
        </a:p>
      </dsp:txBody>
      <dsp:txXfrm>
        <a:off x="44639" y="4396324"/>
        <a:ext cx="6482135" cy="8251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6847D-1CF6-46BA-B46B-48BED0604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cap="all" spc="1500" baseline="0">
                <a:latin typeface="+mj-lt"/>
                <a:ea typeface="Source Sans Pro SemiBold" panose="020B06030304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4F5A5-C931-4A4C-B6B1-EF4C95965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cap="all" spc="4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DE4AEC-B6E4-439C-B716-EBE3D4D1D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FF81C-1FCB-4DBA-8044-F1A0FCFD45A6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8BC18-102E-45BF-8FEA-801E9C59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8BF5F-B1F8-461F-9B3D-7D50D0242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D6BF779-0B8C-4CC2-9268-9506AD0C5331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671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88500-1605-41EA-A15F-9B79DF7E4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14AC8-25A5-4D7F-BF23-CB20AA2EC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8997F1B7-1EE7-4EA5-A5A4-866F9A810C9F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5E13483-2FB6-4753-8402-06FDC3498E06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8F0DF22-F640-4002-B783-DF1C6A9473F6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2787B8-7984-4332-B611-D3D3DE898FE0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AF3646C-B3D7-4F57-8FD2-CD93CEB39214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65FA7DA-93A0-43A4-834C-0F1BB9806A8C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95D22-0146-4DE2-9E78-4C00333D4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7773D-8987-489A-A650-3D6F7D5C7C38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9717A-A1FE-485D-AFFF-2C7026C71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DB88B-64CF-4100-8F07-D191DD79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04332FF-8349-42A5-B5C8-5EE3825CE252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469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BFE6C-EBF1-47DE-8468-E7125172B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104992-D139-48DC-BCCE-D71EA23CA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A8C5E768-0E62-4DE7-A0AF-93121DA8439E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402845F-9E8A-41E1-B051-1AAA46C997A2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A45C410-5FD0-4339-A3BC-A865DE4190A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7B0B703-8BA8-483C-A433-C44C809687DE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CCFA03D-B879-419B-88B9-F4F3645C8AF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B0260A-6B2D-4F54-8614-60BC3103E166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AB8F6-0796-47E9-B1D4-760B7CCFC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50C1-1D78-4D80-810D-E9E86F6E88AB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6FC0-7327-44D9-B689-0AE73FD2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9D265-BFBA-4C93-9B1A-B9483AE6B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64F5FEB-DE92-47DA-8C46-DC088E8960A4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532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637BE-B22F-40EE-94F0-04549BC56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71582-4BAF-4211-AD4A-476ED6EB11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9DCF6B-C800-4345-BAE9-EE9FA6590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E6190A1E-5381-43C4-B058-7758339984D6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7E35469-0BEA-4E5E-955F-1AA300A62DE5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8F650BE-565E-4A52-8143-7A87700FC5F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86A3F89-AA2A-44E5-915E-C47A069EB68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C57F514-AB27-4489-8D3C-01DD1025DDAD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141169F-1C39-4D04-AF32-D0D14D004B05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087465-759F-4895-8FC6-DD464FB91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9CBD8-1588-4B6B-B74D-87480DDE94C0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F1AA18-D8A5-44D9-881C-522258ED5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1BA574-A76A-4F4C-8CBD-768278B6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793E083-ADC4-4391-83DD-781529A66110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919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1B666-D6BE-4FA8-9CF1-F15FD58B0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E4B4A-DE64-4563-83CD-C40B1D681D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A0314-0202-4E6D-8352-C28376A9C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B56083-87B4-4603-B6FF-A9EB68E3E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3708CF-F028-4917-A9CB-59BF5248A2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10" name="Graphic 185">
            <a:extLst>
              <a:ext uri="{FF2B5EF4-FFF2-40B4-BE49-F238E27FC236}">
                <a16:creationId xmlns:a16="http://schemas.microsoft.com/office/drawing/2014/main" id="{81B934BF-E239-47E1-93E9-EA3182162D21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3BBF177-5044-426A-93ED-64BDC84BF184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4270648-77F5-4D28-B691-DA57AA28FD73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086B770-2F70-4B7B-9525-286BBD63AD72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DDC14D-7AE3-41CD-ADFC-A3601D4F9DF3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2181834-8401-4B66-85EE-1CBF57807DAB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33C091-3B62-4087-9A97-63BBE28CF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94440-721C-4D75-BD4F-4CFB3D51CDCA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710C3-2723-4847-BCAF-96D9FAE50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618B2C-95AC-4438-97FD-07ACF297B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6B0F5A7-6E8A-4BCD-8F1F-233ECD21B262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382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9CF7F-748D-4598-983E-96A2BE269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aphic 185">
            <a:extLst>
              <a:ext uri="{FF2B5EF4-FFF2-40B4-BE49-F238E27FC236}">
                <a16:creationId xmlns:a16="http://schemas.microsoft.com/office/drawing/2014/main" id="{DFD4D3BE-80D4-4E69-9C76-F0D8517DF690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0B6E97F-00E1-4372-8978-8BCBDC9026E6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C7651B7-7A30-4AFA-A4D7-0B0C5D2DDAA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D2FC5CA-556B-4409-B084-34753A1F04E6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E63FB41-EE1F-4889-9096-3A38936330D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DD19F3B-7B3E-4861-8FDA-D0116C96C16E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A2C46-C908-4010-AAE2-9FA41B14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01A64-483B-4532-94FB-D8F90CB6DEE0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CF5279-7D37-4D98-9A70-987C84F62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96FAD0-59EF-49AA-BBC6-A0EC184DD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6EB399-18D2-46D5-8757-35FCFF8EA80D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472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aphic 185">
            <a:extLst>
              <a:ext uri="{FF2B5EF4-FFF2-40B4-BE49-F238E27FC236}">
                <a16:creationId xmlns:a16="http://schemas.microsoft.com/office/drawing/2014/main" id="{773CCE17-EE0F-40E0-B7AE-CF7677B64709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0AC6C4E-6EA5-454A-AB84-8B94D8B585EC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4329338-925B-4677-BA6E-4357D37DB54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34C0A08-043F-4818-BA1D-BCC9F811A873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CB185DD-ED0D-4633-8098-95C4A6F177CC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AD50526-B611-40B6-BB45-AE82F0EF5992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08C302-4224-4668-8CAC-3267172A0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8FB39-20FB-4E2E-B861-45B709B9C3C5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C8FC22-AEB6-4BAF-BF93-41A2C757C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CA88A-5462-4F17-AFA0-52721ADDB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CCC791-94D7-4BB8-9EDF-423CEA1F6215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462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6AC37-C5B5-462A-BE4A-E55CEBF2A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B007F-32A8-4688-BBEF-4FCB99DF5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F2E2EB-BF8A-44A4-8AE0-BD6C31B1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FC9E188F-54C8-4547-9F8C-525712AD7DB6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99C4538-3939-47A9-A590-09FF21960653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541CA75-5D05-4996-A26D-CE0C909CD5F7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6305856-26BC-4BCC-BEF3-5E9CED94177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C69651C-AC37-4CD2-8367-19297D7E2389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3E9031B-BA8D-4D9D-9BB3-A16F7A80F854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840A2-CF60-4C47-B955-E65BC451F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8AC19-8BD6-476C-9770-8884373BCF00}" type="datetime1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9DC6E-CC55-47AB-A405-5FB7EE2D1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D5E7D-EBA7-4DB0-8C78-7EB8A85FA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5B051DE-636E-4B3C-9886-2055CE23E49A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616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1D355-3146-41D1-B7DC-20B8ACE39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D4AAFB-E8F8-4FD1-8C6A-ED2C3FAD50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051AF1-B16F-43B9-95CC-C17B570DEC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C8B77273-9FF7-4B93-8385-AD09A5F86AE5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117A673-3729-4EAD-9E8C-52BEBF74B857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E8DB752-94CD-4A94-BDE3-DD285EB89F3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F8DDFC-E5CA-4F36-B2BE-BCE49D4F6C9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BB589AE-2F9C-4C83-8DC7-1205CB03752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AC9A2DE-3C9E-4CD0-8C7A-CC5F9F9942E4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8C8714-2467-4715-934E-6787C84F7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68C53-8AD1-4F09-9486-FB3406B99CFA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6F13D6-03EC-4D31-8BB1-9FFDE3633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65D4DD-A2A4-4DF6-9527-E5F12FEB9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D202F3A-9FDE-4E11-B865-FBAEC415F880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927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3A871-D377-4EC0-9ACF-86842F01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D53202-92A9-45A3-B812-777DB9578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7196FB0C-3A9D-4892-90C9-21F3459AAD9E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6938C96-CF0F-4B69-A695-913F11BFC6F0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CA7E6BB-6B60-4BF5-9D3E-A3FE782EF5B0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F693EDA-57B3-4AEB-863B-B198C2A5A8E3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3A04A96-045F-4B6E-AEEE-11A2FA01B4FC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FB357DC-5AD3-44F4-879B-5AD6B18AC36F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CA47F-83AD-4BE3-AC2F-6C17883F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092B3-2D87-4CDF-B84B-C46E5F5D31F7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18A72-3200-4597-A9C5-0D9ECFF3E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0055A-71D4-49B4-8A8F-19AFDB84E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B0E5D27-C447-432F-982D-B60FDD6F34AD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053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C59DBB-9256-464D-8A6A-8BDA71541D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5E310-E6CB-4838-8E9B-B288DA552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BCF412A8-E798-47AD-ABD9-98D76A55D30B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70160C5-475D-401A-AEE2-2C04E99A1518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7CC7CE9-9C7F-49C2-8609-47BF523390F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26FD5F1-978C-45AF-9086-D5DBE1F01681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873AB1C-723A-4FB4-9B23-65BAF5074833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1DE5510-5094-4FA4-96E5-AD4841D1C38A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E2202-679F-48B0-B2DD-F6F54711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69E57-47B1-47B0-B526-3153E4B1E729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BC83D-E4C0-49E1-ADA1-1AF403984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F211E-B2EA-4CDC-9E84-B68983949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FE2F5FD-5D31-4C1D-82F8-93624C7B0A3C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40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33F5C3-CD4B-4472-B59A-49D460CB1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72236B-AB2C-4D6F-AE15-700992DA9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0F509-07BE-4446-8772-F44E09936B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fld id="{BA543EDD-D0D2-447F-B24F-3717AF4B109D}" type="datetime1">
              <a:rPr lang="en-US" smtClean="0"/>
              <a:pPr/>
              <a:t>4/18/26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B927E-3833-4F85-99B5-56B5F1E540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8CB64-4E98-43DE-B543-7BE5B329DB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fld id="{F3450C42-9A0B-4425-92C2-70FCF7C457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80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60" r:id="rId6"/>
    <p:sldLayoutId id="2147483755" r:id="rId7"/>
    <p:sldLayoutId id="2147483756" r:id="rId8"/>
    <p:sldLayoutId id="2147483757" r:id="rId9"/>
    <p:sldLayoutId id="2147483759" r:id="rId10"/>
    <p:sldLayoutId id="2147483758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A397E3E-B90C-4D82-BAAA-36F7AC6A4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0C2E5D-B08F-4A99-9D15-59D33148F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47167"/>
            <a:ext cx="1861854" cy="717514"/>
            <a:chOff x="0" y="238499"/>
            <a:chExt cx="1861854" cy="7175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7B8F35D-FB89-4C40-8A99-E46DDA0213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238499"/>
              <a:ext cx="1861854" cy="717514"/>
              <a:chOff x="0" y="604259"/>
              <a:chExt cx="1861854" cy="71751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E16C8D8F-10E9-4498-ABDB-0F923F8B68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604259"/>
                <a:ext cx="1861854" cy="277779"/>
              </a:xfrm>
              <a:custGeom>
                <a:avLst/>
                <a:gdLst>
                  <a:gd name="connsiteX0" fmla="*/ 180458 w 1861854"/>
                  <a:gd name="connsiteY0" fmla="*/ 0 h 277779"/>
                  <a:gd name="connsiteX1" fmla="*/ 419222 w 1861854"/>
                  <a:gd name="connsiteY1" fmla="*/ 238761 h 277779"/>
                  <a:gd name="connsiteX2" fmla="*/ 657984 w 1861854"/>
                  <a:gd name="connsiteY2" fmla="*/ 0 h 277779"/>
                  <a:gd name="connsiteX3" fmla="*/ 896745 w 1861854"/>
                  <a:gd name="connsiteY3" fmla="*/ 238761 h 277779"/>
                  <a:gd name="connsiteX4" fmla="*/ 1135754 w 1861854"/>
                  <a:gd name="connsiteY4" fmla="*/ 0 h 277779"/>
                  <a:gd name="connsiteX5" fmla="*/ 1374516 w 1861854"/>
                  <a:gd name="connsiteY5" fmla="*/ 238761 h 277779"/>
                  <a:gd name="connsiteX6" fmla="*/ 1613277 w 1861854"/>
                  <a:gd name="connsiteY6" fmla="*/ 0 h 277779"/>
                  <a:gd name="connsiteX7" fmla="*/ 1861854 w 1861854"/>
                  <a:gd name="connsiteY7" fmla="*/ 248577 h 277779"/>
                  <a:gd name="connsiteX8" fmla="*/ 1842470 w 1861854"/>
                  <a:gd name="connsiteY8" fmla="*/ 267963 h 277779"/>
                  <a:gd name="connsiteX9" fmla="*/ 1613277 w 1861854"/>
                  <a:gd name="connsiteY9" fmla="*/ 39017 h 277779"/>
                  <a:gd name="connsiteX10" fmla="*/ 1374516 w 1861854"/>
                  <a:gd name="connsiteY10" fmla="*/ 277779 h 277779"/>
                  <a:gd name="connsiteX11" fmla="*/ 1135754 w 1861854"/>
                  <a:gd name="connsiteY11" fmla="*/ 39017 h 277779"/>
                  <a:gd name="connsiteX12" fmla="*/ 896745 w 1861854"/>
                  <a:gd name="connsiteY12" fmla="*/ 277779 h 277779"/>
                  <a:gd name="connsiteX13" fmla="*/ 657984 w 1861854"/>
                  <a:gd name="connsiteY13" fmla="*/ 39017 h 277779"/>
                  <a:gd name="connsiteX14" fmla="*/ 419222 w 1861854"/>
                  <a:gd name="connsiteY14" fmla="*/ 277779 h 277779"/>
                  <a:gd name="connsiteX15" fmla="*/ 180458 w 1861854"/>
                  <a:gd name="connsiteY15" fmla="*/ 39017 h 277779"/>
                  <a:gd name="connsiteX16" fmla="*/ 0 w 1861854"/>
                  <a:gd name="connsiteY16" fmla="*/ 219283 h 277779"/>
                  <a:gd name="connsiteX17" fmla="*/ 0 w 1861854"/>
                  <a:gd name="connsiteY17" fmla="*/ 180458 h 277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861854" h="277779">
                    <a:moveTo>
                      <a:pt x="180458" y="0"/>
                    </a:moveTo>
                    <a:lnTo>
                      <a:pt x="419222" y="238761"/>
                    </a:lnTo>
                    <a:lnTo>
                      <a:pt x="657984" y="0"/>
                    </a:lnTo>
                    <a:lnTo>
                      <a:pt x="896745" y="238761"/>
                    </a:lnTo>
                    <a:lnTo>
                      <a:pt x="1135754" y="0"/>
                    </a:lnTo>
                    <a:lnTo>
                      <a:pt x="1374516" y="238761"/>
                    </a:lnTo>
                    <a:lnTo>
                      <a:pt x="1613277" y="0"/>
                    </a:lnTo>
                    <a:lnTo>
                      <a:pt x="1861854" y="248577"/>
                    </a:lnTo>
                    <a:lnTo>
                      <a:pt x="1842470" y="267963"/>
                    </a:lnTo>
                    <a:lnTo>
                      <a:pt x="1613277" y="39017"/>
                    </a:lnTo>
                    <a:lnTo>
                      <a:pt x="1374516" y="277779"/>
                    </a:lnTo>
                    <a:lnTo>
                      <a:pt x="1135754" y="39017"/>
                    </a:lnTo>
                    <a:lnTo>
                      <a:pt x="896745" y="277779"/>
                    </a:lnTo>
                    <a:lnTo>
                      <a:pt x="657984" y="39017"/>
                    </a:lnTo>
                    <a:lnTo>
                      <a:pt x="419222" y="277779"/>
                    </a:lnTo>
                    <a:lnTo>
                      <a:pt x="180458" y="39017"/>
                    </a:lnTo>
                    <a:lnTo>
                      <a:pt x="0" y="219283"/>
                    </a:lnTo>
                    <a:lnTo>
                      <a:pt x="0" y="18045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33" name="Freeform: Shape 25">
                <a:extLst>
                  <a:ext uri="{FF2B5EF4-FFF2-40B4-BE49-F238E27FC236}">
                    <a16:creationId xmlns:a16="http://schemas.microsoft.com/office/drawing/2014/main" id="{1E5A83E3-8A11-4492-BB6E-F5F2240316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1043994"/>
                <a:ext cx="1861854" cy="277779"/>
              </a:xfrm>
              <a:custGeom>
                <a:avLst/>
                <a:gdLst>
                  <a:gd name="connsiteX0" fmla="*/ 180458 w 1861854"/>
                  <a:gd name="connsiteY0" fmla="*/ 0 h 277779"/>
                  <a:gd name="connsiteX1" fmla="*/ 419222 w 1861854"/>
                  <a:gd name="connsiteY1" fmla="*/ 238761 h 277779"/>
                  <a:gd name="connsiteX2" fmla="*/ 657984 w 1861854"/>
                  <a:gd name="connsiteY2" fmla="*/ 0 h 277779"/>
                  <a:gd name="connsiteX3" fmla="*/ 896745 w 1861854"/>
                  <a:gd name="connsiteY3" fmla="*/ 238761 h 277779"/>
                  <a:gd name="connsiteX4" fmla="*/ 1135754 w 1861854"/>
                  <a:gd name="connsiteY4" fmla="*/ 0 h 277779"/>
                  <a:gd name="connsiteX5" fmla="*/ 1374516 w 1861854"/>
                  <a:gd name="connsiteY5" fmla="*/ 238761 h 277779"/>
                  <a:gd name="connsiteX6" fmla="*/ 1613277 w 1861854"/>
                  <a:gd name="connsiteY6" fmla="*/ 0 h 277779"/>
                  <a:gd name="connsiteX7" fmla="*/ 1861854 w 1861854"/>
                  <a:gd name="connsiteY7" fmla="*/ 248577 h 277779"/>
                  <a:gd name="connsiteX8" fmla="*/ 1842470 w 1861854"/>
                  <a:gd name="connsiteY8" fmla="*/ 268208 h 277779"/>
                  <a:gd name="connsiteX9" fmla="*/ 1613277 w 1861854"/>
                  <a:gd name="connsiteY9" fmla="*/ 39017 h 277779"/>
                  <a:gd name="connsiteX10" fmla="*/ 1374516 w 1861854"/>
                  <a:gd name="connsiteY10" fmla="*/ 277779 h 277779"/>
                  <a:gd name="connsiteX11" fmla="*/ 1135754 w 1861854"/>
                  <a:gd name="connsiteY11" fmla="*/ 39017 h 277779"/>
                  <a:gd name="connsiteX12" fmla="*/ 896745 w 1861854"/>
                  <a:gd name="connsiteY12" fmla="*/ 277779 h 277779"/>
                  <a:gd name="connsiteX13" fmla="*/ 657984 w 1861854"/>
                  <a:gd name="connsiteY13" fmla="*/ 39017 h 277779"/>
                  <a:gd name="connsiteX14" fmla="*/ 419222 w 1861854"/>
                  <a:gd name="connsiteY14" fmla="*/ 277779 h 277779"/>
                  <a:gd name="connsiteX15" fmla="*/ 180458 w 1861854"/>
                  <a:gd name="connsiteY15" fmla="*/ 39017 h 277779"/>
                  <a:gd name="connsiteX16" fmla="*/ 0 w 1861854"/>
                  <a:gd name="connsiteY16" fmla="*/ 219475 h 277779"/>
                  <a:gd name="connsiteX17" fmla="*/ 0 w 1861854"/>
                  <a:gd name="connsiteY17" fmla="*/ 180458 h 277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861854" h="277779">
                    <a:moveTo>
                      <a:pt x="180458" y="0"/>
                    </a:moveTo>
                    <a:lnTo>
                      <a:pt x="419222" y="238761"/>
                    </a:lnTo>
                    <a:lnTo>
                      <a:pt x="657984" y="0"/>
                    </a:lnTo>
                    <a:lnTo>
                      <a:pt x="896745" y="238761"/>
                    </a:lnTo>
                    <a:lnTo>
                      <a:pt x="1135754" y="0"/>
                    </a:lnTo>
                    <a:lnTo>
                      <a:pt x="1374516" y="238761"/>
                    </a:lnTo>
                    <a:lnTo>
                      <a:pt x="1613277" y="0"/>
                    </a:lnTo>
                    <a:lnTo>
                      <a:pt x="1861854" y="248577"/>
                    </a:lnTo>
                    <a:lnTo>
                      <a:pt x="1842470" y="268208"/>
                    </a:lnTo>
                    <a:lnTo>
                      <a:pt x="1613277" y="39017"/>
                    </a:lnTo>
                    <a:lnTo>
                      <a:pt x="1374516" y="277779"/>
                    </a:lnTo>
                    <a:lnTo>
                      <a:pt x="1135754" y="39017"/>
                    </a:lnTo>
                    <a:lnTo>
                      <a:pt x="896745" y="277779"/>
                    </a:lnTo>
                    <a:lnTo>
                      <a:pt x="657984" y="39017"/>
                    </a:lnTo>
                    <a:lnTo>
                      <a:pt x="419222" y="277779"/>
                    </a:lnTo>
                    <a:lnTo>
                      <a:pt x="180458" y="39017"/>
                    </a:lnTo>
                    <a:lnTo>
                      <a:pt x="0" y="219475"/>
                    </a:lnTo>
                    <a:lnTo>
                      <a:pt x="0" y="18045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en-US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5FC669C-CD13-4F4A-AFFF-4029D34F2D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238499"/>
              <a:ext cx="1861854" cy="717514"/>
              <a:chOff x="0" y="604259"/>
              <a:chExt cx="1861854" cy="717514"/>
            </a:xfrm>
            <a:solidFill>
              <a:schemeClr val="tx1"/>
            </a:solidFill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617B5AA-8A0D-41D3-B2EF-8BC53E3B7DF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604259"/>
                <a:ext cx="1861854" cy="277779"/>
              </a:xfrm>
              <a:custGeom>
                <a:avLst/>
                <a:gdLst>
                  <a:gd name="connsiteX0" fmla="*/ 180458 w 1861854"/>
                  <a:gd name="connsiteY0" fmla="*/ 0 h 277779"/>
                  <a:gd name="connsiteX1" fmla="*/ 419222 w 1861854"/>
                  <a:gd name="connsiteY1" fmla="*/ 238761 h 277779"/>
                  <a:gd name="connsiteX2" fmla="*/ 657984 w 1861854"/>
                  <a:gd name="connsiteY2" fmla="*/ 0 h 277779"/>
                  <a:gd name="connsiteX3" fmla="*/ 896745 w 1861854"/>
                  <a:gd name="connsiteY3" fmla="*/ 238761 h 277779"/>
                  <a:gd name="connsiteX4" fmla="*/ 1135754 w 1861854"/>
                  <a:gd name="connsiteY4" fmla="*/ 0 h 277779"/>
                  <a:gd name="connsiteX5" fmla="*/ 1374516 w 1861854"/>
                  <a:gd name="connsiteY5" fmla="*/ 238761 h 277779"/>
                  <a:gd name="connsiteX6" fmla="*/ 1613277 w 1861854"/>
                  <a:gd name="connsiteY6" fmla="*/ 0 h 277779"/>
                  <a:gd name="connsiteX7" fmla="*/ 1861854 w 1861854"/>
                  <a:gd name="connsiteY7" fmla="*/ 248577 h 277779"/>
                  <a:gd name="connsiteX8" fmla="*/ 1842470 w 1861854"/>
                  <a:gd name="connsiteY8" fmla="*/ 267963 h 277779"/>
                  <a:gd name="connsiteX9" fmla="*/ 1613277 w 1861854"/>
                  <a:gd name="connsiteY9" fmla="*/ 39017 h 277779"/>
                  <a:gd name="connsiteX10" fmla="*/ 1374516 w 1861854"/>
                  <a:gd name="connsiteY10" fmla="*/ 277779 h 277779"/>
                  <a:gd name="connsiteX11" fmla="*/ 1135754 w 1861854"/>
                  <a:gd name="connsiteY11" fmla="*/ 39017 h 277779"/>
                  <a:gd name="connsiteX12" fmla="*/ 896745 w 1861854"/>
                  <a:gd name="connsiteY12" fmla="*/ 277779 h 277779"/>
                  <a:gd name="connsiteX13" fmla="*/ 657984 w 1861854"/>
                  <a:gd name="connsiteY13" fmla="*/ 39017 h 277779"/>
                  <a:gd name="connsiteX14" fmla="*/ 419222 w 1861854"/>
                  <a:gd name="connsiteY14" fmla="*/ 277779 h 277779"/>
                  <a:gd name="connsiteX15" fmla="*/ 180458 w 1861854"/>
                  <a:gd name="connsiteY15" fmla="*/ 39017 h 277779"/>
                  <a:gd name="connsiteX16" fmla="*/ 0 w 1861854"/>
                  <a:gd name="connsiteY16" fmla="*/ 219283 h 277779"/>
                  <a:gd name="connsiteX17" fmla="*/ 0 w 1861854"/>
                  <a:gd name="connsiteY17" fmla="*/ 180458 h 277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861854" h="277779">
                    <a:moveTo>
                      <a:pt x="180458" y="0"/>
                    </a:moveTo>
                    <a:lnTo>
                      <a:pt x="419222" y="238761"/>
                    </a:lnTo>
                    <a:lnTo>
                      <a:pt x="657984" y="0"/>
                    </a:lnTo>
                    <a:lnTo>
                      <a:pt x="896745" y="238761"/>
                    </a:lnTo>
                    <a:lnTo>
                      <a:pt x="1135754" y="0"/>
                    </a:lnTo>
                    <a:lnTo>
                      <a:pt x="1374516" y="238761"/>
                    </a:lnTo>
                    <a:lnTo>
                      <a:pt x="1613277" y="0"/>
                    </a:lnTo>
                    <a:lnTo>
                      <a:pt x="1861854" y="248577"/>
                    </a:lnTo>
                    <a:lnTo>
                      <a:pt x="1842470" y="267963"/>
                    </a:lnTo>
                    <a:lnTo>
                      <a:pt x="1613277" y="39017"/>
                    </a:lnTo>
                    <a:lnTo>
                      <a:pt x="1374516" y="277779"/>
                    </a:lnTo>
                    <a:lnTo>
                      <a:pt x="1135754" y="39017"/>
                    </a:lnTo>
                    <a:lnTo>
                      <a:pt x="896745" y="277779"/>
                    </a:lnTo>
                    <a:lnTo>
                      <a:pt x="657984" y="39017"/>
                    </a:lnTo>
                    <a:lnTo>
                      <a:pt x="419222" y="277779"/>
                    </a:lnTo>
                    <a:lnTo>
                      <a:pt x="180458" y="39017"/>
                    </a:lnTo>
                    <a:lnTo>
                      <a:pt x="0" y="219283"/>
                    </a:lnTo>
                    <a:lnTo>
                      <a:pt x="0" y="18045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572EB308-9A4E-4332-A908-22F2978D75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1043994"/>
                <a:ext cx="1861854" cy="277779"/>
              </a:xfrm>
              <a:custGeom>
                <a:avLst/>
                <a:gdLst>
                  <a:gd name="connsiteX0" fmla="*/ 180458 w 1861854"/>
                  <a:gd name="connsiteY0" fmla="*/ 0 h 277779"/>
                  <a:gd name="connsiteX1" fmla="*/ 419222 w 1861854"/>
                  <a:gd name="connsiteY1" fmla="*/ 238761 h 277779"/>
                  <a:gd name="connsiteX2" fmla="*/ 657984 w 1861854"/>
                  <a:gd name="connsiteY2" fmla="*/ 0 h 277779"/>
                  <a:gd name="connsiteX3" fmla="*/ 896745 w 1861854"/>
                  <a:gd name="connsiteY3" fmla="*/ 238761 h 277779"/>
                  <a:gd name="connsiteX4" fmla="*/ 1135754 w 1861854"/>
                  <a:gd name="connsiteY4" fmla="*/ 0 h 277779"/>
                  <a:gd name="connsiteX5" fmla="*/ 1374516 w 1861854"/>
                  <a:gd name="connsiteY5" fmla="*/ 238761 h 277779"/>
                  <a:gd name="connsiteX6" fmla="*/ 1613277 w 1861854"/>
                  <a:gd name="connsiteY6" fmla="*/ 0 h 277779"/>
                  <a:gd name="connsiteX7" fmla="*/ 1861854 w 1861854"/>
                  <a:gd name="connsiteY7" fmla="*/ 248577 h 277779"/>
                  <a:gd name="connsiteX8" fmla="*/ 1842470 w 1861854"/>
                  <a:gd name="connsiteY8" fmla="*/ 268208 h 277779"/>
                  <a:gd name="connsiteX9" fmla="*/ 1613277 w 1861854"/>
                  <a:gd name="connsiteY9" fmla="*/ 39017 h 277779"/>
                  <a:gd name="connsiteX10" fmla="*/ 1374516 w 1861854"/>
                  <a:gd name="connsiteY10" fmla="*/ 277779 h 277779"/>
                  <a:gd name="connsiteX11" fmla="*/ 1135754 w 1861854"/>
                  <a:gd name="connsiteY11" fmla="*/ 39017 h 277779"/>
                  <a:gd name="connsiteX12" fmla="*/ 896745 w 1861854"/>
                  <a:gd name="connsiteY12" fmla="*/ 277779 h 277779"/>
                  <a:gd name="connsiteX13" fmla="*/ 657984 w 1861854"/>
                  <a:gd name="connsiteY13" fmla="*/ 39017 h 277779"/>
                  <a:gd name="connsiteX14" fmla="*/ 419222 w 1861854"/>
                  <a:gd name="connsiteY14" fmla="*/ 277779 h 277779"/>
                  <a:gd name="connsiteX15" fmla="*/ 180458 w 1861854"/>
                  <a:gd name="connsiteY15" fmla="*/ 39017 h 277779"/>
                  <a:gd name="connsiteX16" fmla="*/ 0 w 1861854"/>
                  <a:gd name="connsiteY16" fmla="*/ 219475 h 277779"/>
                  <a:gd name="connsiteX17" fmla="*/ 0 w 1861854"/>
                  <a:gd name="connsiteY17" fmla="*/ 180458 h 277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861854" h="277779">
                    <a:moveTo>
                      <a:pt x="180458" y="0"/>
                    </a:moveTo>
                    <a:lnTo>
                      <a:pt x="419222" y="238761"/>
                    </a:lnTo>
                    <a:lnTo>
                      <a:pt x="657984" y="0"/>
                    </a:lnTo>
                    <a:lnTo>
                      <a:pt x="896745" y="238761"/>
                    </a:lnTo>
                    <a:lnTo>
                      <a:pt x="1135754" y="0"/>
                    </a:lnTo>
                    <a:lnTo>
                      <a:pt x="1374516" y="238761"/>
                    </a:lnTo>
                    <a:lnTo>
                      <a:pt x="1613277" y="0"/>
                    </a:lnTo>
                    <a:lnTo>
                      <a:pt x="1861854" y="248577"/>
                    </a:lnTo>
                    <a:lnTo>
                      <a:pt x="1842470" y="268208"/>
                    </a:lnTo>
                    <a:lnTo>
                      <a:pt x="1613277" y="39017"/>
                    </a:lnTo>
                    <a:lnTo>
                      <a:pt x="1374516" y="277779"/>
                    </a:lnTo>
                    <a:lnTo>
                      <a:pt x="1135754" y="39017"/>
                    </a:lnTo>
                    <a:lnTo>
                      <a:pt x="896745" y="277779"/>
                    </a:lnTo>
                    <a:lnTo>
                      <a:pt x="657984" y="39017"/>
                    </a:lnTo>
                    <a:lnTo>
                      <a:pt x="419222" y="277779"/>
                    </a:lnTo>
                    <a:lnTo>
                      <a:pt x="180458" y="39017"/>
                    </a:lnTo>
                    <a:lnTo>
                      <a:pt x="0" y="219475"/>
                    </a:lnTo>
                    <a:lnTo>
                      <a:pt x="0" y="18045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B7A900B-006E-46F4-831E-5AABAEE45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4492" y="1103896"/>
            <a:ext cx="4965868" cy="4598497"/>
            <a:chOff x="1674895" y="1345036"/>
            <a:chExt cx="5428610" cy="4210939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C1D3151-5F97-4860-B56C-C98BD62CC2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AD33695-C117-4AEE-9AF5-65F13C6CC3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3">
                <a:alpha val="2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90A7F83A-9728-4030-8E45-9ECF1ABCC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039" y="1073782"/>
            <a:ext cx="4860256" cy="45292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3AEBB2-CA5C-A537-8256-A995D50EBC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254952"/>
            <a:ext cx="4324642" cy="2309515"/>
          </a:xfrm>
        </p:spPr>
        <p:txBody>
          <a:bodyPr>
            <a:normAutofit/>
          </a:bodyPr>
          <a:lstStyle/>
          <a:p>
            <a:r>
              <a:rPr lang="en-US" sz="3800" dirty="0"/>
              <a:t>Prog2590</a:t>
            </a:r>
            <a:br>
              <a:rPr lang="en-US" sz="3800" dirty="0"/>
            </a:br>
            <a:r>
              <a:rPr lang="en-US" sz="3800" dirty="0"/>
              <a:t>Group-5</a:t>
            </a:r>
            <a:br>
              <a:rPr lang="en-US" sz="3800" dirty="0"/>
            </a:br>
            <a:endParaRPr lang="en-US" sz="3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5DF10C-0673-B343-6B00-316E87C87B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113303"/>
            <a:ext cx="4324642" cy="1372772"/>
          </a:xfrm>
        </p:spPr>
        <p:txBody>
          <a:bodyPr>
            <a:normAutofit fontScale="55000" lnSpcReduction="20000"/>
          </a:bodyPr>
          <a:lstStyle/>
          <a:p>
            <a:pPr>
              <a:lnSpc>
                <a:spcPct val="100000"/>
              </a:lnSpc>
            </a:pPr>
            <a:r>
              <a:rPr lang="en-CA" sz="2000" dirty="0"/>
              <a:t>Group Members</a:t>
            </a:r>
          </a:p>
          <a:p>
            <a:pPr>
              <a:lnSpc>
                <a:spcPct val="100000"/>
              </a:lnSpc>
            </a:pPr>
            <a:r>
              <a:rPr lang="en-CA" sz="2000" dirty="0"/>
              <a:t>Harkamal Singh Toor</a:t>
            </a:r>
          </a:p>
          <a:p>
            <a:pPr>
              <a:lnSpc>
                <a:spcPct val="100000"/>
              </a:lnSpc>
            </a:pPr>
            <a:r>
              <a:rPr lang="en-CA" sz="2000" dirty="0" err="1"/>
              <a:t>Harsimranpreet</a:t>
            </a:r>
            <a:r>
              <a:rPr lang="en-CA" sz="2000" dirty="0"/>
              <a:t> </a:t>
            </a:r>
            <a:r>
              <a:rPr lang="en-CA" sz="2000" dirty="0" err="1"/>
              <a:t>kaur</a:t>
            </a:r>
            <a:endParaRPr lang="en-CA" sz="2000" dirty="0"/>
          </a:p>
          <a:p>
            <a:pPr>
              <a:lnSpc>
                <a:spcPct val="100000"/>
              </a:lnSpc>
            </a:pPr>
            <a:r>
              <a:rPr lang="en-CA" sz="2000" dirty="0"/>
              <a:t>SaInabou samba camara</a:t>
            </a:r>
          </a:p>
          <a:p>
            <a:pPr>
              <a:lnSpc>
                <a:spcPct val="100000"/>
              </a:lnSpc>
            </a:pPr>
            <a:r>
              <a:rPr lang="en-CA" sz="2000" dirty="0"/>
              <a:t>Lewis Moura</a:t>
            </a:r>
          </a:p>
          <a:p>
            <a:pPr>
              <a:lnSpc>
                <a:spcPct val="100000"/>
              </a:lnSpc>
            </a:pPr>
            <a:endParaRPr lang="en-CA" sz="2000" dirty="0"/>
          </a:p>
          <a:p>
            <a:pPr>
              <a:lnSpc>
                <a:spcPct val="100000"/>
              </a:lnSpc>
            </a:pPr>
            <a:endParaRPr lang="en-US" sz="200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A2B5CBEA-F125-49B6-8335-227C325B1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10790119" y="0"/>
            <a:ext cx="1401881" cy="1345036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EA9761C-7BB2-45E5-A5DB-A0B353624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10790119" y="0"/>
            <a:ext cx="1401881" cy="1345036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D1A5E71-B6B6-486A-8CDC-C7ABD9B90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634" y="4727300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E44D629-6B8E-4D88-A77E-149C0ED03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634" y="4727300"/>
            <a:ext cx="319941" cy="319941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 descr="Angle view of circuit shaped like a brain">
            <a:extLst>
              <a:ext uri="{FF2B5EF4-FFF2-40B4-BE49-F238E27FC236}">
                <a16:creationId xmlns:a16="http://schemas.microsoft.com/office/drawing/2014/main" id="{D789FFAD-EC98-720B-9A5C-E6C527BD2F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72" r="3909"/>
          <a:stretch>
            <a:fillRect/>
          </a:stretch>
        </p:blipFill>
        <p:spPr>
          <a:xfrm>
            <a:off x="6094114" y="1321031"/>
            <a:ext cx="5428611" cy="4210940"/>
          </a:xfrm>
          <a:prstGeom prst="rect">
            <a:avLst/>
          </a:prstGeom>
          <a:ln w="28575">
            <a:noFill/>
          </a:ln>
        </p:spPr>
      </p:pic>
      <p:grpSp>
        <p:nvGrpSpPr>
          <p:cNvPr id="42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03907" y="5801515"/>
            <a:ext cx="1054466" cy="469689"/>
            <a:chOff x="9841624" y="4115729"/>
            <a:chExt cx="602169" cy="268223"/>
          </a:xfrm>
          <a:solidFill>
            <a:srgbClr val="FFFFFF"/>
          </a:solidFill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9" name="Graphic 185">
            <a:extLst>
              <a:ext uri="{FF2B5EF4-FFF2-40B4-BE49-F238E27FC236}">
                <a16:creationId xmlns:a16="http://schemas.microsoft.com/office/drawing/2014/main" id="{8B6BCBAB-41A5-4D6D-8C9B-55E3AA6FC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03907" y="5801515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55217F1-B506-4443-A399-CFFA441CD6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CB8C0F31-7A0C-4630-A379-0B4719A1F7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2D43873-56D9-4AC1-AB59-A1E78D6797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B2197D5-22E1-47CC-83CF-9E64CCD57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05DC5D97-506B-47F6-B9A7-D8FA26C88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ECC426B-6278-AA66-8171-E4A300580360}"/>
              </a:ext>
            </a:extLst>
          </p:cNvPr>
          <p:cNvSpPr txBox="1"/>
          <p:nvPr/>
        </p:nvSpPr>
        <p:spPr>
          <a:xfrm>
            <a:off x="1124475" y="3103335"/>
            <a:ext cx="37193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     Income Classification Using        	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4072255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0" name="Rectangle 189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361" name="Oval 360">
            <a:extLst>
              <a:ext uri="{FF2B5EF4-FFF2-40B4-BE49-F238E27FC236}">
                <a16:creationId xmlns:a16="http://schemas.microsoft.com/office/drawing/2014/main" id="{A99050EE-26AF-4253-BD50-F0FCD965A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284" y="575361"/>
            <a:ext cx="5707277" cy="5707277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0D3DC9-3D78-A958-F99D-811DC5BEB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48452"/>
            <a:ext cx="4974771" cy="3587786"/>
          </a:xfrm>
        </p:spPr>
        <p:txBody>
          <a:bodyPr>
            <a:normAutofit/>
          </a:bodyPr>
          <a:lstStyle/>
          <a:p>
            <a:pPr algn="ctr"/>
            <a:r>
              <a:rPr lang="en-CA" dirty="0"/>
              <a:t>Problem Overview</a:t>
            </a:r>
            <a:br>
              <a:rPr lang="en-CA" dirty="0"/>
            </a:br>
            <a:endParaRPr lang="en-US" dirty="0"/>
          </a:p>
        </p:txBody>
      </p:sp>
      <p:grpSp>
        <p:nvGrpSpPr>
          <p:cNvPr id="362" name="Graphic 190">
            <a:extLst>
              <a:ext uri="{FF2B5EF4-FFF2-40B4-BE49-F238E27FC236}">
                <a16:creationId xmlns:a16="http://schemas.microsoft.com/office/drawing/2014/main" id="{00E015F5-1A99-4E40-BC3D-770780299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93117" y="1193254"/>
            <a:ext cx="1291642" cy="429215"/>
            <a:chOff x="2504802" y="1755501"/>
            <a:chExt cx="1598829" cy="531293"/>
          </a:xfrm>
          <a:solidFill>
            <a:schemeClr val="tx1"/>
          </a:solidFill>
        </p:grpSpPr>
        <p:sp>
          <p:nvSpPr>
            <p:cNvPr id="363" name="Freeform: Shape 12">
              <a:extLst>
                <a:ext uri="{FF2B5EF4-FFF2-40B4-BE49-F238E27FC236}">
                  <a16:creationId xmlns:a16="http://schemas.microsoft.com/office/drawing/2014/main" id="{3FE6F571-2BB7-46DA-A3D9-B32ADDC16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4" name="Freeform: Shape 13">
              <a:extLst>
                <a:ext uri="{FF2B5EF4-FFF2-40B4-BE49-F238E27FC236}">
                  <a16:creationId xmlns:a16="http://schemas.microsoft.com/office/drawing/2014/main" id="{A905CC16-753C-4B9F-B3E2-C456795AE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65" name="Graphic 212">
            <a:extLst>
              <a:ext uri="{FF2B5EF4-FFF2-40B4-BE49-F238E27FC236}">
                <a16:creationId xmlns:a16="http://schemas.microsoft.com/office/drawing/2014/main" id="{D0C78466-EB6E-45A0-99A6-A00789ACD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7727" y="421588"/>
            <a:ext cx="1291468" cy="1291468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66" name="Graphic 212">
            <a:extLst>
              <a:ext uri="{FF2B5EF4-FFF2-40B4-BE49-F238E27FC236}">
                <a16:creationId xmlns:a16="http://schemas.microsoft.com/office/drawing/2014/main" id="{E99F76E4-5DFD-4DBE-B042-66FBCD118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7727" y="421588"/>
            <a:ext cx="1291468" cy="1291468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367" name="Graphic 4">
            <a:extLst>
              <a:ext uri="{FF2B5EF4-FFF2-40B4-BE49-F238E27FC236}">
                <a16:creationId xmlns:a16="http://schemas.microsoft.com/office/drawing/2014/main" id="{5468B3A9-705E-43C3-A742-0619B0D8F2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0915" y="4748271"/>
            <a:ext cx="1330536" cy="1330521"/>
            <a:chOff x="5734037" y="3067039"/>
            <a:chExt cx="724483" cy="724489"/>
          </a:xfrm>
          <a:solidFill>
            <a:schemeClr val="tx1"/>
          </a:solidFill>
        </p:grpSpPr>
        <p:sp>
          <p:nvSpPr>
            <p:cNvPr id="368" name="Freeform: Shape 20">
              <a:extLst>
                <a:ext uri="{FF2B5EF4-FFF2-40B4-BE49-F238E27FC236}">
                  <a16:creationId xmlns:a16="http://schemas.microsoft.com/office/drawing/2014/main" id="{29D439AD-5D67-497C-B831-D17FC3E59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9" name="Freeform: Shape 21">
              <a:extLst>
                <a:ext uri="{FF2B5EF4-FFF2-40B4-BE49-F238E27FC236}">
                  <a16:creationId xmlns:a16="http://schemas.microsoft.com/office/drawing/2014/main" id="{23F54BF2-C71C-45C5-9408-3B5E011B0F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0" name="Freeform: Shape 22">
              <a:extLst>
                <a:ext uri="{FF2B5EF4-FFF2-40B4-BE49-F238E27FC236}">
                  <a16:creationId xmlns:a16="http://schemas.microsoft.com/office/drawing/2014/main" id="{2BBABE17-DB56-44AB-934B-63C07C79F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1" name="Freeform: Shape 23">
              <a:extLst>
                <a:ext uri="{FF2B5EF4-FFF2-40B4-BE49-F238E27FC236}">
                  <a16:creationId xmlns:a16="http://schemas.microsoft.com/office/drawing/2014/main" id="{CB483D20-A128-4076-AF54-88646172B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2" name="Freeform: Shape 24">
              <a:extLst>
                <a:ext uri="{FF2B5EF4-FFF2-40B4-BE49-F238E27FC236}">
                  <a16:creationId xmlns:a16="http://schemas.microsoft.com/office/drawing/2014/main" id="{E5EFA818-FDDA-49E9-B11F-E9DC1854A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3" name="Freeform: Shape 25">
              <a:extLst>
                <a:ext uri="{FF2B5EF4-FFF2-40B4-BE49-F238E27FC236}">
                  <a16:creationId xmlns:a16="http://schemas.microsoft.com/office/drawing/2014/main" id="{EA1F8728-F8F7-4828-A718-A15E7663EA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4" name="Freeform: Shape 26">
              <a:extLst>
                <a:ext uri="{FF2B5EF4-FFF2-40B4-BE49-F238E27FC236}">
                  <a16:creationId xmlns:a16="http://schemas.microsoft.com/office/drawing/2014/main" id="{8DA1F73F-AA1D-41D7-BAAB-292FD94A3E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5" name="Freeform: Shape 27">
              <a:extLst>
                <a:ext uri="{FF2B5EF4-FFF2-40B4-BE49-F238E27FC236}">
                  <a16:creationId xmlns:a16="http://schemas.microsoft.com/office/drawing/2014/main" id="{D9441DEA-C85E-4B9C-A48D-8437854C4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6" name="Freeform: Shape 28">
              <a:extLst>
                <a:ext uri="{FF2B5EF4-FFF2-40B4-BE49-F238E27FC236}">
                  <a16:creationId xmlns:a16="http://schemas.microsoft.com/office/drawing/2014/main" id="{15EBAA20-1368-4495-8D7C-820FAD8E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7" name="Freeform: Shape 29">
              <a:extLst>
                <a:ext uri="{FF2B5EF4-FFF2-40B4-BE49-F238E27FC236}">
                  <a16:creationId xmlns:a16="http://schemas.microsoft.com/office/drawing/2014/main" id="{0FB92591-626C-4D2B-A3E6-EC8742D67B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392448D-513F-4528-9D8D-A151982041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8" name="Freeform: Shape 31">
              <a:extLst>
                <a:ext uri="{FF2B5EF4-FFF2-40B4-BE49-F238E27FC236}">
                  <a16:creationId xmlns:a16="http://schemas.microsoft.com/office/drawing/2014/main" id="{61946BAE-1546-4EA4-A108-A799BF5D2C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9" name="Freeform: Shape 32">
              <a:extLst>
                <a:ext uri="{FF2B5EF4-FFF2-40B4-BE49-F238E27FC236}">
                  <a16:creationId xmlns:a16="http://schemas.microsoft.com/office/drawing/2014/main" id="{42A8EC93-6A35-4D37-A8CB-59362BF875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0" name="Freeform: Shape 33">
              <a:extLst>
                <a:ext uri="{FF2B5EF4-FFF2-40B4-BE49-F238E27FC236}">
                  <a16:creationId xmlns:a16="http://schemas.microsoft.com/office/drawing/2014/main" id="{AFC3ECA2-E914-4D83-ABF9-B9FFD96E92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1" name="Freeform: Shape 34">
              <a:extLst>
                <a:ext uri="{FF2B5EF4-FFF2-40B4-BE49-F238E27FC236}">
                  <a16:creationId xmlns:a16="http://schemas.microsoft.com/office/drawing/2014/main" id="{712B1108-9AAC-4F10-A64F-0D6963E518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2" name="Freeform: Shape 35">
              <a:extLst>
                <a:ext uri="{FF2B5EF4-FFF2-40B4-BE49-F238E27FC236}">
                  <a16:creationId xmlns:a16="http://schemas.microsoft.com/office/drawing/2014/main" id="{284CDA0C-B2AB-4791-83B1-C053C061D6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3" name="Freeform: Shape 36">
              <a:extLst>
                <a:ext uri="{FF2B5EF4-FFF2-40B4-BE49-F238E27FC236}">
                  <a16:creationId xmlns:a16="http://schemas.microsoft.com/office/drawing/2014/main" id="{F857BF6B-E0CA-49C0-8827-B44CE8B92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4" name="Freeform: Shape 37">
              <a:extLst>
                <a:ext uri="{FF2B5EF4-FFF2-40B4-BE49-F238E27FC236}">
                  <a16:creationId xmlns:a16="http://schemas.microsoft.com/office/drawing/2014/main" id="{6D7B06A7-ADDF-4F27-B11F-08422FC18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5" name="Freeform: Shape 38">
              <a:extLst>
                <a:ext uri="{FF2B5EF4-FFF2-40B4-BE49-F238E27FC236}">
                  <a16:creationId xmlns:a16="http://schemas.microsoft.com/office/drawing/2014/main" id="{E8B0DA6C-71D7-4FCB-AE4C-035E0ADB50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6" name="Freeform: Shape 39">
              <a:extLst>
                <a:ext uri="{FF2B5EF4-FFF2-40B4-BE49-F238E27FC236}">
                  <a16:creationId xmlns:a16="http://schemas.microsoft.com/office/drawing/2014/main" id="{EB078173-ADFB-480D-91A4-4D71C0109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7" name="Freeform: Shape 40">
              <a:extLst>
                <a:ext uri="{FF2B5EF4-FFF2-40B4-BE49-F238E27FC236}">
                  <a16:creationId xmlns:a16="http://schemas.microsoft.com/office/drawing/2014/main" id="{AAA4027A-C97B-4C9A-B04C-EBE2112200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8" name="Freeform: Shape 41">
              <a:extLst>
                <a:ext uri="{FF2B5EF4-FFF2-40B4-BE49-F238E27FC236}">
                  <a16:creationId xmlns:a16="http://schemas.microsoft.com/office/drawing/2014/main" id="{C06DA92D-C6D0-4C7D-98CF-D9576912E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9" name="Freeform: Shape 42">
              <a:extLst>
                <a:ext uri="{FF2B5EF4-FFF2-40B4-BE49-F238E27FC236}">
                  <a16:creationId xmlns:a16="http://schemas.microsoft.com/office/drawing/2014/main" id="{D6601653-3941-4C9B-BD39-62EECE23AE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0" name="Freeform: Shape 43">
              <a:extLst>
                <a:ext uri="{FF2B5EF4-FFF2-40B4-BE49-F238E27FC236}">
                  <a16:creationId xmlns:a16="http://schemas.microsoft.com/office/drawing/2014/main" id="{2BC4A394-4FFE-4BFE-9A59-2B624E071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1" name="Freeform: Shape 44">
              <a:extLst>
                <a:ext uri="{FF2B5EF4-FFF2-40B4-BE49-F238E27FC236}">
                  <a16:creationId xmlns:a16="http://schemas.microsoft.com/office/drawing/2014/main" id="{EB4EABA5-FDCF-4F6F-8FF1-6FDFF5058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0F3C940-2320-488A-B24C-AB0A4FB53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2" name="Freeform: Shape 46">
              <a:extLst>
                <a:ext uri="{FF2B5EF4-FFF2-40B4-BE49-F238E27FC236}">
                  <a16:creationId xmlns:a16="http://schemas.microsoft.com/office/drawing/2014/main" id="{F525BA82-37D8-47ED-AFF6-AE57124A4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2D78955-C80F-4DA3-83AA-D28A5A6FA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C23DAAC-7C06-4012-8CBB-8E3126B68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0D19F80-DC80-49EC-8EDD-7889092C1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1F50BB3-EA39-4693-BAE1-1101EF0A4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0EFD45B-69A8-47F6-A5BF-779F7EB49F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9E53C464-7272-4EBC-830B-CB29A9698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6BF10CE-C2AD-487A-9402-8D5C746ECF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064C7FE-F8EB-47EF-97FA-348A520599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991C553-06A1-4F26-BBBC-80F7E11E7A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CE9C081-2191-4C84-956E-F106BB015C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292F6F03-BC34-40C6-8F17-7A169CD72F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5101B80-7351-4F0F-AB7D-3E40B4D266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570EE1D-95AC-4660-8E96-7C8A36FEB6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85D9A56-2D15-4E0A-B981-E168F0906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3" name="Freeform: Shape 61">
              <a:extLst>
                <a:ext uri="{FF2B5EF4-FFF2-40B4-BE49-F238E27FC236}">
                  <a16:creationId xmlns:a16="http://schemas.microsoft.com/office/drawing/2014/main" id="{28D0BA2F-9273-4EAA-AD17-C4EFE11403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4" name="Freeform: Shape 62">
              <a:extLst>
                <a:ext uri="{FF2B5EF4-FFF2-40B4-BE49-F238E27FC236}">
                  <a16:creationId xmlns:a16="http://schemas.microsoft.com/office/drawing/2014/main" id="{512CC54E-7976-4DC9-984C-45C2A23A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5" name="Freeform: Shape 63">
              <a:extLst>
                <a:ext uri="{FF2B5EF4-FFF2-40B4-BE49-F238E27FC236}">
                  <a16:creationId xmlns:a16="http://schemas.microsoft.com/office/drawing/2014/main" id="{C8A3FC72-9FF9-41F6-97E0-45A0FEE94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6" name="Freeform: Shape 64">
              <a:extLst>
                <a:ext uri="{FF2B5EF4-FFF2-40B4-BE49-F238E27FC236}">
                  <a16:creationId xmlns:a16="http://schemas.microsoft.com/office/drawing/2014/main" id="{48918C16-C9B6-40D5-93A0-DB547B644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7" name="Freeform: Shape 65">
              <a:extLst>
                <a:ext uri="{FF2B5EF4-FFF2-40B4-BE49-F238E27FC236}">
                  <a16:creationId xmlns:a16="http://schemas.microsoft.com/office/drawing/2014/main" id="{A05612C6-4858-4854-A3D3-90CF1E1C75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8" name="Freeform: Shape 66">
              <a:extLst>
                <a:ext uri="{FF2B5EF4-FFF2-40B4-BE49-F238E27FC236}">
                  <a16:creationId xmlns:a16="http://schemas.microsoft.com/office/drawing/2014/main" id="{A8E88D77-C726-4008-849C-DA7361F885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9" name="Freeform: Shape 67">
              <a:extLst>
                <a:ext uri="{FF2B5EF4-FFF2-40B4-BE49-F238E27FC236}">
                  <a16:creationId xmlns:a16="http://schemas.microsoft.com/office/drawing/2014/main" id="{24CFE7CA-C955-4365-90C3-6272CB9A3C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0" name="Freeform: Shape 68">
              <a:extLst>
                <a:ext uri="{FF2B5EF4-FFF2-40B4-BE49-F238E27FC236}">
                  <a16:creationId xmlns:a16="http://schemas.microsoft.com/office/drawing/2014/main" id="{38B43FC8-B81C-490A-A346-4C6235DA8A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1" name="Freeform: Shape 69">
              <a:extLst>
                <a:ext uri="{FF2B5EF4-FFF2-40B4-BE49-F238E27FC236}">
                  <a16:creationId xmlns:a16="http://schemas.microsoft.com/office/drawing/2014/main" id="{214D0221-0C97-4C71-B535-7506956EF8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2" name="Freeform: Shape 70">
              <a:extLst>
                <a:ext uri="{FF2B5EF4-FFF2-40B4-BE49-F238E27FC236}">
                  <a16:creationId xmlns:a16="http://schemas.microsoft.com/office/drawing/2014/main" id="{ED0C44EA-BD25-49A3-9EB8-9D8DED7C1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" name="Freeform: Shape 71">
              <a:extLst>
                <a:ext uri="{FF2B5EF4-FFF2-40B4-BE49-F238E27FC236}">
                  <a16:creationId xmlns:a16="http://schemas.microsoft.com/office/drawing/2014/main" id="{A3C9CCF2-15CC-4F7D-87F5-7FFEBAC9C2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" name="Freeform: Shape 72">
              <a:extLst>
                <a:ext uri="{FF2B5EF4-FFF2-40B4-BE49-F238E27FC236}">
                  <a16:creationId xmlns:a16="http://schemas.microsoft.com/office/drawing/2014/main" id="{8AA321D8-1D2C-472C-A2DB-EBB74498DD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4680C1-4BB5-45DB-A558-82514418C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" name="Freeform: Shape 74">
              <a:extLst>
                <a:ext uri="{FF2B5EF4-FFF2-40B4-BE49-F238E27FC236}">
                  <a16:creationId xmlns:a16="http://schemas.microsoft.com/office/drawing/2014/main" id="{C94F4CEF-82DD-4CFB-8EE3-4AB115F6A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6" name="Freeform: Shape 75">
              <a:extLst>
                <a:ext uri="{FF2B5EF4-FFF2-40B4-BE49-F238E27FC236}">
                  <a16:creationId xmlns:a16="http://schemas.microsoft.com/office/drawing/2014/main" id="{4F186C9C-C620-4426-A674-E40F808F66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929942C-BA3F-40EF-94DD-4A5C22C5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7" name="Freeform: Shape 77">
              <a:extLst>
                <a:ext uri="{FF2B5EF4-FFF2-40B4-BE49-F238E27FC236}">
                  <a16:creationId xmlns:a16="http://schemas.microsoft.com/office/drawing/2014/main" id="{D234974B-3555-465B-95A7-1C63CE7386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8" name="Freeform: Shape 78">
              <a:extLst>
                <a:ext uri="{FF2B5EF4-FFF2-40B4-BE49-F238E27FC236}">
                  <a16:creationId xmlns:a16="http://schemas.microsoft.com/office/drawing/2014/main" id="{0E38F9FD-48AC-4C3E-9E75-D1C0B555E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9" name="Freeform: Shape 79">
              <a:extLst>
                <a:ext uri="{FF2B5EF4-FFF2-40B4-BE49-F238E27FC236}">
                  <a16:creationId xmlns:a16="http://schemas.microsoft.com/office/drawing/2014/main" id="{3AA72E26-5C3D-4231-9042-E00AE43E8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6684433D-3C9E-4C19-A801-D51CF3064F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0" name="Freeform: Shape 81">
              <a:extLst>
                <a:ext uri="{FF2B5EF4-FFF2-40B4-BE49-F238E27FC236}">
                  <a16:creationId xmlns:a16="http://schemas.microsoft.com/office/drawing/2014/main" id="{DADB0C3D-A021-4F40-93B3-76B61334F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1" name="Freeform: Shape 82">
              <a:extLst>
                <a:ext uri="{FF2B5EF4-FFF2-40B4-BE49-F238E27FC236}">
                  <a16:creationId xmlns:a16="http://schemas.microsoft.com/office/drawing/2014/main" id="{41781C18-F408-401D-8A86-99FFBB9895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2" name="Freeform: Shape 83">
              <a:extLst>
                <a:ext uri="{FF2B5EF4-FFF2-40B4-BE49-F238E27FC236}">
                  <a16:creationId xmlns:a16="http://schemas.microsoft.com/office/drawing/2014/main" id="{9D958D9F-E4B0-48B1-ADA4-3053AFB5D9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3" name="Freeform: Shape 84">
              <a:extLst>
                <a:ext uri="{FF2B5EF4-FFF2-40B4-BE49-F238E27FC236}">
                  <a16:creationId xmlns:a16="http://schemas.microsoft.com/office/drawing/2014/main" id="{43EFCD46-F0FB-499C-81B9-3508FE5C8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B6A130F-CB85-4BDA-8DDF-8DAAB2F7D0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359DA40-CA94-4B1F-9BE6-C800BEEC77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4" name="Freeform: Shape 87">
              <a:extLst>
                <a:ext uri="{FF2B5EF4-FFF2-40B4-BE49-F238E27FC236}">
                  <a16:creationId xmlns:a16="http://schemas.microsoft.com/office/drawing/2014/main" id="{73304FCD-8DAD-4BC8-A16E-84DDCA07FF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5" name="Freeform: Shape 88">
              <a:extLst>
                <a:ext uri="{FF2B5EF4-FFF2-40B4-BE49-F238E27FC236}">
                  <a16:creationId xmlns:a16="http://schemas.microsoft.com/office/drawing/2014/main" id="{BCB4864C-8F67-4BE7-89CC-664EA25EC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6" name="Freeform: Shape 89">
              <a:extLst>
                <a:ext uri="{FF2B5EF4-FFF2-40B4-BE49-F238E27FC236}">
                  <a16:creationId xmlns:a16="http://schemas.microsoft.com/office/drawing/2014/main" id="{845F543D-67FC-4640-A2A1-69DA6D0528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7" name="Freeform: Shape 90">
              <a:extLst>
                <a:ext uri="{FF2B5EF4-FFF2-40B4-BE49-F238E27FC236}">
                  <a16:creationId xmlns:a16="http://schemas.microsoft.com/office/drawing/2014/main" id="{DBDB2A9C-60E5-4F7E-BA2B-4DD1595FB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8" name="Freeform: Shape 91">
              <a:extLst>
                <a:ext uri="{FF2B5EF4-FFF2-40B4-BE49-F238E27FC236}">
                  <a16:creationId xmlns:a16="http://schemas.microsoft.com/office/drawing/2014/main" id="{72B10DA2-D88E-4952-BDB5-102E61B4B2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9" name="Freeform: Shape 92">
              <a:extLst>
                <a:ext uri="{FF2B5EF4-FFF2-40B4-BE49-F238E27FC236}">
                  <a16:creationId xmlns:a16="http://schemas.microsoft.com/office/drawing/2014/main" id="{AC5F5BED-3698-4F52-9977-D8CA2DC031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0" name="Freeform: Shape 93">
              <a:extLst>
                <a:ext uri="{FF2B5EF4-FFF2-40B4-BE49-F238E27FC236}">
                  <a16:creationId xmlns:a16="http://schemas.microsoft.com/office/drawing/2014/main" id="{E19CCEBC-AD20-45B2-A751-42B40BB31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1" name="Freeform: Shape 94">
              <a:extLst>
                <a:ext uri="{FF2B5EF4-FFF2-40B4-BE49-F238E27FC236}">
                  <a16:creationId xmlns:a16="http://schemas.microsoft.com/office/drawing/2014/main" id="{3A978AD9-9A35-4B89-B3BC-61E54AD9EB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2" name="Freeform: Shape 95">
              <a:extLst>
                <a:ext uri="{FF2B5EF4-FFF2-40B4-BE49-F238E27FC236}">
                  <a16:creationId xmlns:a16="http://schemas.microsoft.com/office/drawing/2014/main" id="{77D8C808-AFC9-42DD-B253-0048903791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3" name="Freeform: Shape 96">
              <a:extLst>
                <a:ext uri="{FF2B5EF4-FFF2-40B4-BE49-F238E27FC236}">
                  <a16:creationId xmlns:a16="http://schemas.microsoft.com/office/drawing/2014/main" id="{EECD0BF1-7C64-407E-8306-4C447B1D3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4" name="Freeform: Shape 97">
              <a:extLst>
                <a:ext uri="{FF2B5EF4-FFF2-40B4-BE49-F238E27FC236}">
                  <a16:creationId xmlns:a16="http://schemas.microsoft.com/office/drawing/2014/main" id="{953B0F94-AC35-4CB2-878D-1DC7D68BE9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8EA50C2-BB5F-4368-AA91-67B207C1AB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DE45A7FE-0A45-45F6-8417-EBDA5A12D8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5" name="Freeform: Shape 100">
              <a:extLst>
                <a:ext uri="{FF2B5EF4-FFF2-40B4-BE49-F238E27FC236}">
                  <a16:creationId xmlns:a16="http://schemas.microsoft.com/office/drawing/2014/main" id="{DA8B8DC8-F88C-432E-A8C2-8D13FE874F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6" name="Freeform: Shape 101">
              <a:extLst>
                <a:ext uri="{FF2B5EF4-FFF2-40B4-BE49-F238E27FC236}">
                  <a16:creationId xmlns:a16="http://schemas.microsoft.com/office/drawing/2014/main" id="{D02C5430-233D-49F7-B852-181D2B2F61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7" name="Freeform: Shape 102">
              <a:extLst>
                <a:ext uri="{FF2B5EF4-FFF2-40B4-BE49-F238E27FC236}">
                  <a16:creationId xmlns:a16="http://schemas.microsoft.com/office/drawing/2014/main" id="{76DB286F-9E15-441C-8697-57007B76C1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8" name="Freeform: Shape 103">
              <a:extLst>
                <a:ext uri="{FF2B5EF4-FFF2-40B4-BE49-F238E27FC236}">
                  <a16:creationId xmlns:a16="http://schemas.microsoft.com/office/drawing/2014/main" id="{534DC0EE-15B7-44AE-A7DC-8B5E22688A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9" name="Freeform: Shape 104">
              <a:extLst>
                <a:ext uri="{FF2B5EF4-FFF2-40B4-BE49-F238E27FC236}">
                  <a16:creationId xmlns:a16="http://schemas.microsoft.com/office/drawing/2014/main" id="{4FBE9900-F640-4248-9C4C-EDBE5E00AF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0" name="Freeform: Shape 105">
              <a:extLst>
                <a:ext uri="{FF2B5EF4-FFF2-40B4-BE49-F238E27FC236}">
                  <a16:creationId xmlns:a16="http://schemas.microsoft.com/office/drawing/2014/main" id="{37FF04AF-F86B-49F8-AAB5-DA696591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1" name="Freeform: Shape 106">
              <a:extLst>
                <a:ext uri="{FF2B5EF4-FFF2-40B4-BE49-F238E27FC236}">
                  <a16:creationId xmlns:a16="http://schemas.microsoft.com/office/drawing/2014/main" id="{710DCFEA-4572-47A3-A6BE-7B21F5758C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2" name="Freeform: Shape 107">
              <a:extLst>
                <a:ext uri="{FF2B5EF4-FFF2-40B4-BE49-F238E27FC236}">
                  <a16:creationId xmlns:a16="http://schemas.microsoft.com/office/drawing/2014/main" id="{BA42ED8E-CCC8-478F-9EF4-625B63307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3" name="Freeform: Shape 108">
              <a:extLst>
                <a:ext uri="{FF2B5EF4-FFF2-40B4-BE49-F238E27FC236}">
                  <a16:creationId xmlns:a16="http://schemas.microsoft.com/office/drawing/2014/main" id="{146DF8F4-DF09-4E6C-887F-C9269E56A5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7FF3916E-5C82-4956-A88B-81BFAC91B8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4" name="Freeform: Shape 110">
              <a:extLst>
                <a:ext uri="{FF2B5EF4-FFF2-40B4-BE49-F238E27FC236}">
                  <a16:creationId xmlns:a16="http://schemas.microsoft.com/office/drawing/2014/main" id="{7E5CF7AE-ED45-4AB5-9AEB-56FC964BFA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5" name="Freeform: Shape 111">
              <a:extLst>
                <a:ext uri="{FF2B5EF4-FFF2-40B4-BE49-F238E27FC236}">
                  <a16:creationId xmlns:a16="http://schemas.microsoft.com/office/drawing/2014/main" id="{7CFB132C-BEB1-4897-B1A4-97422811F6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6" name="Freeform: Shape 112">
              <a:extLst>
                <a:ext uri="{FF2B5EF4-FFF2-40B4-BE49-F238E27FC236}">
                  <a16:creationId xmlns:a16="http://schemas.microsoft.com/office/drawing/2014/main" id="{4EE49F21-E336-41BC-8256-85A9AB59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7" name="Freeform: Shape 113">
              <a:extLst>
                <a:ext uri="{FF2B5EF4-FFF2-40B4-BE49-F238E27FC236}">
                  <a16:creationId xmlns:a16="http://schemas.microsoft.com/office/drawing/2014/main" id="{C62510EE-BDCD-4393-9AD7-2D0C9A722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8" name="Freeform: Shape 114">
              <a:extLst>
                <a:ext uri="{FF2B5EF4-FFF2-40B4-BE49-F238E27FC236}">
                  <a16:creationId xmlns:a16="http://schemas.microsoft.com/office/drawing/2014/main" id="{2420F94B-4F00-4C6C-97E3-BA5B5E687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712560A-A110-4132-85D5-21BBBFA8C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9" name="Freeform: Shape 116">
              <a:extLst>
                <a:ext uri="{FF2B5EF4-FFF2-40B4-BE49-F238E27FC236}">
                  <a16:creationId xmlns:a16="http://schemas.microsoft.com/office/drawing/2014/main" id="{D1E3102B-23D5-43AE-A67D-583AAA52B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0" name="Freeform: Shape 117">
              <a:extLst>
                <a:ext uri="{FF2B5EF4-FFF2-40B4-BE49-F238E27FC236}">
                  <a16:creationId xmlns:a16="http://schemas.microsoft.com/office/drawing/2014/main" id="{9D5ABE4E-EB80-423C-BBCE-9C1B77D9B0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1" name="Freeform: Shape 118">
              <a:extLst>
                <a:ext uri="{FF2B5EF4-FFF2-40B4-BE49-F238E27FC236}">
                  <a16:creationId xmlns:a16="http://schemas.microsoft.com/office/drawing/2014/main" id="{BEB8CCC5-38F5-4892-A00B-14B645BBDF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2" name="Freeform: Shape 119">
              <a:extLst>
                <a:ext uri="{FF2B5EF4-FFF2-40B4-BE49-F238E27FC236}">
                  <a16:creationId xmlns:a16="http://schemas.microsoft.com/office/drawing/2014/main" id="{8860175F-F7D5-4464-AD61-5B435528F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3" name="Freeform: Shape 120">
              <a:extLst>
                <a:ext uri="{FF2B5EF4-FFF2-40B4-BE49-F238E27FC236}">
                  <a16:creationId xmlns:a16="http://schemas.microsoft.com/office/drawing/2014/main" id="{E28C20B0-98AA-4A5B-8CE1-236A3F6CAA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4" name="Freeform: Shape 121">
              <a:extLst>
                <a:ext uri="{FF2B5EF4-FFF2-40B4-BE49-F238E27FC236}">
                  <a16:creationId xmlns:a16="http://schemas.microsoft.com/office/drawing/2014/main" id="{8A56719F-13F0-4B75-8C04-DAACD8FD86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5" name="Freeform: Shape 122">
              <a:extLst>
                <a:ext uri="{FF2B5EF4-FFF2-40B4-BE49-F238E27FC236}">
                  <a16:creationId xmlns:a16="http://schemas.microsoft.com/office/drawing/2014/main" id="{B30555DA-285C-4859-83DE-B16FF6DB13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6" name="Freeform: Shape 123">
              <a:extLst>
                <a:ext uri="{FF2B5EF4-FFF2-40B4-BE49-F238E27FC236}">
                  <a16:creationId xmlns:a16="http://schemas.microsoft.com/office/drawing/2014/main" id="{67AF00E9-C8D6-41C4-9703-5468F51639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7" name="Freeform: Shape 124">
              <a:extLst>
                <a:ext uri="{FF2B5EF4-FFF2-40B4-BE49-F238E27FC236}">
                  <a16:creationId xmlns:a16="http://schemas.microsoft.com/office/drawing/2014/main" id="{D07F88BD-A2E8-4F25-BB43-9372C6C9F3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8" name="Freeform: Shape 125">
              <a:extLst>
                <a:ext uri="{FF2B5EF4-FFF2-40B4-BE49-F238E27FC236}">
                  <a16:creationId xmlns:a16="http://schemas.microsoft.com/office/drawing/2014/main" id="{DFAE35DA-8283-4F4B-8C00-FF8EFE39B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9" name="Freeform: Shape 126">
              <a:extLst>
                <a:ext uri="{FF2B5EF4-FFF2-40B4-BE49-F238E27FC236}">
                  <a16:creationId xmlns:a16="http://schemas.microsoft.com/office/drawing/2014/main" id="{4340DEBE-A255-48E2-B7B2-AE881651CE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0" name="Freeform: Shape 127">
              <a:extLst>
                <a:ext uri="{FF2B5EF4-FFF2-40B4-BE49-F238E27FC236}">
                  <a16:creationId xmlns:a16="http://schemas.microsoft.com/office/drawing/2014/main" id="{FE968FB9-507A-4F2E-B346-15995081B1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1" name="Freeform: Shape 128">
              <a:extLst>
                <a:ext uri="{FF2B5EF4-FFF2-40B4-BE49-F238E27FC236}">
                  <a16:creationId xmlns:a16="http://schemas.microsoft.com/office/drawing/2014/main" id="{4DA99BD8-9C2B-46BF-AA27-ED405540D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2" name="Freeform: Shape 129">
              <a:extLst>
                <a:ext uri="{FF2B5EF4-FFF2-40B4-BE49-F238E27FC236}">
                  <a16:creationId xmlns:a16="http://schemas.microsoft.com/office/drawing/2014/main" id="{50C84F67-D2C2-48DF-8537-DF99C6024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5CAEB9A-26A6-4FBF-916B-19FC9B0BF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E4DEDE1B-4819-4E4B-849E-330D7DF56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C441B73E-F19C-4313-8F46-F600603B36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14FE805-EF51-4859-A6DF-CF75F9A0F5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624CF2A5-BD9E-4570-8560-063BC70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6BEC415C-7946-43B2-9AC8-348B6B5CD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B615AD5-3365-43D4-8E16-377A2A2F97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9D184DFD-DD33-491E-90FF-6E4ECA2668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31B62FE1-0262-4B09-ABEA-8AA010137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20C539C6-FAA9-4EBE-93D9-1F946E1449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8C6EF3FF-09E5-4099-A49B-CA364A6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B3C5E06F-8F1E-4771-AAE4-B34B1D6A3D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538D5AE9-76CC-4AE4-B026-656EDCB01B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30F1A9B9-52AB-4527-BD4A-1802F7C960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6A57D78-C020-4EEF-971D-0C8802889A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7666D7A3-5ABF-4EDE-A0C5-F2099B2D86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13BC460A-E0FF-4658-A2FD-A3AF4D51DF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26467CC2-3AB3-4D37-8323-385B7399F7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63A1F58-33CE-4EDF-B902-3F43F69DA2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DCFAB2F-7E88-4A57-999A-2506A1FE7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571BEB66-3787-441F-BB54-80C05C6F13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641DC095-611E-4979-8664-6C0EB878F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210B9ECF-D859-4919-A9D6-3208548F00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4FBC31D4-7E98-452C-8A87-822DE0432C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302346C-F328-435B-87ED-447C6F8542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94F507E-9E94-432E-AE8A-A6CB2C5D05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1FFAC4F0-FD7F-4943-B60E-E276F8B23F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A8A5D871-92FD-43C3-BF94-0B524FA7D3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6A79A241-1665-453E-ADD4-18892D4F8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1EABE18-4189-4E07-93C9-9B76673E3E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B658A0EE-6F09-4EF7-B5E7-F23A556BD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5EB019C-C95B-4DE3-BD17-DC20F8007A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2948B3ED-79C1-47C8-B712-0BFB5536C3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3387DB9-900B-422D-90F7-C5C7EB5D5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48FDCCF3-E6D6-4CD0-9D47-02FE785C7A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BC14E8F6-33F6-47CE-9A24-EA71D7149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78CC38F-63FC-4552-B17B-8D79D3C8F8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89042823-A002-49CE-B03D-ED1291DC13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96EFC6CE-198B-489B-B1EE-72CE842628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9FEA23D-54D9-45D7-9325-1E2F638C9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DB04EE3-370F-49CE-BCFE-C2999C3CF2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8BCBCC34-797D-41A8-8AD1-7E03E1BBFF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AFF5C1F8-0EDE-4835-89E6-1FCB2EA39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6171D504-6300-457C-AFCC-064DBB3FC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62ACE739-C8C4-4495-B04C-C3AFC4481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3F4771CD-CDCA-4FFE-8EF5-E42D1781E7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A10C0BFE-A8F9-4E21-9DFD-37A4D26C62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4D8D4EF9-4EF7-4538-A4AE-439F9335EA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7E0500AB-5662-43B9-95C2-2EC80CC54F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84021AD-A6A2-4CDA-A953-72FBA7598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FD1FBF47-CAC8-4385-9DC7-C9BB6167E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FBAEE482-005F-4288-8D66-09EA246C45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2C5DCF49-33DE-4AFF-818E-42F59F280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66903F3-208B-46D5-925B-254DC74291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2550D219-E342-4A38-BB89-575C1EE7A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5B5485FC-95D0-4660-9594-2C9BD3B776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2EA358DA-C7E8-4DF8-B7D6-CC5829565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7990E8BB-4369-4845-8436-A6F3FE1D1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D6C050C5-1951-434B-A7FE-D271E73F8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191" name="Graphic 4">
            <a:extLst>
              <a:ext uri="{FF2B5EF4-FFF2-40B4-BE49-F238E27FC236}">
                <a16:creationId xmlns:a16="http://schemas.microsoft.com/office/drawing/2014/main" id="{773717CC-ECEE-4ABF-BA61-C59F468017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0915" y="4748271"/>
            <a:ext cx="1330536" cy="1330521"/>
            <a:chOff x="5734037" y="3067039"/>
            <a:chExt cx="724483" cy="724489"/>
          </a:xfrm>
          <a:solidFill>
            <a:schemeClr val="tx1">
              <a:alpha val="60000"/>
            </a:schemeClr>
          </a:solidFill>
        </p:grpSpPr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9A4FAE41-62DF-4B8E-BD66-8EC206E0E3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564C7F1F-5546-40DC-A16B-C9A3E45777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45583216-FC24-4B75-9703-DBEC401FF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2FD0A70D-2E7E-4048-8145-0F45EDBBCE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703C78E-D176-4455-B7B5-2DB4F418DB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AD23B98E-D1FB-4BD9-BA4A-060BC8266E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541992-EEDB-4D6B-BDA9-B66E58A17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08072B3B-B852-4186-ACFE-F61425132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7B5DD2CA-BCBA-4F3E-B472-84006768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C7335DFE-05E4-4D45-B035-1D85E7648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ADCF9375-A092-491A-960D-A4DBB376C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95341599-7E99-490F-9AF8-07EAE5C8DB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E1C55EB0-818A-46E6-8D53-5503100290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319B036C-5BD8-4F3B-8935-96D50F410D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A8445880-106C-4DC8-A250-D132F0D6F3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52AA1DD-5DBE-43CD-9B85-63C762692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2A412466-ED73-4944-83CE-224B1769C2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807E195A-10DB-494C-A547-E1D0C6F616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CD4AECE-734D-4B90-984F-B2ABFA2B6F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2927072E-8001-4AD1-A4C4-2EDBA3BF87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499D6F50-E593-46A3-81D8-73389276B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7A96E600-84B4-452B-AE40-295FC5807E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CBBA17AC-C1AB-4BFC-A051-457275D1D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488E850C-90D5-4D0F-A57D-7809327EF3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9F98D808-AB13-4D8D-B4C5-9D32153462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95AFFBC0-FF37-4117-86FA-21ABDA17A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ED0AC42A-17B0-4154-968C-CAE2A04C28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4A7A31A0-8490-4B9D-B9CC-7FF28053EB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8188899C-6A74-43D8-B36C-F86B278C89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1537EAA6-95B6-4674-A7B9-40F9AB7F59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F4B29507-C08F-4764-B703-0EB33A0FAC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4200E500-6A99-47FC-A30F-FA4C85DA8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9558677C-76AD-451F-AEEE-C5FEE4179C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79E472E5-A81A-44E7-AEBA-C3A593497B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5CD54F54-9E41-4635-A533-6CC6515E1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B22D6F46-74C0-49D9-8CD8-BC125E973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C6FAA6EC-EDF6-4522-ACD8-8D4F7FF872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5F8364DC-ED1A-482D-A418-7941B199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1896D361-70A8-4528-940B-F306550F88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4D1CB00A-0CE1-4E25-ADCE-9562845F54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E1B6761E-B7C6-4218-B95F-F6DEC0066D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CA081177-DAC3-4667-91A1-4CC885D4A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435007DC-BB8D-43BA-9598-AE79AA262E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46628B8A-02EC-44EF-B52C-5EBAFBCF9C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2DACEC99-8F4C-495C-8EAA-670A3A02ED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C8EFEAD4-1425-4357-9D8A-F326DABC6E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FDA70E94-A082-47D4-B4F8-142AEF1DC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10E96E8A-1EEA-4F1D-8CFE-12DC9B9E7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B12D7CC4-A548-4FF7-A6B2-9151CFA9E3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B3F1C68-B597-4669-87F8-C80124ABE0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A57037D2-0958-4F34-815F-C8CA7F86AE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30AF3969-3F11-4157-B4B9-33B131462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1D613E3-18F5-4426-ADEB-DEC123E16B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DC25548-A3A9-4018-A29B-6972D353F9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EDE6372-94D2-435D-BD43-A20072D80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729575A6-77E2-4199-8F0A-27C89330A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12EB506D-59AD-4011-80F8-36A2BDB954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92FD46FA-14EB-46A2-B4A3-ECD1F49BAC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1CD84E07-49A9-40E3-B34C-91C156C9C6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F3090306-C384-44A0-8C38-77397133BA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3515E97E-31A4-4273-AB55-8EAD74CB9E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792F63CA-0494-43E2-A0AA-37C35C8326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5389A040-E4CC-4CE7-8B9F-40ECA9ACE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1BA51B23-705C-49BE-B606-8A9B623E0A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B16EF17A-F451-4B5B-9052-33A9116E9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1B20B7D1-27D7-4E1A-A317-E9E7A105A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1E3FADAF-FD1D-45B2-A40D-EBDD536E7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301257BA-BCE2-4479-A04F-A9DBFAF92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619D0ABC-04D9-405A-A52F-5EEC01762A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123AE5C7-608A-47A7-B7A1-55662B70B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957BDA1A-3081-45EB-A31E-3F98EC6DC3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683DDA50-C794-4DC5-8297-CFDEB8DCB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FA42024A-A832-4635-9CE6-B968232CE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564D00AA-3E68-4F56-80A0-08D5DFFB6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988A711-E3E8-4172-AFE1-60E93FF10A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7A89FF34-EE34-461C-A3EF-73AC3801B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80D55E43-BE59-444D-B32B-9C0306A126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639C823F-B16B-4DF7-BA6E-0D832AAB27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E623C08-172F-41EA-90CB-59ED0D583B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94C0577F-0FF9-47D5-8C6D-FC7B4CC31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30C80E9D-7909-4C52-ACAD-80FF874F99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2B9598CE-4E74-4A54-BAB8-59379D2114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E7188EAA-47E1-4B73-8682-C74A0421BE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36900E8B-61F2-411F-B29F-A9CDC6E81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0A25598A-334A-487D-9604-4753EAE81E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C8DBE472-045A-491C-AB7C-4153EE2B00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2F6DD374-5D5F-48BB-8135-8F37EE2C2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386B8A5A-00D0-4291-937B-931B3F19CD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9C10BFA-8067-495D-810E-1F4085F7B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51F94E69-8294-4AB3-A457-3BD4ACF085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AD2859C5-45C5-4EE2-8272-0FA7A0235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14AFB321-1B9D-41AF-9686-8C689A3F4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5C4403F4-D893-4E4C-8DFE-E79AE6A62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A894316-677B-4B51-AF19-0D3FAF96A7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07FDE9AD-8F5A-44B0-AC7E-30148150D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A4D0E6BA-489D-4EA4-994E-225F7D078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7EDFBCCB-EC92-4860-BBDB-2EC6355FE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459DBA8E-2EB0-4C51-A161-2C595B89D4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FB1BA285-9A95-49B7-A098-F38400D92B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D29C405E-90F5-4AB5-8B5F-3CA2F1815A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F7214FFD-3321-412F-9CA5-4BC6E874F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5F16C3D8-64A1-443D-92A7-EA97518A63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7E4EFAB9-436A-4B6B-A16B-8DA3F614A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37DDFC3-D7A5-443D-8417-D723296DA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253AC142-F4B4-47E8-BBEE-F7D0F8547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890AAA82-94E2-41D0-AE92-9C87195CC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FD33B856-EF4E-40FC-BDA0-9E26203D0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24AEBF58-C8A2-4D00-9AFB-B5012AEA36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1270E55-4211-4529-BDC3-29B80BDF50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6DD7E91-EFBB-4DD7-B30F-4A13C20BED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96260F31-66FB-4E2C-801E-701C2B859A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B5FEE1C9-3961-4400-AD3E-B5AD93A474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34E1BE05-269F-4A13-99FE-2A973A0E77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2D591FBD-65C6-46C4-AF19-875D652DC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85F7E635-CB45-4346-BBFB-10FF0576A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3BDAC885-F0B3-4D66-8587-438465298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3427A7E1-71C9-42CC-9CAF-53642DC4D0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20BF60C4-2E5D-473E-96B6-D22BB8536F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C4703732-1088-4448-ACC0-D8BD901B2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6777D706-23BF-4962-98D3-D5AE7DF4E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783FF777-4C59-44D0-9441-2B40E0A70E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2037F33C-65F4-44B6-9CB2-D32D1552C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E73BA403-F3FD-4D76-A516-5698375D6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AF0D29B-415A-4327-A4B4-B5DC8F0AC0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374A9388-F55E-4F94-817D-5BFF0B59E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0C52183-F223-4E0A-B713-C91589CEB8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A6BEE030-DC6B-4CB1-A01B-95CC82552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2D41CF67-37BB-443C-85CF-2A05174FD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65A449CF-396F-45B8-B268-6824A4E89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9C20A7EF-7013-4D6C-ADD8-868A931DF2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F787692C-3BA9-4D4D-82F8-E497797AAE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A6D539D6-A55E-40F5-83AC-A77340524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D4D7922F-CA55-4202-B99F-ED303E7044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4120C846-A602-4B6C-9C07-11D2B0F8A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84B5D527-4684-45F5-84CE-73642492D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FF31CF21-8169-4D45-A115-9CF8D37189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DA8762B9-9CD8-4676-93F5-6C9358A94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A183E80A-70D1-4F52-A92D-D396648CCB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83FBB0F7-E17E-4890-9B66-3625BA1468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708E7BF1-2D4D-44AB-A5CC-0ED91B846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4B468C4E-6F63-4172-AE1F-8965744DBC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974C7149-F567-4D55-8F48-511DCF3A81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54A551FA-7E10-4D28-9A10-B9A06C0780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1D04F3C0-CE2C-4B8D-A5BD-0E994FD8D9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D2EA9230-DD52-48A9-B268-56744EA506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043A05F5-A8CF-4D01-AF12-95D1ECAE46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1F47C6BC-BD1A-4291-B018-05E5A72E4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E5B89844-FD17-4048-A3F5-35E390C6E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B5593F34-8B0E-4D34-9781-B594E2F5D7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4428E4BB-2263-4D19-8254-C9B54B85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2366216E-6EA2-4872-8370-C5EC22520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D66F8E3F-BF33-4F99-A1F0-EB5885BF2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EB506747-ED9D-43EA-BD67-DF7971849E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AC803CE8-FFF7-40EA-AF62-102724C324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7EF6FFCA-06CC-4395-AEB0-425719A42D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0D95F285-AAC0-4F32-8665-2677878BD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DFCCA2E-BF12-4D26-A5A4-A03387546A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2ABEAC60-6AC3-4D6A-95F9-2E79F6BE00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FA6015B7-49FE-4729-B2F4-585F0F305F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D611DEB1-76FE-4625-9449-88E52D15F4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97F031C1-1AA7-4CA7-ADD3-E0577626E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96F5D0CB-22E6-4536-8403-F42527F31F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A32718AB-7401-4F66-9C77-E06C3CF7CD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85B6B5F1-D1E4-45A3-8117-348D02D2A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534869FD-184C-42DB-B9DA-293DB67E5E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A781504F-CAFD-4201-B288-8B4A809B43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D9FC8348-2BA6-4631-8AA7-D63CD898C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C1AF95A2-64EA-45E2-A43B-1EBD569109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CFC80050-240D-434A-BFCB-DE4DA4FAFB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53" name="Content Placeholder 2">
            <a:extLst>
              <a:ext uri="{FF2B5EF4-FFF2-40B4-BE49-F238E27FC236}">
                <a16:creationId xmlns:a16="http://schemas.microsoft.com/office/drawing/2014/main" id="{A0AA3CDA-2023-F7B9-2B2E-5371CE088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270" y="1130846"/>
            <a:ext cx="4974771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CA" b="1" dirty="0"/>
              <a:t>Can we predict if someone earns &gt;$50K?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Binary classification using Adult Census dataset</a:t>
            </a:r>
          </a:p>
          <a:p>
            <a:r>
              <a:rPr lang="en-CA" dirty="0"/>
              <a:t>48,842 records, 15 features (age, education, occupation…)</a:t>
            </a:r>
          </a:p>
          <a:p>
            <a:r>
              <a:rPr lang="en-CA" dirty="0"/>
              <a:t>Real-world use: financial services, policy-making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9873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4" name="Oval 43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FF8B13-D6D0-BBE5-6DA9-5E91D7C05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1877492"/>
            <a:ext cx="4030132" cy="3215373"/>
          </a:xfrm>
        </p:spPr>
        <p:txBody>
          <a:bodyPr>
            <a:normAutofit/>
          </a:bodyPr>
          <a:lstStyle/>
          <a:p>
            <a:pPr algn="ctr"/>
            <a:r>
              <a:rPr lang="en-CA" dirty="0"/>
              <a:t>Our Approach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tx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45" name="Freeform: Shape 1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0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4C6A7-0FF9-F466-4E5C-8C835FCAA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3529" y="873821"/>
            <a:ext cx="5217173" cy="508897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CA" b="1" dirty="0"/>
              <a:t>4 Models, 1 Dataset, Best Wins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Logistic Regression — baseline linear model, interpretable, fast</a:t>
            </a:r>
          </a:p>
          <a:p>
            <a:r>
              <a:rPr lang="en-CA" dirty="0"/>
              <a:t>Random Forest — ensemble method, handles mixed data, reduces overfitting</a:t>
            </a:r>
          </a:p>
          <a:p>
            <a:r>
              <a:rPr lang="en-CA" dirty="0"/>
              <a:t>KNN — distance-based, non-parametric comparison</a:t>
            </a:r>
          </a:p>
          <a:p>
            <a:r>
              <a:rPr lang="en-CA" dirty="0"/>
              <a:t>Decision Tree — interpretable rule-based model, fast prediction, rule-based</a:t>
            </a:r>
          </a:p>
          <a:p>
            <a:endParaRPr lang="en-US" dirty="0"/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81034" y="5750136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10433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B73D287-48F0-41E2-8B0B-DE4C7D175E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121348" y="5364542"/>
            <a:ext cx="1562428" cy="1493465"/>
            <a:chOff x="3121343" y="4864099"/>
            <a:chExt cx="2085971" cy="1993901"/>
          </a:xfrm>
          <a:solidFill>
            <a:schemeClr val="tx1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BC3C2F6-A83E-46F7-89F9-C282A92349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38556" y="4981312"/>
              <a:ext cx="442726" cy="44272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38" name="Freeform: Shape 12">
              <a:extLst>
                <a:ext uri="{FF2B5EF4-FFF2-40B4-BE49-F238E27FC236}">
                  <a16:creationId xmlns:a16="http://schemas.microsoft.com/office/drawing/2014/main" id="{8D78D60A-D765-47AF-BF8C-DD38B67493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128809" y="4871565"/>
              <a:ext cx="902626" cy="902626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B61CBF5-5283-4C6A-9049-AA88E17568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121343" y="4864099"/>
              <a:ext cx="1152732" cy="1152732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39" name="Freeform: Shape 14">
              <a:extLst>
                <a:ext uri="{FF2B5EF4-FFF2-40B4-BE49-F238E27FC236}">
                  <a16:creationId xmlns:a16="http://schemas.microsoft.com/office/drawing/2014/main" id="{97A00BB8-8401-4CFA-A40C-8A60D39AEF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152324" y="4894707"/>
              <a:ext cx="1321462" cy="1321838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2F6FC59-F5F7-4ED5-8DCD-CF1060899F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15037" y="4957793"/>
              <a:ext cx="1428975" cy="1428975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40" name="Freeform: Shape 16">
              <a:extLst>
                <a:ext uri="{FF2B5EF4-FFF2-40B4-BE49-F238E27FC236}">
                  <a16:creationId xmlns:a16="http://schemas.microsoft.com/office/drawing/2014/main" id="{C124749C-25FB-43F3-97CC-16D3738B1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301642" y="5044398"/>
              <a:ext cx="1490195" cy="1490195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3CAAC4D-89A7-40FC-A14D-14E7137A5D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09523" y="5152279"/>
              <a:ext cx="1509607" cy="1509607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9F8FFC8-0941-4853-894E-6FBB72564C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538685" y="5279576"/>
              <a:ext cx="1488326" cy="1490192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84F021A-2C9B-422B-8408-BB819B3147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683896" y="5426652"/>
              <a:ext cx="1429720" cy="1429720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53138C4-3227-4945-9CE8-AF90A759D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01021" y="5597624"/>
              <a:ext cx="1275308" cy="1260376"/>
            </a:xfrm>
            <a:custGeom>
              <a:avLst/>
              <a:gdLst>
                <a:gd name="connsiteX0" fmla="*/ 1260376 w 1275308"/>
                <a:gd name="connsiteY0" fmla="*/ 0 h 1260376"/>
                <a:gd name="connsiteX1" fmla="*/ 1275308 w 1275308"/>
                <a:gd name="connsiteY1" fmla="*/ 52634 h 1260376"/>
                <a:gd name="connsiteX2" fmla="*/ 67566 w 1275308"/>
                <a:gd name="connsiteY2" fmla="*/ 1260376 h 1260376"/>
                <a:gd name="connsiteX3" fmla="*/ 0 w 1275308"/>
                <a:gd name="connsiteY3" fmla="*/ 1260376 h 126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5308" h="1260376">
                  <a:moveTo>
                    <a:pt x="1260376" y="0"/>
                  </a:moveTo>
                  <a:cubicBezTo>
                    <a:pt x="1265977" y="17174"/>
                    <a:pt x="1270829" y="34716"/>
                    <a:pt x="1275308" y="52634"/>
                  </a:cubicBezTo>
                  <a:lnTo>
                    <a:pt x="67566" y="1260376"/>
                  </a:lnTo>
                  <a:lnTo>
                    <a:pt x="0" y="1260376"/>
                  </a:ln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C9C4482-176D-49FB-BFC0-2DCD9283E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41456" y="5797338"/>
              <a:ext cx="1065858" cy="1060662"/>
            </a:xfrm>
            <a:custGeom>
              <a:avLst/>
              <a:gdLst>
                <a:gd name="connsiteX0" fmla="*/ 1061006 w 1065858"/>
                <a:gd name="connsiteY0" fmla="*/ 0 h 1060662"/>
                <a:gd name="connsiteX1" fmla="*/ 1065858 w 1065858"/>
                <a:gd name="connsiteY1" fmla="*/ 62342 h 1060662"/>
                <a:gd name="connsiteX2" fmla="*/ 67196 w 1065858"/>
                <a:gd name="connsiteY2" fmla="*/ 1060662 h 1060662"/>
                <a:gd name="connsiteX3" fmla="*/ 0 w 1065858"/>
                <a:gd name="connsiteY3" fmla="*/ 1060662 h 1060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5858" h="1060662">
                  <a:moveTo>
                    <a:pt x="1061006" y="0"/>
                  </a:moveTo>
                  <a:cubicBezTo>
                    <a:pt x="1063248" y="20905"/>
                    <a:pt x="1064741" y="41809"/>
                    <a:pt x="1065858" y="62342"/>
                  </a:cubicBezTo>
                  <a:lnTo>
                    <a:pt x="67196" y="1060662"/>
                  </a:lnTo>
                  <a:lnTo>
                    <a:pt x="0" y="1060662"/>
                  </a:ln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37D9F02-FC5F-4AA6-83BD-AE4EC012DA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1830" y="6039978"/>
              <a:ext cx="818022" cy="818022"/>
            </a:xfrm>
            <a:custGeom>
              <a:avLst/>
              <a:gdLst>
                <a:gd name="connsiteX0" fmla="*/ 818022 w 818022"/>
                <a:gd name="connsiteY0" fmla="*/ 0 h 818022"/>
                <a:gd name="connsiteX1" fmla="*/ 804584 w 818022"/>
                <a:gd name="connsiteY1" fmla="*/ 80632 h 818022"/>
                <a:gd name="connsiteX2" fmla="*/ 67190 w 818022"/>
                <a:gd name="connsiteY2" fmla="*/ 818022 h 818022"/>
                <a:gd name="connsiteX3" fmla="*/ 0 w 818022"/>
                <a:gd name="connsiteY3" fmla="*/ 818022 h 818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8022" h="818022">
                  <a:moveTo>
                    <a:pt x="818022" y="0"/>
                  </a:moveTo>
                  <a:cubicBezTo>
                    <a:pt x="814660" y="27250"/>
                    <a:pt x="810180" y="53755"/>
                    <a:pt x="804584" y="80632"/>
                  </a:cubicBezTo>
                  <a:lnTo>
                    <a:pt x="67190" y="818022"/>
                  </a:lnTo>
                  <a:lnTo>
                    <a:pt x="0" y="818022"/>
                  </a:ln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23DF942-E0FC-4481-99E4-5EDE1F7601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647375" y="6390131"/>
              <a:ext cx="442354" cy="442354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1354247-CA7A-4F67-ECB6-9A3667FC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>
            <a:normAutofit/>
          </a:bodyPr>
          <a:lstStyle/>
          <a:p>
            <a:r>
              <a:rPr lang="en-CA" sz="4100" b="1"/>
              <a:t>Dataset Description</a:t>
            </a:r>
            <a:endParaRPr lang="en-US" sz="410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CCA69EF-E8B5-4598-BEAD-258F15765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55862"/>
            <a:ext cx="1170294" cy="274629"/>
          </a:xfrm>
          <a:custGeom>
            <a:avLst/>
            <a:gdLst>
              <a:gd name="connsiteX0" fmla="*/ 453342 w 1170294"/>
              <a:gd name="connsiteY0" fmla="*/ 0 h 274629"/>
              <a:gd name="connsiteX1" fmla="*/ 689085 w 1170294"/>
              <a:gd name="connsiteY1" fmla="*/ 235744 h 274629"/>
              <a:gd name="connsiteX2" fmla="*/ 924829 w 1170294"/>
              <a:gd name="connsiteY2" fmla="*/ 0 h 274629"/>
              <a:gd name="connsiteX3" fmla="*/ 1170294 w 1170294"/>
              <a:gd name="connsiteY3" fmla="*/ 245465 h 274629"/>
              <a:gd name="connsiteX4" fmla="*/ 1153282 w 1170294"/>
              <a:gd name="connsiteY4" fmla="*/ 264908 h 274629"/>
              <a:gd name="connsiteX5" fmla="*/ 924829 w 1170294"/>
              <a:gd name="connsiteY5" fmla="*/ 38885 h 274629"/>
              <a:gd name="connsiteX6" fmla="*/ 689085 w 1170294"/>
              <a:gd name="connsiteY6" fmla="*/ 274629 h 274629"/>
              <a:gd name="connsiteX7" fmla="*/ 453342 w 1170294"/>
              <a:gd name="connsiteY7" fmla="*/ 38885 h 274629"/>
              <a:gd name="connsiteX8" fmla="*/ 215168 w 1170294"/>
              <a:gd name="connsiteY8" fmla="*/ 274629 h 274629"/>
              <a:gd name="connsiteX9" fmla="*/ 0 w 1170294"/>
              <a:gd name="connsiteY9" fmla="*/ 59462 h 274629"/>
              <a:gd name="connsiteX10" fmla="*/ 0 w 1170294"/>
              <a:gd name="connsiteY10" fmla="*/ 20577 h 274629"/>
              <a:gd name="connsiteX11" fmla="*/ 215168 w 1170294"/>
              <a:gd name="connsiteY11" fmla="*/ 235744 h 27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70294" h="274629">
                <a:moveTo>
                  <a:pt x="453342" y="0"/>
                </a:moveTo>
                <a:lnTo>
                  <a:pt x="689085" y="235744"/>
                </a:lnTo>
                <a:lnTo>
                  <a:pt x="924829" y="0"/>
                </a:lnTo>
                <a:lnTo>
                  <a:pt x="1170294" y="245465"/>
                </a:lnTo>
                <a:lnTo>
                  <a:pt x="1153282" y="264908"/>
                </a:lnTo>
                <a:lnTo>
                  <a:pt x="924829" y="38885"/>
                </a:lnTo>
                <a:lnTo>
                  <a:pt x="689085" y="274629"/>
                </a:lnTo>
                <a:lnTo>
                  <a:pt x="453342" y="38885"/>
                </a:lnTo>
                <a:lnTo>
                  <a:pt x="215168" y="274629"/>
                </a:lnTo>
                <a:lnTo>
                  <a:pt x="0" y="59462"/>
                </a:lnTo>
                <a:lnTo>
                  <a:pt x="0" y="20577"/>
                </a:lnTo>
                <a:lnTo>
                  <a:pt x="215168" y="235744"/>
                </a:lnTo>
                <a:close/>
              </a:path>
            </a:pathLst>
          </a:cu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685D65ED-8248-4E7D-AF41-C2685CAE70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90894"/>
            <a:ext cx="1170294" cy="274629"/>
          </a:xfrm>
          <a:custGeom>
            <a:avLst/>
            <a:gdLst>
              <a:gd name="connsiteX0" fmla="*/ 453342 w 1170294"/>
              <a:gd name="connsiteY0" fmla="*/ 0 h 274629"/>
              <a:gd name="connsiteX1" fmla="*/ 689085 w 1170294"/>
              <a:gd name="connsiteY1" fmla="*/ 238174 h 274629"/>
              <a:gd name="connsiteX2" fmla="*/ 924829 w 1170294"/>
              <a:gd name="connsiteY2" fmla="*/ 0 h 274629"/>
              <a:gd name="connsiteX3" fmla="*/ 1170294 w 1170294"/>
              <a:gd name="connsiteY3" fmla="*/ 247895 h 274629"/>
              <a:gd name="connsiteX4" fmla="*/ 1153282 w 1170294"/>
              <a:gd name="connsiteY4" fmla="*/ 264908 h 274629"/>
              <a:gd name="connsiteX5" fmla="*/ 924829 w 1170294"/>
              <a:gd name="connsiteY5" fmla="*/ 38885 h 274629"/>
              <a:gd name="connsiteX6" fmla="*/ 689085 w 1170294"/>
              <a:gd name="connsiteY6" fmla="*/ 274629 h 274629"/>
              <a:gd name="connsiteX7" fmla="*/ 453342 w 1170294"/>
              <a:gd name="connsiteY7" fmla="*/ 38885 h 274629"/>
              <a:gd name="connsiteX8" fmla="*/ 215168 w 1170294"/>
              <a:gd name="connsiteY8" fmla="*/ 274629 h 274629"/>
              <a:gd name="connsiteX9" fmla="*/ 0 w 1170294"/>
              <a:gd name="connsiteY9" fmla="*/ 59462 h 274629"/>
              <a:gd name="connsiteX10" fmla="*/ 0 w 1170294"/>
              <a:gd name="connsiteY10" fmla="*/ 20789 h 274629"/>
              <a:gd name="connsiteX11" fmla="*/ 215168 w 1170294"/>
              <a:gd name="connsiteY11" fmla="*/ 238174 h 27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70294" h="274629">
                <a:moveTo>
                  <a:pt x="453342" y="0"/>
                </a:moveTo>
                <a:lnTo>
                  <a:pt x="689085" y="238174"/>
                </a:lnTo>
                <a:lnTo>
                  <a:pt x="924829" y="0"/>
                </a:lnTo>
                <a:lnTo>
                  <a:pt x="1170294" y="247895"/>
                </a:lnTo>
                <a:lnTo>
                  <a:pt x="1153282" y="264908"/>
                </a:lnTo>
                <a:lnTo>
                  <a:pt x="924829" y="38885"/>
                </a:lnTo>
                <a:lnTo>
                  <a:pt x="689085" y="274629"/>
                </a:lnTo>
                <a:lnTo>
                  <a:pt x="453342" y="38885"/>
                </a:lnTo>
                <a:lnTo>
                  <a:pt x="215168" y="274629"/>
                </a:lnTo>
                <a:lnTo>
                  <a:pt x="0" y="59462"/>
                </a:lnTo>
                <a:lnTo>
                  <a:pt x="0" y="20789"/>
                </a:lnTo>
                <a:lnTo>
                  <a:pt x="215168" y="23817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" name="Content Placeholder 2">
            <a:extLst>
              <a:ext uri="{FF2B5EF4-FFF2-40B4-BE49-F238E27FC236}">
                <a16:creationId xmlns:a16="http://schemas.microsoft.com/office/drawing/2014/main" id="{FB565B06-F538-D301-9BF2-E31351EBA4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6979071"/>
              </p:ext>
            </p:extLst>
          </p:nvPr>
        </p:nvGraphicFramePr>
        <p:xfrm>
          <a:off x="4782386" y="447277"/>
          <a:ext cx="6571413" cy="57296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51945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Oval 13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F7072A-9F5B-F297-2887-A5C8F1A2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1877492"/>
            <a:ext cx="4030132" cy="3215373"/>
          </a:xfrm>
        </p:spPr>
        <p:txBody>
          <a:bodyPr>
            <a:normAutofit/>
          </a:bodyPr>
          <a:lstStyle/>
          <a:p>
            <a:pPr algn="ctr"/>
            <a:r>
              <a:rPr lang="en-CA" dirty="0"/>
              <a:t>Data Preprocessing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tx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0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E9FA5-225B-6AC2-FE60-EB8242F79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130845"/>
            <a:ext cx="5217173" cy="466493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CA" b="1" dirty="0"/>
              <a:t>Cleaning &amp; Preparing the Data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dirty="0"/>
              <a:t>• Missing values encoded as '?' → replaced with </a:t>
            </a:r>
            <a:r>
              <a:rPr lang="en-CA" dirty="0" err="1"/>
              <a:t>NaN</a:t>
            </a:r>
            <a:endParaRPr lang="en-CA" dirty="0"/>
          </a:p>
          <a:p>
            <a:pPr marL="0" indent="0">
              <a:buNone/>
            </a:pPr>
            <a:r>
              <a:rPr lang="en-CA" dirty="0"/>
              <a:t>• Numerical features → Median imputation          </a:t>
            </a:r>
            <a:r>
              <a:rPr lang="en-CA" dirty="0" err="1"/>
              <a:t>StandardScaler</a:t>
            </a:r>
            <a:endParaRPr lang="en-CA" dirty="0"/>
          </a:p>
          <a:p>
            <a:pPr marL="0" indent="0">
              <a:buNone/>
            </a:pPr>
            <a:r>
              <a:rPr lang="en-CA" dirty="0"/>
              <a:t>• Categorical features → Mode imputation  </a:t>
            </a:r>
            <a:r>
              <a:rPr lang="en-CA" dirty="0" err="1"/>
              <a:t>OneHotEncoder</a:t>
            </a:r>
            <a:endParaRPr lang="en-CA" dirty="0"/>
          </a:p>
          <a:p>
            <a:pPr marL="0" indent="0">
              <a:buNone/>
            </a:pPr>
            <a:r>
              <a:rPr lang="en-CA" dirty="0"/>
              <a:t>• Pipeline built with </a:t>
            </a:r>
            <a:r>
              <a:rPr lang="en-CA" dirty="0" err="1"/>
              <a:t>sklearn</a:t>
            </a:r>
            <a:r>
              <a:rPr lang="en-CA" dirty="0"/>
              <a:t> </a:t>
            </a:r>
            <a:r>
              <a:rPr lang="en-CA" dirty="0" err="1"/>
              <a:t>ColumnTransformer</a:t>
            </a:r>
            <a:r>
              <a:rPr lang="en-CA" dirty="0"/>
              <a:t> (no data leakage)</a:t>
            </a:r>
          </a:p>
          <a:p>
            <a:pPr marL="0" indent="0">
              <a:buNone/>
            </a:pPr>
            <a:r>
              <a:rPr lang="en-CA" dirty="0"/>
              <a:t>• 80/20 stratified split → 23,508 train | 5,877 test samples</a:t>
            </a:r>
            <a:endParaRPr lang="en-US" dirty="0"/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81034" y="5750136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89443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96C72-6CAE-2610-1154-C61D9B3BE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aphic 185">
            <a:extLst>
              <a:ext uri="{FF2B5EF4-FFF2-40B4-BE49-F238E27FC236}">
                <a16:creationId xmlns:a16="http://schemas.microsoft.com/office/drawing/2014/main" id="{773CCE17-EE0F-40E0-B7AE-CF7677B64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9576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B0AC6C4E-6EA5-454A-AB84-8B94D8B5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B4329338-925B-4677-BA6E-4357D37DB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334C0A08-043F-4818-BA1D-BCC9F811A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CB185DD-ED0D-4633-8098-95C4A6F17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2AD50526-B611-40B6-BB45-AE82F0EF5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3" name="Oval 52">
            <a:extLst>
              <a:ext uri="{FF2B5EF4-FFF2-40B4-BE49-F238E27FC236}">
                <a16:creationId xmlns:a16="http://schemas.microsoft.com/office/drawing/2014/main" id="{70CCC791-94D7-4BB8-9EDF-423CEA1F6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8875539-0E84-455D-BC55-CA2C4BD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5F9176D7-CC1C-4175-B08A-01FB9F4F3C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955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D83469C6-FD66-4B54-921B-8031CD42B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929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F0C6814-AEA4-4409-9A89-7AC1D41EB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754052F-5B23-433C-8ADA-E8F0F8438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FB2B180F-0C1C-4489-B089-6B68FD7AB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69" name="Graphic 185">
            <a:extLst>
              <a:ext uri="{FF2B5EF4-FFF2-40B4-BE49-F238E27FC236}">
                <a16:creationId xmlns:a16="http://schemas.microsoft.com/office/drawing/2014/main" id="{F8DA0E47-CC59-4007-BDA3-0D5A4CF23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C833CFE-926B-4F47-AB28-ADB4F7697D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E80DE9A3-5BAC-492E-BEA8-AFF33894D8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4C461C6-EC83-4CF8-BA68-8B3D52D31E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164B2AB-B7D6-4349-9A36-E6775B5F8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DEFF3243-BD09-43B6-805F-FD18ECF5C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BCBE819-8D77-E7D6-2491-92B387DD7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465786" cy="4238118"/>
          </a:xfrm>
        </p:spPr>
        <p:txBody>
          <a:bodyPr>
            <a:normAutofit/>
          </a:bodyPr>
          <a:lstStyle/>
          <a:p>
            <a:r>
              <a:rPr lang="en-CA" sz="4100" b="1" dirty="0"/>
              <a:t>Performance 	Result</a:t>
            </a:r>
            <a:endParaRPr lang="en-US" sz="4100" dirty="0"/>
          </a:p>
        </p:txBody>
      </p:sp>
      <p:graphicFrame>
        <p:nvGraphicFramePr>
          <p:cNvPr id="41" name="Content Placeholder 2">
            <a:extLst>
              <a:ext uri="{FF2B5EF4-FFF2-40B4-BE49-F238E27FC236}">
                <a16:creationId xmlns:a16="http://schemas.microsoft.com/office/drawing/2014/main" id="{56982CB2-8A88-A9A9-A9EB-03FDBD5C48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7727314"/>
              </p:ext>
            </p:extLst>
          </p:nvPr>
        </p:nvGraphicFramePr>
        <p:xfrm>
          <a:off x="4782386" y="447277"/>
          <a:ext cx="6571413" cy="57296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1678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9576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D6BF779-0B8C-4CC2-9268-9506AD0C5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A397E3E-B90C-4D82-BAAA-36F7AC6A4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F0C2E5D-B08F-4A99-9D15-59D33148F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47167"/>
            <a:ext cx="1861854" cy="717514"/>
            <a:chOff x="0" y="238499"/>
            <a:chExt cx="1861854" cy="717514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7B8F35D-FB89-4C40-8A99-E46DDA0213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238499"/>
              <a:ext cx="1861854" cy="717514"/>
              <a:chOff x="0" y="604259"/>
              <a:chExt cx="1861854" cy="717514"/>
            </a:xfrm>
            <a:solidFill>
              <a:srgbClr val="FFFFFF"/>
            </a:solidFill>
          </p:grpSpPr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E16C8D8F-10E9-4498-ABDB-0F923F8B68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604259"/>
                <a:ext cx="1861854" cy="277779"/>
              </a:xfrm>
              <a:custGeom>
                <a:avLst/>
                <a:gdLst>
                  <a:gd name="connsiteX0" fmla="*/ 180458 w 1861854"/>
                  <a:gd name="connsiteY0" fmla="*/ 0 h 277779"/>
                  <a:gd name="connsiteX1" fmla="*/ 419222 w 1861854"/>
                  <a:gd name="connsiteY1" fmla="*/ 238761 h 277779"/>
                  <a:gd name="connsiteX2" fmla="*/ 657984 w 1861854"/>
                  <a:gd name="connsiteY2" fmla="*/ 0 h 277779"/>
                  <a:gd name="connsiteX3" fmla="*/ 896745 w 1861854"/>
                  <a:gd name="connsiteY3" fmla="*/ 238761 h 277779"/>
                  <a:gd name="connsiteX4" fmla="*/ 1135754 w 1861854"/>
                  <a:gd name="connsiteY4" fmla="*/ 0 h 277779"/>
                  <a:gd name="connsiteX5" fmla="*/ 1374516 w 1861854"/>
                  <a:gd name="connsiteY5" fmla="*/ 238761 h 277779"/>
                  <a:gd name="connsiteX6" fmla="*/ 1613277 w 1861854"/>
                  <a:gd name="connsiteY6" fmla="*/ 0 h 277779"/>
                  <a:gd name="connsiteX7" fmla="*/ 1861854 w 1861854"/>
                  <a:gd name="connsiteY7" fmla="*/ 248577 h 277779"/>
                  <a:gd name="connsiteX8" fmla="*/ 1842470 w 1861854"/>
                  <a:gd name="connsiteY8" fmla="*/ 267963 h 277779"/>
                  <a:gd name="connsiteX9" fmla="*/ 1613277 w 1861854"/>
                  <a:gd name="connsiteY9" fmla="*/ 39017 h 277779"/>
                  <a:gd name="connsiteX10" fmla="*/ 1374516 w 1861854"/>
                  <a:gd name="connsiteY10" fmla="*/ 277779 h 277779"/>
                  <a:gd name="connsiteX11" fmla="*/ 1135754 w 1861854"/>
                  <a:gd name="connsiteY11" fmla="*/ 39017 h 277779"/>
                  <a:gd name="connsiteX12" fmla="*/ 896745 w 1861854"/>
                  <a:gd name="connsiteY12" fmla="*/ 277779 h 277779"/>
                  <a:gd name="connsiteX13" fmla="*/ 657984 w 1861854"/>
                  <a:gd name="connsiteY13" fmla="*/ 39017 h 277779"/>
                  <a:gd name="connsiteX14" fmla="*/ 419222 w 1861854"/>
                  <a:gd name="connsiteY14" fmla="*/ 277779 h 277779"/>
                  <a:gd name="connsiteX15" fmla="*/ 180458 w 1861854"/>
                  <a:gd name="connsiteY15" fmla="*/ 39017 h 277779"/>
                  <a:gd name="connsiteX16" fmla="*/ 0 w 1861854"/>
                  <a:gd name="connsiteY16" fmla="*/ 219283 h 277779"/>
                  <a:gd name="connsiteX17" fmla="*/ 0 w 1861854"/>
                  <a:gd name="connsiteY17" fmla="*/ 180458 h 277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861854" h="277779">
                    <a:moveTo>
                      <a:pt x="180458" y="0"/>
                    </a:moveTo>
                    <a:lnTo>
                      <a:pt x="419222" y="238761"/>
                    </a:lnTo>
                    <a:lnTo>
                      <a:pt x="657984" y="0"/>
                    </a:lnTo>
                    <a:lnTo>
                      <a:pt x="896745" y="238761"/>
                    </a:lnTo>
                    <a:lnTo>
                      <a:pt x="1135754" y="0"/>
                    </a:lnTo>
                    <a:lnTo>
                      <a:pt x="1374516" y="238761"/>
                    </a:lnTo>
                    <a:lnTo>
                      <a:pt x="1613277" y="0"/>
                    </a:lnTo>
                    <a:lnTo>
                      <a:pt x="1861854" y="248577"/>
                    </a:lnTo>
                    <a:lnTo>
                      <a:pt x="1842470" y="267963"/>
                    </a:lnTo>
                    <a:lnTo>
                      <a:pt x="1613277" y="39017"/>
                    </a:lnTo>
                    <a:lnTo>
                      <a:pt x="1374516" y="277779"/>
                    </a:lnTo>
                    <a:lnTo>
                      <a:pt x="1135754" y="39017"/>
                    </a:lnTo>
                    <a:lnTo>
                      <a:pt x="896745" y="277779"/>
                    </a:lnTo>
                    <a:lnTo>
                      <a:pt x="657984" y="39017"/>
                    </a:lnTo>
                    <a:lnTo>
                      <a:pt x="419222" y="277779"/>
                    </a:lnTo>
                    <a:lnTo>
                      <a:pt x="180458" y="39017"/>
                    </a:lnTo>
                    <a:lnTo>
                      <a:pt x="0" y="219283"/>
                    </a:lnTo>
                    <a:lnTo>
                      <a:pt x="0" y="18045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1E5A83E3-8A11-4492-BB6E-F5F2240316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1043994"/>
                <a:ext cx="1861854" cy="277779"/>
              </a:xfrm>
              <a:custGeom>
                <a:avLst/>
                <a:gdLst>
                  <a:gd name="connsiteX0" fmla="*/ 180458 w 1861854"/>
                  <a:gd name="connsiteY0" fmla="*/ 0 h 277779"/>
                  <a:gd name="connsiteX1" fmla="*/ 419222 w 1861854"/>
                  <a:gd name="connsiteY1" fmla="*/ 238761 h 277779"/>
                  <a:gd name="connsiteX2" fmla="*/ 657984 w 1861854"/>
                  <a:gd name="connsiteY2" fmla="*/ 0 h 277779"/>
                  <a:gd name="connsiteX3" fmla="*/ 896745 w 1861854"/>
                  <a:gd name="connsiteY3" fmla="*/ 238761 h 277779"/>
                  <a:gd name="connsiteX4" fmla="*/ 1135754 w 1861854"/>
                  <a:gd name="connsiteY4" fmla="*/ 0 h 277779"/>
                  <a:gd name="connsiteX5" fmla="*/ 1374516 w 1861854"/>
                  <a:gd name="connsiteY5" fmla="*/ 238761 h 277779"/>
                  <a:gd name="connsiteX6" fmla="*/ 1613277 w 1861854"/>
                  <a:gd name="connsiteY6" fmla="*/ 0 h 277779"/>
                  <a:gd name="connsiteX7" fmla="*/ 1861854 w 1861854"/>
                  <a:gd name="connsiteY7" fmla="*/ 248577 h 277779"/>
                  <a:gd name="connsiteX8" fmla="*/ 1842470 w 1861854"/>
                  <a:gd name="connsiteY8" fmla="*/ 268208 h 277779"/>
                  <a:gd name="connsiteX9" fmla="*/ 1613277 w 1861854"/>
                  <a:gd name="connsiteY9" fmla="*/ 39017 h 277779"/>
                  <a:gd name="connsiteX10" fmla="*/ 1374516 w 1861854"/>
                  <a:gd name="connsiteY10" fmla="*/ 277779 h 277779"/>
                  <a:gd name="connsiteX11" fmla="*/ 1135754 w 1861854"/>
                  <a:gd name="connsiteY11" fmla="*/ 39017 h 277779"/>
                  <a:gd name="connsiteX12" fmla="*/ 896745 w 1861854"/>
                  <a:gd name="connsiteY12" fmla="*/ 277779 h 277779"/>
                  <a:gd name="connsiteX13" fmla="*/ 657984 w 1861854"/>
                  <a:gd name="connsiteY13" fmla="*/ 39017 h 277779"/>
                  <a:gd name="connsiteX14" fmla="*/ 419222 w 1861854"/>
                  <a:gd name="connsiteY14" fmla="*/ 277779 h 277779"/>
                  <a:gd name="connsiteX15" fmla="*/ 180458 w 1861854"/>
                  <a:gd name="connsiteY15" fmla="*/ 39017 h 277779"/>
                  <a:gd name="connsiteX16" fmla="*/ 0 w 1861854"/>
                  <a:gd name="connsiteY16" fmla="*/ 219475 h 277779"/>
                  <a:gd name="connsiteX17" fmla="*/ 0 w 1861854"/>
                  <a:gd name="connsiteY17" fmla="*/ 180458 h 277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861854" h="277779">
                    <a:moveTo>
                      <a:pt x="180458" y="0"/>
                    </a:moveTo>
                    <a:lnTo>
                      <a:pt x="419222" y="238761"/>
                    </a:lnTo>
                    <a:lnTo>
                      <a:pt x="657984" y="0"/>
                    </a:lnTo>
                    <a:lnTo>
                      <a:pt x="896745" y="238761"/>
                    </a:lnTo>
                    <a:lnTo>
                      <a:pt x="1135754" y="0"/>
                    </a:lnTo>
                    <a:lnTo>
                      <a:pt x="1374516" y="238761"/>
                    </a:lnTo>
                    <a:lnTo>
                      <a:pt x="1613277" y="0"/>
                    </a:lnTo>
                    <a:lnTo>
                      <a:pt x="1861854" y="248577"/>
                    </a:lnTo>
                    <a:lnTo>
                      <a:pt x="1842470" y="268208"/>
                    </a:lnTo>
                    <a:lnTo>
                      <a:pt x="1613277" y="39017"/>
                    </a:lnTo>
                    <a:lnTo>
                      <a:pt x="1374516" y="277779"/>
                    </a:lnTo>
                    <a:lnTo>
                      <a:pt x="1135754" y="39017"/>
                    </a:lnTo>
                    <a:lnTo>
                      <a:pt x="896745" y="277779"/>
                    </a:lnTo>
                    <a:lnTo>
                      <a:pt x="657984" y="39017"/>
                    </a:lnTo>
                    <a:lnTo>
                      <a:pt x="419222" y="277779"/>
                    </a:lnTo>
                    <a:lnTo>
                      <a:pt x="180458" y="39017"/>
                    </a:lnTo>
                    <a:lnTo>
                      <a:pt x="0" y="219475"/>
                    </a:lnTo>
                    <a:lnTo>
                      <a:pt x="0" y="18045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5FC669C-CD13-4F4A-AFFF-4029D34F2D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238499"/>
              <a:ext cx="1861854" cy="717514"/>
              <a:chOff x="0" y="604259"/>
              <a:chExt cx="1861854" cy="717514"/>
            </a:xfrm>
            <a:solidFill>
              <a:schemeClr val="tx1"/>
            </a:solidFill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17B5AA-8A0D-41D3-B2EF-8BC53E3B7DF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604259"/>
                <a:ext cx="1861854" cy="277779"/>
              </a:xfrm>
              <a:custGeom>
                <a:avLst/>
                <a:gdLst>
                  <a:gd name="connsiteX0" fmla="*/ 180458 w 1861854"/>
                  <a:gd name="connsiteY0" fmla="*/ 0 h 277779"/>
                  <a:gd name="connsiteX1" fmla="*/ 419222 w 1861854"/>
                  <a:gd name="connsiteY1" fmla="*/ 238761 h 277779"/>
                  <a:gd name="connsiteX2" fmla="*/ 657984 w 1861854"/>
                  <a:gd name="connsiteY2" fmla="*/ 0 h 277779"/>
                  <a:gd name="connsiteX3" fmla="*/ 896745 w 1861854"/>
                  <a:gd name="connsiteY3" fmla="*/ 238761 h 277779"/>
                  <a:gd name="connsiteX4" fmla="*/ 1135754 w 1861854"/>
                  <a:gd name="connsiteY4" fmla="*/ 0 h 277779"/>
                  <a:gd name="connsiteX5" fmla="*/ 1374516 w 1861854"/>
                  <a:gd name="connsiteY5" fmla="*/ 238761 h 277779"/>
                  <a:gd name="connsiteX6" fmla="*/ 1613277 w 1861854"/>
                  <a:gd name="connsiteY6" fmla="*/ 0 h 277779"/>
                  <a:gd name="connsiteX7" fmla="*/ 1861854 w 1861854"/>
                  <a:gd name="connsiteY7" fmla="*/ 248577 h 277779"/>
                  <a:gd name="connsiteX8" fmla="*/ 1842470 w 1861854"/>
                  <a:gd name="connsiteY8" fmla="*/ 267963 h 277779"/>
                  <a:gd name="connsiteX9" fmla="*/ 1613277 w 1861854"/>
                  <a:gd name="connsiteY9" fmla="*/ 39017 h 277779"/>
                  <a:gd name="connsiteX10" fmla="*/ 1374516 w 1861854"/>
                  <a:gd name="connsiteY10" fmla="*/ 277779 h 277779"/>
                  <a:gd name="connsiteX11" fmla="*/ 1135754 w 1861854"/>
                  <a:gd name="connsiteY11" fmla="*/ 39017 h 277779"/>
                  <a:gd name="connsiteX12" fmla="*/ 896745 w 1861854"/>
                  <a:gd name="connsiteY12" fmla="*/ 277779 h 277779"/>
                  <a:gd name="connsiteX13" fmla="*/ 657984 w 1861854"/>
                  <a:gd name="connsiteY13" fmla="*/ 39017 h 277779"/>
                  <a:gd name="connsiteX14" fmla="*/ 419222 w 1861854"/>
                  <a:gd name="connsiteY14" fmla="*/ 277779 h 277779"/>
                  <a:gd name="connsiteX15" fmla="*/ 180458 w 1861854"/>
                  <a:gd name="connsiteY15" fmla="*/ 39017 h 277779"/>
                  <a:gd name="connsiteX16" fmla="*/ 0 w 1861854"/>
                  <a:gd name="connsiteY16" fmla="*/ 219283 h 277779"/>
                  <a:gd name="connsiteX17" fmla="*/ 0 w 1861854"/>
                  <a:gd name="connsiteY17" fmla="*/ 180458 h 277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861854" h="277779">
                    <a:moveTo>
                      <a:pt x="180458" y="0"/>
                    </a:moveTo>
                    <a:lnTo>
                      <a:pt x="419222" y="238761"/>
                    </a:lnTo>
                    <a:lnTo>
                      <a:pt x="657984" y="0"/>
                    </a:lnTo>
                    <a:lnTo>
                      <a:pt x="896745" y="238761"/>
                    </a:lnTo>
                    <a:lnTo>
                      <a:pt x="1135754" y="0"/>
                    </a:lnTo>
                    <a:lnTo>
                      <a:pt x="1374516" y="238761"/>
                    </a:lnTo>
                    <a:lnTo>
                      <a:pt x="1613277" y="0"/>
                    </a:lnTo>
                    <a:lnTo>
                      <a:pt x="1861854" y="248577"/>
                    </a:lnTo>
                    <a:lnTo>
                      <a:pt x="1842470" y="267963"/>
                    </a:lnTo>
                    <a:lnTo>
                      <a:pt x="1613277" y="39017"/>
                    </a:lnTo>
                    <a:lnTo>
                      <a:pt x="1374516" y="277779"/>
                    </a:lnTo>
                    <a:lnTo>
                      <a:pt x="1135754" y="39017"/>
                    </a:lnTo>
                    <a:lnTo>
                      <a:pt x="896745" y="277779"/>
                    </a:lnTo>
                    <a:lnTo>
                      <a:pt x="657984" y="39017"/>
                    </a:lnTo>
                    <a:lnTo>
                      <a:pt x="419222" y="277779"/>
                    </a:lnTo>
                    <a:lnTo>
                      <a:pt x="180458" y="39017"/>
                    </a:lnTo>
                    <a:lnTo>
                      <a:pt x="0" y="219283"/>
                    </a:lnTo>
                    <a:lnTo>
                      <a:pt x="0" y="18045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572EB308-9A4E-4332-A908-22F2978D75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1043994"/>
                <a:ext cx="1861854" cy="277779"/>
              </a:xfrm>
              <a:custGeom>
                <a:avLst/>
                <a:gdLst>
                  <a:gd name="connsiteX0" fmla="*/ 180458 w 1861854"/>
                  <a:gd name="connsiteY0" fmla="*/ 0 h 277779"/>
                  <a:gd name="connsiteX1" fmla="*/ 419222 w 1861854"/>
                  <a:gd name="connsiteY1" fmla="*/ 238761 h 277779"/>
                  <a:gd name="connsiteX2" fmla="*/ 657984 w 1861854"/>
                  <a:gd name="connsiteY2" fmla="*/ 0 h 277779"/>
                  <a:gd name="connsiteX3" fmla="*/ 896745 w 1861854"/>
                  <a:gd name="connsiteY3" fmla="*/ 238761 h 277779"/>
                  <a:gd name="connsiteX4" fmla="*/ 1135754 w 1861854"/>
                  <a:gd name="connsiteY4" fmla="*/ 0 h 277779"/>
                  <a:gd name="connsiteX5" fmla="*/ 1374516 w 1861854"/>
                  <a:gd name="connsiteY5" fmla="*/ 238761 h 277779"/>
                  <a:gd name="connsiteX6" fmla="*/ 1613277 w 1861854"/>
                  <a:gd name="connsiteY6" fmla="*/ 0 h 277779"/>
                  <a:gd name="connsiteX7" fmla="*/ 1861854 w 1861854"/>
                  <a:gd name="connsiteY7" fmla="*/ 248577 h 277779"/>
                  <a:gd name="connsiteX8" fmla="*/ 1842470 w 1861854"/>
                  <a:gd name="connsiteY8" fmla="*/ 268208 h 277779"/>
                  <a:gd name="connsiteX9" fmla="*/ 1613277 w 1861854"/>
                  <a:gd name="connsiteY9" fmla="*/ 39017 h 277779"/>
                  <a:gd name="connsiteX10" fmla="*/ 1374516 w 1861854"/>
                  <a:gd name="connsiteY10" fmla="*/ 277779 h 277779"/>
                  <a:gd name="connsiteX11" fmla="*/ 1135754 w 1861854"/>
                  <a:gd name="connsiteY11" fmla="*/ 39017 h 277779"/>
                  <a:gd name="connsiteX12" fmla="*/ 896745 w 1861854"/>
                  <a:gd name="connsiteY12" fmla="*/ 277779 h 277779"/>
                  <a:gd name="connsiteX13" fmla="*/ 657984 w 1861854"/>
                  <a:gd name="connsiteY13" fmla="*/ 39017 h 277779"/>
                  <a:gd name="connsiteX14" fmla="*/ 419222 w 1861854"/>
                  <a:gd name="connsiteY14" fmla="*/ 277779 h 277779"/>
                  <a:gd name="connsiteX15" fmla="*/ 180458 w 1861854"/>
                  <a:gd name="connsiteY15" fmla="*/ 39017 h 277779"/>
                  <a:gd name="connsiteX16" fmla="*/ 0 w 1861854"/>
                  <a:gd name="connsiteY16" fmla="*/ 219475 h 277779"/>
                  <a:gd name="connsiteX17" fmla="*/ 0 w 1861854"/>
                  <a:gd name="connsiteY17" fmla="*/ 180458 h 277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861854" h="277779">
                    <a:moveTo>
                      <a:pt x="180458" y="0"/>
                    </a:moveTo>
                    <a:lnTo>
                      <a:pt x="419222" y="238761"/>
                    </a:lnTo>
                    <a:lnTo>
                      <a:pt x="657984" y="0"/>
                    </a:lnTo>
                    <a:lnTo>
                      <a:pt x="896745" y="238761"/>
                    </a:lnTo>
                    <a:lnTo>
                      <a:pt x="1135754" y="0"/>
                    </a:lnTo>
                    <a:lnTo>
                      <a:pt x="1374516" y="238761"/>
                    </a:lnTo>
                    <a:lnTo>
                      <a:pt x="1613277" y="0"/>
                    </a:lnTo>
                    <a:lnTo>
                      <a:pt x="1861854" y="248577"/>
                    </a:lnTo>
                    <a:lnTo>
                      <a:pt x="1842470" y="268208"/>
                    </a:lnTo>
                    <a:lnTo>
                      <a:pt x="1613277" y="39017"/>
                    </a:lnTo>
                    <a:lnTo>
                      <a:pt x="1374516" y="277779"/>
                    </a:lnTo>
                    <a:lnTo>
                      <a:pt x="1135754" y="39017"/>
                    </a:lnTo>
                    <a:lnTo>
                      <a:pt x="896745" y="277779"/>
                    </a:lnTo>
                    <a:lnTo>
                      <a:pt x="657984" y="39017"/>
                    </a:lnTo>
                    <a:lnTo>
                      <a:pt x="419222" y="277779"/>
                    </a:lnTo>
                    <a:lnTo>
                      <a:pt x="180458" y="39017"/>
                    </a:lnTo>
                    <a:lnTo>
                      <a:pt x="0" y="219475"/>
                    </a:lnTo>
                    <a:lnTo>
                      <a:pt x="0" y="18045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B7A900B-006E-46F4-831E-5AABAEE45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4492" y="1103896"/>
            <a:ext cx="4965868" cy="4598497"/>
            <a:chOff x="1674895" y="1345036"/>
            <a:chExt cx="5428610" cy="4210939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C1D3151-5F97-4860-B56C-C98BD62CC2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AD33695-C117-4AEE-9AF5-65F13C6CC3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3">
                <a:alpha val="2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90A7F83A-9728-4030-8E45-9ECF1ABCC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039" y="1073782"/>
            <a:ext cx="4860256" cy="45292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D4C00E-B5C5-96C1-EDAD-5122C8062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54952"/>
            <a:ext cx="4324642" cy="293965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b="1" cap="all" spc="1500">
                <a:ea typeface="Source Sans Pro SemiBold" panose="020B0603030403020204" pitchFamily="34" charset="0"/>
              </a:rPr>
              <a:t>ROC Curve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A2B5CBEA-F125-49B6-8335-227C325B1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10790119" y="0"/>
            <a:ext cx="1401881" cy="1345036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FEA9761C-7BB2-45E5-A5DB-A0B353624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10790119" y="0"/>
            <a:ext cx="1401881" cy="1345036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D1A5E71-B6B6-486A-8CDC-C7ABD9B90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634" y="4727300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E44D629-6B8E-4D88-A77E-149C0ED03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634" y="4727300"/>
            <a:ext cx="319941" cy="319941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Content Placeholder 4" descr="A graph of a curve&#10;&#10;AI-generated content may be incorrect.">
            <a:extLst>
              <a:ext uri="{FF2B5EF4-FFF2-40B4-BE49-F238E27FC236}">
                <a16:creationId xmlns:a16="http://schemas.microsoft.com/office/drawing/2014/main" id="{5A4E0300-AF4B-9C5E-1D65-294DFFF1DA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0994" r="2952" b="-2"/>
          <a:stretch>
            <a:fillRect/>
          </a:stretch>
        </p:blipFill>
        <p:spPr>
          <a:xfrm>
            <a:off x="6094114" y="1321031"/>
            <a:ext cx="5428611" cy="4210940"/>
          </a:xfrm>
          <a:prstGeom prst="rect">
            <a:avLst/>
          </a:prstGeom>
          <a:ln w="28575">
            <a:noFill/>
          </a:ln>
        </p:spPr>
      </p:pic>
      <p:grpSp>
        <p:nvGrpSpPr>
          <p:cNvPr id="43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03907" y="5801515"/>
            <a:ext cx="1054466" cy="469689"/>
            <a:chOff x="9841624" y="4115729"/>
            <a:chExt cx="602169" cy="268223"/>
          </a:xfrm>
          <a:solidFill>
            <a:srgbClr val="FFFFFF"/>
          </a:solidFill>
        </p:grpSpPr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0" name="Graphic 185">
            <a:extLst>
              <a:ext uri="{FF2B5EF4-FFF2-40B4-BE49-F238E27FC236}">
                <a16:creationId xmlns:a16="http://schemas.microsoft.com/office/drawing/2014/main" id="{8B6BCBAB-41A5-4D6D-8C9B-55E3AA6FC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03907" y="5801515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755217F1-B506-4443-A399-CFFA441CD6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CB8C0F31-7A0C-4630-A379-0B4719A1F7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2D43873-56D9-4AC1-AB59-A1E78D6797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B2197D5-22E1-47CC-83CF-9E64CCD57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05DC5D97-506B-47F6-B9A7-D8FA26C88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67234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11">
            <a:extLst>
              <a:ext uri="{FF2B5EF4-FFF2-40B4-BE49-F238E27FC236}">
                <a16:creationId xmlns:a16="http://schemas.microsoft.com/office/drawing/2014/main" id="{3C1D1FA3-6212-4B97-9B1E-C7F81247C2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"/>
            <a:ext cx="2232251" cy="236189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1C51958-04D4-4687-95A2-95DCDCF474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"/>
            <a:ext cx="2232251" cy="236189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9AFCB35-9C04-4524-A0B1-57FF6865D0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2656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11AD2AD-0BA0-4DD3-8EEA-84686A0E71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2391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FE791F-3082-8B3B-3461-0E20DBFB0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1854" y="633046"/>
            <a:ext cx="4834021" cy="1314996"/>
          </a:xfrm>
        </p:spPr>
        <p:txBody>
          <a:bodyPr anchor="b">
            <a:normAutofit/>
          </a:bodyPr>
          <a:lstStyle/>
          <a:p>
            <a:r>
              <a:rPr lang="en-CA" b="1" dirty="0"/>
              <a:t>Precision vs Recall</a:t>
            </a:r>
            <a:endParaRPr lang="en-US" dirty="0"/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CC5A6E03-605A-5506-BB05-BF0AFD59A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61854" y="2125737"/>
            <a:ext cx="4834021" cy="40444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600"/>
              <a:t>Precision vs Recall Trade-off</a:t>
            </a:r>
          </a:p>
          <a:p>
            <a:pPr>
              <a:lnSpc>
                <a:spcPct val="100000"/>
              </a:lnSpc>
            </a:pPr>
            <a:r>
              <a:rPr lang="en-US" sz="2600"/>
              <a:t>Logistic Regression → best recall (0.8476) catches most &gt;50K cases</a:t>
            </a:r>
          </a:p>
          <a:p>
            <a:pPr>
              <a:lnSpc>
                <a:spcPct val="100000"/>
              </a:lnSpc>
            </a:pPr>
            <a:r>
              <a:rPr lang="en-US" sz="2600"/>
              <a:t>Decision Tree → best precision (0.7579) least false positives</a:t>
            </a:r>
          </a:p>
          <a:p>
            <a:pPr>
              <a:lnSpc>
                <a:spcPct val="100000"/>
              </a:lnSpc>
            </a:pPr>
            <a:r>
              <a:rPr lang="en-US" sz="2600"/>
              <a:t>Random Forest → best overall balance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600"/>
          </a:p>
        </p:txBody>
      </p:sp>
      <p:pic>
        <p:nvPicPr>
          <p:cNvPr id="7" name="Graphic 6" descr="Checkmark">
            <a:extLst>
              <a:ext uri="{FF2B5EF4-FFF2-40B4-BE49-F238E27FC236}">
                <a16:creationId xmlns:a16="http://schemas.microsoft.com/office/drawing/2014/main" id="{42041CE9-427F-BBA1-F754-8B8C575D0E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5473" y="1200223"/>
            <a:ext cx="4072815" cy="4072815"/>
          </a:xfrm>
          <a:prstGeom prst="rect">
            <a:avLst/>
          </a:prstGeom>
        </p:spPr>
      </p:pic>
      <p:grpSp>
        <p:nvGrpSpPr>
          <p:cNvPr id="20" name="Graphic 185">
            <a:extLst>
              <a:ext uri="{FF2B5EF4-FFF2-40B4-BE49-F238E27FC236}">
                <a16:creationId xmlns:a16="http://schemas.microsoft.com/office/drawing/2014/main" id="{0C156BF8-7FF7-440F-BE2B-417DFFE8B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7067280-C3E7-4DF6-A345-B9FEF6EF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78365A8-666B-4417-9D3C-554E6E6B2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E71CAAFA-0A31-4308-AB9F-B1C84ABDF9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96AB1D25-144D-4BB4-A45C-60B8A094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4">
              <a:extLst>
                <a:ext uri="{FF2B5EF4-FFF2-40B4-BE49-F238E27FC236}">
                  <a16:creationId xmlns:a16="http://schemas.microsoft.com/office/drawing/2014/main" id="{069F0FB4-779A-48FC-AC33-784F177C9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76599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8875539-0E84-455D-BC55-CA2C4BD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F9176D7-CC1C-4175-B08A-01FB9F4F3C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955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83469C6-FD66-4B54-921B-8031CD42B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929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F0C6814-AEA4-4409-9A89-7AC1D41EB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754052F-5B23-433C-8ADA-E8F0F8438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B2B180F-0C1C-4489-B089-6B68FD7AB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2" name="Graphic 185">
            <a:extLst>
              <a:ext uri="{FF2B5EF4-FFF2-40B4-BE49-F238E27FC236}">
                <a16:creationId xmlns:a16="http://schemas.microsoft.com/office/drawing/2014/main" id="{F8DA0E47-CC59-4007-BDA3-0D5A4CF23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C833CFE-926B-4F47-AB28-ADB4F7697D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80DE9A3-5BAC-492E-BEA8-AFF33894D8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4C461C6-EC83-4CF8-BA68-8B3D52D31E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164B2AB-B7D6-4349-9A36-E6775B5F8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FF3243-BD09-43B6-805F-FD18ECF5C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034FA1F2-E76D-B73E-A3DE-20291BA84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9254" y="-1"/>
            <a:ext cx="7772400" cy="32107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ED6174-A9AA-4235-BD2E-01DE45FC9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254" y="3210772"/>
            <a:ext cx="7855468" cy="364722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014938-44BA-49C7-A363-9A1795164ED7}"/>
              </a:ext>
            </a:extLst>
          </p:cNvPr>
          <p:cNvSpPr txBox="1"/>
          <p:nvPr/>
        </p:nvSpPr>
        <p:spPr>
          <a:xfrm>
            <a:off x="44935" y="3332418"/>
            <a:ext cx="2323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 err="1"/>
              <a:t>confusion_matrices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2439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Oval 13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333388-FEC4-0E9C-5D41-9768059AE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1877492"/>
            <a:ext cx="4030132" cy="3215373"/>
          </a:xfrm>
        </p:spPr>
        <p:txBody>
          <a:bodyPr>
            <a:normAutofit/>
          </a:bodyPr>
          <a:lstStyle/>
          <a:p>
            <a:pPr algn="ctr"/>
            <a:r>
              <a:rPr lang="en-CA" dirty="0"/>
              <a:t> Accuracy &amp; ROC-AUC 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tx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0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0E860-9393-0749-3746-5A6EBBF67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130846"/>
            <a:ext cx="5217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Random Forest wins on both metrics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Highest Accuracy: </a:t>
            </a:r>
            <a:r>
              <a:rPr lang="en-CA" b="1" dirty="0"/>
              <a:t>85.89%</a:t>
            </a:r>
            <a:endParaRPr lang="en-CA" dirty="0"/>
          </a:p>
          <a:p>
            <a:r>
              <a:rPr lang="en-CA" dirty="0"/>
              <a:t>Highest ROC-AUC: </a:t>
            </a:r>
            <a:r>
              <a:rPr lang="en-CA" b="1" dirty="0"/>
              <a:t>0.9093</a:t>
            </a:r>
            <a:endParaRPr lang="en-CA" dirty="0"/>
          </a:p>
          <a:p>
            <a:endParaRPr lang="en-US" dirty="0"/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81034" y="5750136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21348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8875539-0E84-455D-BC55-CA2C4BD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F9176D7-CC1C-4175-B08A-01FB9F4F3C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955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83469C6-FD66-4B54-921B-8031CD42B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929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F0C6814-AEA4-4409-9A89-7AC1D41EB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754052F-5B23-433C-8ADA-E8F0F8438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B2B180F-0C1C-4489-B089-6B68FD7AB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2" name="Graphic 185">
            <a:extLst>
              <a:ext uri="{FF2B5EF4-FFF2-40B4-BE49-F238E27FC236}">
                <a16:creationId xmlns:a16="http://schemas.microsoft.com/office/drawing/2014/main" id="{F8DA0E47-CC59-4007-BDA3-0D5A4CF23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C833CFE-926B-4F47-AB28-ADB4F7697D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80DE9A3-5BAC-492E-BEA8-AFF33894D8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4C461C6-EC83-4CF8-BA68-8B3D52D31E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164B2AB-B7D6-4349-9A36-E6775B5F8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FF3243-BD09-43B6-805F-FD18ECF5C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3" name="Picture 2" descr="A graph of a graph showing different colored squares&#10;&#10;AI-generated content may be incorrect.">
            <a:extLst>
              <a:ext uri="{FF2B5EF4-FFF2-40B4-BE49-F238E27FC236}">
                <a16:creationId xmlns:a16="http://schemas.microsoft.com/office/drawing/2014/main" id="{91986F38-B99E-BF0C-0E9B-2E61ACD18A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3"/>
          <a:stretch>
            <a:fillRect/>
          </a:stretch>
        </p:blipFill>
        <p:spPr>
          <a:xfrm>
            <a:off x="1280667" y="720375"/>
            <a:ext cx="9630666" cy="541725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78344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8875539-0E84-455D-BC55-CA2C4BD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F9176D7-CC1C-4175-B08A-01FB9F4F3C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955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83469C6-FD66-4B54-921B-8031CD42B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929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F0C6814-AEA4-4409-9A89-7AC1D41EB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754052F-5B23-433C-8ADA-E8F0F8438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B2B180F-0C1C-4489-B089-6B68FD7AB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2" name="Graphic 185">
            <a:extLst>
              <a:ext uri="{FF2B5EF4-FFF2-40B4-BE49-F238E27FC236}">
                <a16:creationId xmlns:a16="http://schemas.microsoft.com/office/drawing/2014/main" id="{F8DA0E47-CC59-4007-BDA3-0D5A4CF23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C833CFE-926B-4F47-AB28-ADB4F7697D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80DE9A3-5BAC-492E-BEA8-AFF33894D8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4C461C6-EC83-4CF8-BA68-8B3D52D31E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164B2AB-B7D6-4349-9A36-E6775B5F8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FF3243-BD09-43B6-805F-FD18ECF5C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3" name="Picture 2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801228F4-74BE-9E0A-D26F-CEA9B20006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3"/>
          <a:stretch>
            <a:fillRect/>
          </a:stretch>
        </p:blipFill>
        <p:spPr>
          <a:xfrm>
            <a:off x="1280667" y="720375"/>
            <a:ext cx="9630666" cy="541725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251485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logistic regression&#10;&#10;AI-generated content may be incorrect.">
            <a:extLst>
              <a:ext uri="{FF2B5EF4-FFF2-40B4-BE49-F238E27FC236}">
                <a16:creationId xmlns:a16="http://schemas.microsoft.com/office/drawing/2014/main" id="{4A2A0E58-6C7A-509E-5B22-C988051A7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8404"/>
            <a:ext cx="6096000" cy="4572000"/>
          </a:xfrm>
          <a:prstGeom prst="rect">
            <a:avLst/>
          </a:prstGeom>
        </p:spPr>
      </p:pic>
      <p:pic>
        <p:nvPicPr>
          <p:cNvPr id="5" name="Picture 4" descr="A graph of a logistic regression&#10;&#10;AI-generated content may be incorrect.">
            <a:extLst>
              <a:ext uri="{FF2B5EF4-FFF2-40B4-BE49-F238E27FC236}">
                <a16:creationId xmlns:a16="http://schemas.microsoft.com/office/drawing/2014/main" id="{1BEC3268-8072-38AC-6045-5A402BE2B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02" y="528404"/>
            <a:ext cx="6555698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49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AB6C56-3D38-4923-996E-BD474BBB9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D21DB-082D-417D-A5AB-FC838AF9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3DEE12-65F4-EBF2-298B-CB2BCCA50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1428088"/>
            <a:ext cx="10289032" cy="400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4843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9">
            <a:extLst>
              <a:ext uri="{FF2B5EF4-FFF2-40B4-BE49-F238E27FC236}">
                <a16:creationId xmlns:a16="http://schemas.microsoft.com/office/drawing/2014/main" id="{98875539-0E84-455D-BC55-CA2C4BD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5F9176D7-CC1C-4175-B08A-01FB9F4F3C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955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8" name="Freeform: Shape 13">
            <a:extLst>
              <a:ext uri="{FF2B5EF4-FFF2-40B4-BE49-F238E27FC236}">
                <a16:creationId xmlns:a16="http://schemas.microsoft.com/office/drawing/2014/main" id="{D83469C6-FD66-4B54-921B-8031CD42B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929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9" name="Freeform: Shape 15">
            <a:extLst>
              <a:ext uri="{FF2B5EF4-FFF2-40B4-BE49-F238E27FC236}">
                <a16:creationId xmlns:a16="http://schemas.microsoft.com/office/drawing/2014/main" id="{6F0C6814-AEA4-4409-9A89-7AC1D41EB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754052F-5B23-433C-8ADA-E8F0F8438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B2B180F-0C1C-4489-B089-6B68FD7AB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2" name="Graphic 185">
            <a:extLst>
              <a:ext uri="{FF2B5EF4-FFF2-40B4-BE49-F238E27FC236}">
                <a16:creationId xmlns:a16="http://schemas.microsoft.com/office/drawing/2014/main" id="{F8DA0E47-CC59-4007-BDA3-0D5A4CF23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C833CFE-926B-4F47-AB28-ADB4F7697D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80DE9A3-5BAC-492E-BEA8-AFF33894D8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4C461C6-EC83-4CF8-BA68-8B3D52D31E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164B2AB-B7D6-4349-9A36-E6775B5F8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FF3243-BD09-43B6-805F-FD18ECF5C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484AEE32-6A89-9AC4-B881-AC6A509370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110" b="-1"/>
          <a:stretch>
            <a:fillRect/>
          </a:stretch>
        </p:blipFill>
        <p:spPr>
          <a:xfrm>
            <a:off x="1280667" y="720375"/>
            <a:ext cx="9630666" cy="541725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71870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AB6C56-3D38-4923-996E-BD474BBB9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D21DB-082D-417D-A5AB-FC838AF9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and diagram of a graph&#10;&#10;AI-generated content may be incorrect.">
            <a:extLst>
              <a:ext uri="{FF2B5EF4-FFF2-40B4-BE49-F238E27FC236}">
                <a16:creationId xmlns:a16="http://schemas.microsoft.com/office/drawing/2014/main" id="{BC3B7E61-1EFF-DCF6-86E0-100AEF893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835" y="1053059"/>
            <a:ext cx="9178561" cy="4751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0756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8875539-0E84-455D-BC55-CA2C4BD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F9176D7-CC1C-4175-B08A-01FB9F4F3C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955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83469C6-FD66-4B54-921B-8031CD42B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929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F0C6814-AEA4-4409-9A89-7AC1D41EB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871489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754052F-5B23-433C-8ADA-E8F0F8438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B2B180F-0C1C-4489-B089-6B68FD7AB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2" name="Graphic 185">
            <a:extLst>
              <a:ext uri="{FF2B5EF4-FFF2-40B4-BE49-F238E27FC236}">
                <a16:creationId xmlns:a16="http://schemas.microsoft.com/office/drawing/2014/main" id="{F8DA0E47-CC59-4007-BDA3-0D5A4CF23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C833CFE-926B-4F47-AB28-ADB4F7697D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80DE9A3-5BAC-492E-BEA8-AFF33894D8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4C461C6-EC83-4CF8-BA68-8B3D52D31E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164B2AB-B7D6-4349-9A36-E6775B5F8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FF3243-BD09-43B6-805F-FD18ECF5C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3" name="Picture 2" descr="A graph with a line&#10;&#10;AI-generated content may be incorrect.">
            <a:extLst>
              <a:ext uri="{FF2B5EF4-FFF2-40B4-BE49-F238E27FC236}">
                <a16:creationId xmlns:a16="http://schemas.microsoft.com/office/drawing/2014/main" id="{E1BA8982-9F64-4A84-7FA1-5E2FDBB842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110" b="-1"/>
          <a:stretch>
            <a:fillRect/>
          </a:stretch>
        </p:blipFill>
        <p:spPr>
          <a:xfrm>
            <a:off x="1280667" y="720375"/>
            <a:ext cx="9630666" cy="541725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579047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AB6C56-3D38-4923-996E-BD474BBB9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D21DB-082D-417D-A5AB-FC838AF9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AFB2E6-F490-3BDB-7F1E-DE193249F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281" y="1210455"/>
            <a:ext cx="9013669" cy="4437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312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AB6C56-3D38-4923-996E-BD474BBB9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D21DB-082D-417D-A5AB-FC838AF9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tree&#10;&#10;AI-generated content may be incorrect.">
            <a:extLst>
              <a:ext uri="{FF2B5EF4-FFF2-40B4-BE49-F238E27FC236}">
                <a16:creationId xmlns:a16="http://schemas.microsoft.com/office/drawing/2014/main" id="{CC981382-62EE-AC7B-8566-89EA3AE7D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129" y="899410"/>
            <a:ext cx="9831974" cy="515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5009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AB6C56-3D38-4923-996E-BD474BBB9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D21DB-082D-417D-A5AB-FC838AF9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pie chart with a blue circle and a square&#10;&#10;AI-generated content may be incorrect.">
            <a:extLst>
              <a:ext uri="{FF2B5EF4-FFF2-40B4-BE49-F238E27FC236}">
                <a16:creationId xmlns:a16="http://schemas.microsoft.com/office/drawing/2014/main" id="{5ACE9388-D6D4-FC26-1FA1-F0C94AAED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542" y="1721995"/>
            <a:ext cx="8919148" cy="34140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C17E53A-A501-993C-2D9B-1D8BB75FABAF}"/>
              </a:ext>
            </a:extLst>
          </p:cNvPr>
          <p:cNvSpPr txBox="1"/>
          <p:nvPr/>
        </p:nvSpPr>
        <p:spPr>
          <a:xfrm>
            <a:off x="4966325" y="1035679"/>
            <a:ext cx="5981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 err="1"/>
              <a:t>eda_class_distribution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076718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AB6C56-3D38-4923-996E-BD474BBB9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D21DB-082D-417D-A5AB-FC838AF9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A28E0A89-F8DD-8005-E050-B5C5DA1A3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074" y="847123"/>
            <a:ext cx="9938479" cy="52388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D57D2B-7186-2102-5C09-076CFEDAD789}"/>
              </a:ext>
            </a:extLst>
          </p:cNvPr>
          <p:cNvSpPr txBox="1"/>
          <p:nvPr/>
        </p:nvSpPr>
        <p:spPr>
          <a:xfrm>
            <a:off x="5112529" y="160519"/>
            <a:ext cx="6130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eda_age_distribution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801031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AB6C56-3D38-4923-996E-BD474BBB9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D21DB-082D-417D-A5AB-FC838AF9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showing a graph of income&#10;&#10;AI-generated content may be incorrect.">
            <a:extLst>
              <a:ext uri="{FF2B5EF4-FFF2-40B4-BE49-F238E27FC236}">
                <a16:creationId xmlns:a16="http://schemas.microsoft.com/office/drawing/2014/main" id="{125E2B68-BB54-C726-1522-1437EA066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599" y="662169"/>
            <a:ext cx="10289033" cy="569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2669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AB6C56-3D38-4923-996E-BD474BBB9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CD21DB-082D-417D-A5AB-FC838AF9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FB7EE8-ED4A-4D8B-68B9-065AB30528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9642"/>
          <a:stretch>
            <a:fillRect/>
          </a:stretch>
        </p:blipFill>
        <p:spPr>
          <a:xfrm>
            <a:off x="838200" y="233807"/>
            <a:ext cx="10468866" cy="5888737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114796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Oval 13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8D16B8-2791-5A7A-5EB4-737D70E93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1877492"/>
            <a:ext cx="4030132" cy="3215373"/>
          </a:xfrm>
        </p:spPr>
        <p:txBody>
          <a:bodyPr>
            <a:normAutofit/>
          </a:bodyPr>
          <a:lstStyle/>
          <a:p>
            <a:pPr algn="ctr"/>
            <a:r>
              <a:rPr lang="en-CA" dirty="0"/>
              <a:t> Runtime 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tx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0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BEB0B-C61B-4044-2F3C-FE2679DFD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130846"/>
            <a:ext cx="5217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Decision Tree is the fastest predictor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Fastest prediction: </a:t>
            </a:r>
            <a:r>
              <a:rPr lang="en-CA" b="1" dirty="0"/>
              <a:t>0.006s</a:t>
            </a:r>
            <a:r>
              <a:rPr lang="en-CA" dirty="0"/>
              <a:t> (Decision Tree)</a:t>
            </a:r>
          </a:p>
          <a:p>
            <a:r>
              <a:rPr lang="en-CA" dirty="0"/>
              <a:t>Slowest: </a:t>
            </a:r>
            <a:r>
              <a:rPr lang="en-CA" b="1" dirty="0"/>
              <a:t>0.25s</a:t>
            </a:r>
            <a:r>
              <a:rPr lang="en-CA" dirty="0"/>
              <a:t> (KNN — bad for real-time)</a:t>
            </a:r>
          </a:p>
          <a:p>
            <a:endParaRPr lang="en-US" dirty="0"/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81034" y="5750136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61270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Oval 13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DD440E-F603-1BD8-F3F7-3636C10EC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1877492"/>
            <a:ext cx="4030132" cy="3215373"/>
          </a:xfrm>
        </p:spPr>
        <p:txBody>
          <a:bodyPr>
            <a:normAutofit/>
          </a:bodyPr>
          <a:lstStyle/>
          <a:p>
            <a:pPr algn="ctr"/>
            <a:r>
              <a:rPr lang="en-CA" dirty="0"/>
              <a:t>Conclusion</a:t>
            </a:r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tx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0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FA997-A72B-34C2-D834-1964691C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130846"/>
            <a:ext cx="5217173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CA" b="1" dirty="0"/>
              <a:t>Best Model: Random Forest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Highest accuracy (85.89%) + ROC-AUC (0.9093)</a:t>
            </a:r>
          </a:p>
          <a:p>
            <a:r>
              <a:rPr lang="en-CA" dirty="0"/>
              <a:t>Balanced trade-off between speed and performance</a:t>
            </a:r>
          </a:p>
          <a:p>
            <a:r>
              <a:rPr lang="en-CA" dirty="0"/>
              <a:t>Use Logistic Regression if recall matters most</a:t>
            </a:r>
          </a:p>
          <a:p>
            <a:pPr marL="0" indent="0">
              <a:buNone/>
            </a:pPr>
            <a:br>
              <a:rPr lang="en-CA" dirty="0"/>
            </a:br>
            <a:endParaRPr lang="en-US" dirty="0"/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81034" y="5750136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061737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C6FBFA-6AC5-416B-4F34-0ACB4E782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694268"/>
            <a:ext cx="3553510" cy="5477932"/>
          </a:xfrm>
        </p:spPr>
        <p:txBody>
          <a:bodyPr>
            <a:normAutofit/>
          </a:bodyPr>
          <a:lstStyle/>
          <a:p>
            <a:pPr algn="ctr"/>
            <a:r>
              <a:rPr lang="en-CA" dirty="0"/>
              <a:t>Why Random Forest Has the Best Accuracy</a:t>
            </a:r>
            <a:endParaRPr lang="en-US" dirty="0"/>
          </a:p>
        </p:txBody>
      </p:sp>
      <p:grpSp>
        <p:nvGrpSpPr>
          <p:cNvPr id="10" name="Graphic 38">
            <a:extLst>
              <a:ext uri="{FF2B5EF4-FFF2-40B4-BE49-F238E27FC236}">
                <a16:creationId xmlns:a16="http://schemas.microsoft.com/office/drawing/2014/main" id="{1E8369D0-2C3B-4E27-AC6C-A246AC28CD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tx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3D5586F-4573-4C57-9793-1EBFDC8963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EED35EF-93A0-4921-941C-ECC67AE2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4" name="Graphic 38">
            <a:extLst>
              <a:ext uri="{FF2B5EF4-FFF2-40B4-BE49-F238E27FC236}">
                <a16:creationId xmlns:a16="http://schemas.microsoft.com/office/drawing/2014/main" id="{4E397AA7-9FED-4566-9071-A53B276542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tx1">
              <a:alpha val="6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10B472-2416-4C1E-B5BE-4DE472BC9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671BEA-702C-4316-BD48-AFE9D84622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8" name="Graphic 4">
            <a:extLst>
              <a:ext uri="{FF2B5EF4-FFF2-40B4-BE49-F238E27FC236}">
                <a16:creationId xmlns:a16="http://schemas.microsoft.com/office/drawing/2014/main" id="{C6F74901-2A71-43C3-837C-27CCD6B6D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55887" y="2203010"/>
            <a:ext cx="975169" cy="975171"/>
            <a:chOff x="5829300" y="3162300"/>
            <a:chExt cx="532256" cy="532257"/>
          </a:xfrm>
          <a:solidFill>
            <a:schemeClr val="tx1"/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92DF49A-063A-4F60-BE30-D268264925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0DCBBE0-7DEE-43ED-BEE3-ABB179CFC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39FE8DF-D1B2-4074-9BDF-C458EA0123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1C143B5-6E24-417D-A035-65747A8E9D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331ED8C-8819-4FFB-BF3C-FDA6A90D4B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39574D-5ECC-4A94-9CB6-646D90DA5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73D6F7-977D-4026-8F68-CA63C162C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6348370-4FD9-4A99-BB05-944D5B0B0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1146D46-43DB-4487-A191-0970511C3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17B7142-9D64-4D34-B23C-9471326AD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8EB71CD-AB26-440E-A0D5-E1081DB5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4423BD2-7458-4680-AF49-5013C9D30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5547DC8-8B87-4446-9CC9-65AF04A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EC11F68A-CC71-4196-BBF3-20CDCD75D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9502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85F9950-F10E-4E64-962B-F7034578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9502" y="4752208"/>
            <a:ext cx="365021" cy="365021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74296-1892-C3EF-E2BA-2E295A33F5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894" y="694267"/>
            <a:ext cx="5217173" cy="5695899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CA" b="1" dirty="0"/>
              <a:t>1. Ensemble Learning (Wisdom of the Crowd)</a:t>
            </a:r>
            <a:endParaRPr lang="en-CA" dirty="0"/>
          </a:p>
          <a:p>
            <a:r>
              <a:rPr lang="en-CA" dirty="0"/>
              <a:t>Instead of relying on one decision tree, Random Forest builds </a:t>
            </a:r>
            <a:r>
              <a:rPr lang="en-CA" b="1" dirty="0"/>
              <a:t>100+ trees</a:t>
            </a:r>
            <a:r>
              <a:rPr lang="en-CA" dirty="0"/>
              <a:t> and takes a majority vote — individual errors cancel out, overall accuracy improves.</a:t>
            </a:r>
          </a:p>
          <a:p>
            <a:pPr marL="0" indent="0">
              <a:buNone/>
            </a:pPr>
            <a:r>
              <a:rPr lang="en-CA" b="1" dirty="0"/>
              <a:t>2. Handles Mixed Data Well</a:t>
            </a:r>
            <a:endParaRPr lang="en-CA" dirty="0"/>
          </a:p>
          <a:p>
            <a:r>
              <a:rPr lang="en-CA" dirty="0"/>
              <a:t>The dataset has both numerical (age, hours-per-week) and categorical (occupation, education) features. Random Forest handles this natively without being sensitive to scale.</a:t>
            </a:r>
          </a:p>
          <a:p>
            <a:pPr marL="0" indent="0">
              <a:buNone/>
            </a:pPr>
            <a:r>
              <a:rPr lang="en-CA" b="1" dirty="0"/>
              <a:t>3. Reduces Overfitting (Bagging)</a:t>
            </a:r>
            <a:endParaRPr lang="en-CA" dirty="0"/>
          </a:p>
          <a:p>
            <a:r>
              <a:rPr lang="en-CA" dirty="0"/>
              <a:t>Each tree is trained on a </a:t>
            </a:r>
            <a:r>
              <a:rPr lang="en-CA" b="1" dirty="0"/>
              <a:t>random subset</a:t>
            </a:r>
            <a:r>
              <a:rPr lang="en-CA" dirty="0"/>
              <a:t> of data and features — this prevents any single tree from memorizing noise, unlike a plain Decision Tree (which hit only 85.13%).</a:t>
            </a:r>
          </a:p>
          <a:p>
            <a:pPr marL="0" indent="0">
              <a:buNone/>
            </a:pPr>
            <a:r>
              <a:rPr lang="en-CA" b="1" dirty="0"/>
              <a:t>4. Captures Non-Linear Relationships</a:t>
            </a:r>
            <a:endParaRPr lang="en-CA" dirty="0"/>
          </a:p>
          <a:p>
            <a:r>
              <a:rPr lang="en-CA" dirty="0"/>
              <a:t>Income isn't linearly related to features — e.g., </a:t>
            </a:r>
            <a:r>
              <a:rPr lang="en-CA" i="1" dirty="0"/>
              <a:t>capital-gain</a:t>
            </a:r>
            <a:r>
              <a:rPr lang="en-CA" dirty="0"/>
              <a:t> spikes matter more than a steady increase. Random Forest captures these complex splits that Logistic Regression misses (80.96%).</a:t>
            </a:r>
          </a:p>
          <a:p>
            <a:pPr marL="0" indent="0">
              <a:buNone/>
            </a:pPr>
            <a:r>
              <a:rPr lang="en-CA" b="1" dirty="0"/>
              <a:t>5. Class Imbalance Resilience</a:t>
            </a:r>
            <a:endParaRPr lang="en-CA" dirty="0"/>
          </a:p>
          <a:p>
            <a:r>
              <a:rPr lang="en-CA" dirty="0"/>
              <a:t>Our dataset is </a:t>
            </a:r>
            <a:r>
              <a:rPr lang="en-CA" b="1" dirty="0"/>
              <a:t>75% &lt;=50K, 25% &gt;50K</a:t>
            </a:r>
            <a:r>
              <a:rPr lang="en-CA" dirty="0"/>
              <a:t> (imbalanced). Random Forest's voting mechanism naturally handles this better than KNN, which gets biased toward the majority class.</a:t>
            </a:r>
          </a:p>
          <a:p>
            <a:pPr marL="0" indent="0">
              <a:buNone/>
            </a:pPr>
            <a:br>
              <a:rPr lang="en-CA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4198059"/>
      </p:ext>
    </p:extLst>
  </p:cSld>
  <p:clrMapOvr>
    <a:masterClrMapping/>
  </p:clrMapOvr>
</p:sld>
</file>

<file path=ppt/theme/theme1.xml><?xml version="1.0" encoding="utf-8"?>
<a:theme xmlns:a="http://schemas.openxmlformats.org/drawingml/2006/main" name="FunkyShapesVTI">
  <a:themeElements>
    <a:clrScheme name="Custom 15">
      <a:dk1>
        <a:sysClr val="windowText" lastClr="000000"/>
      </a:dk1>
      <a:lt1>
        <a:sysClr val="window" lastClr="FFFFFF"/>
      </a:lt1>
      <a:dk2>
        <a:srgbClr val="2D2D2D"/>
      </a:dk2>
      <a:lt2>
        <a:srgbClr val="F3FFF8"/>
      </a:lt2>
      <a:accent1>
        <a:srgbClr val="FF80BD"/>
      </a:accent1>
      <a:accent2>
        <a:srgbClr val="1EB9D3"/>
      </a:accent2>
      <a:accent3>
        <a:srgbClr val="21C46B"/>
      </a:accent3>
      <a:accent4>
        <a:srgbClr val="EA9600"/>
      </a:accent4>
      <a:accent5>
        <a:srgbClr val="F43B56"/>
      </a:accent5>
      <a:accent6>
        <a:srgbClr val="4B56E8"/>
      </a:accent6>
      <a:hlink>
        <a:srgbClr val="8F61FF"/>
      </a:hlink>
      <a:folHlink>
        <a:srgbClr val="F900A0"/>
      </a:folHlink>
    </a:clrScheme>
    <a:fontScheme name="Source Sans Pro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unkyShapesVTI" id="{A7F40C41-3FB2-45B0-B0D6-DFB7FDD9B7AD}" vid="{C49381A0-09CD-46EE-B141-E2CDD87ABFE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</TotalTime>
  <Words>585</Words>
  <Application>Microsoft Macintosh PowerPoint</Application>
  <PresentationFormat>Widescreen</PresentationFormat>
  <Paragraphs>82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Avenir Next LT Pro</vt:lpstr>
      <vt:lpstr>Source Sans Pro SemiBold</vt:lpstr>
      <vt:lpstr>FunkyShapesVTI</vt:lpstr>
      <vt:lpstr>Prog2590 Group-5 </vt:lpstr>
      <vt:lpstr>Problem Overview </vt:lpstr>
      <vt:lpstr>Our Approach</vt:lpstr>
      <vt:lpstr>Dataset Description</vt:lpstr>
      <vt:lpstr>Data Preprocessing</vt:lpstr>
      <vt:lpstr>Performance  Result</vt:lpstr>
      <vt:lpstr>ROC Curve</vt:lpstr>
      <vt:lpstr>Precision vs Recall</vt:lpstr>
      <vt:lpstr>PowerPoint Presentation</vt:lpstr>
      <vt:lpstr> Accuracy &amp; ROC-AUC 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 Runtime </vt:lpstr>
      <vt:lpstr>Conclusion</vt:lpstr>
      <vt:lpstr>Why Random Forest Has the Best Accuracy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Harkamal Singh Toor</dc:creator>
  <cp:lastModifiedBy>Harkamal Singh Toor</cp:lastModifiedBy>
  <cp:revision>4</cp:revision>
  <dcterms:created xsi:type="dcterms:W3CDTF">2026-04-18T15:56:11Z</dcterms:created>
  <dcterms:modified xsi:type="dcterms:W3CDTF">2026-04-19T02:34:51Z</dcterms:modified>
</cp:coreProperties>
</file>